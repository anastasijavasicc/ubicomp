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1" r:id="rId2"/>
    <p:sldId id="257" r:id="rId3"/>
    <p:sldId id="271" r:id="rId4"/>
    <p:sldId id="288" r:id="rId5"/>
    <p:sldId id="292" r:id="rId6"/>
    <p:sldId id="289" r:id="rId7"/>
    <p:sldId id="290" r:id="rId8"/>
    <p:sldId id="291" r:id="rId9"/>
    <p:sldId id="293" r:id="rId10"/>
    <p:sldId id="294" r:id="rId11"/>
    <p:sldId id="295" r:id="rId12"/>
    <p:sldId id="296" r:id="rId13"/>
    <p:sldId id="297" r:id="rId14"/>
    <p:sldId id="298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969" autoAdjust="0"/>
  </p:normalViewPr>
  <p:slideViewPr>
    <p:cSldViewPr snapToGrid="0">
      <p:cViewPr varScale="1">
        <p:scale>
          <a:sx n="74" d="100"/>
          <a:sy n="74" d="100"/>
        </p:scale>
        <p:origin x="1042" y="7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</a:t>
            </a:r>
            <a:r>
              <a:rPr lang="en-US" dirty="0" err="1"/>
              <a:t>okviru</a:t>
            </a:r>
            <a:r>
              <a:rPr lang="en-US" dirty="0"/>
              <a:t> </a:t>
            </a:r>
            <a:r>
              <a:rPr lang="en-US" dirty="0" err="1"/>
              <a:t>drugog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en-US" dirty="0" err="1"/>
              <a:t>realizovan</a:t>
            </a:r>
            <a:r>
              <a:rPr lang="en-US" dirty="0"/>
              <a:t> je </a:t>
            </a:r>
            <a:r>
              <a:rPr lang="en-US" dirty="0" err="1"/>
              <a:t>glasovno</a:t>
            </a:r>
            <a:r>
              <a:rPr lang="en-US" dirty="0"/>
              <a:t> </a:t>
            </a:r>
            <a:r>
              <a:rPr lang="en-US" dirty="0" err="1"/>
              <a:t>aktiviran</a:t>
            </a:r>
            <a:r>
              <a:rPr lang="en-US" dirty="0"/>
              <a:t> IoT </a:t>
            </a:r>
            <a:r>
              <a:rPr lang="en-US" dirty="0" err="1"/>
              <a:t>sistem</a:t>
            </a:r>
            <a:r>
              <a:rPr lang="en-US" dirty="0"/>
              <a:t> u </a:t>
            </a:r>
            <a:r>
              <a:rPr lang="en-US" dirty="0" err="1"/>
              <a:t>kome</a:t>
            </a:r>
            <a:r>
              <a:rPr lang="en-US" dirty="0"/>
              <a:t> Arduino Nano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</a:t>
            </a:r>
            <a:r>
              <a:rPr lang="en-US" dirty="0" err="1"/>
              <a:t>ocitava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o </a:t>
            </a:r>
            <a:r>
              <a:rPr lang="en-US" dirty="0" err="1"/>
              <a:t>osvetljenju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boji</a:t>
            </a:r>
            <a:r>
              <a:rPr lang="en-US" dirty="0"/>
              <a:t>, </a:t>
            </a:r>
            <a:r>
              <a:rPr lang="en-US" dirty="0" err="1"/>
              <a:t>salje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Raspberry Pi,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vrsi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skladistenje</a:t>
            </a:r>
            <a:r>
              <a:rPr lang="en-US" dirty="0"/>
              <a:t>, </a:t>
            </a:r>
            <a:r>
              <a:rPr lang="en-US" dirty="0" err="1"/>
              <a:t>vizuelizacija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pomocu</a:t>
            </a:r>
            <a:r>
              <a:rPr lang="en-US" dirty="0"/>
              <a:t> TensorFlow Lite </a:t>
            </a:r>
            <a:r>
              <a:rPr lang="en-US" dirty="0" err="1"/>
              <a:t>modela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64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 </a:t>
            </a:r>
            <a:r>
              <a:rPr lang="en-US" dirty="0" err="1"/>
              <a:t>razliku</a:t>
            </a:r>
            <a:r>
              <a:rPr lang="en-US" dirty="0"/>
              <a:t> od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, </a:t>
            </a:r>
            <a:r>
              <a:rPr lang="en-US" dirty="0" err="1"/>
              <a:t>ovde</a:t>
            </a:r>
            <a:r>
              <a:rPr lang="en-US" dirty="0"/>
              <a:t> je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potrebno</a:t>
            </a:r>
            <a:r>
              <a:rPr lang="en-US" dirty="0"/>
              <a:t> </a:t>
            </a:r>
            <a:r>
              <a:rPr lang="en-US" dirty="0" err="1"/>
              <a:t>koristiti</a:t>
            </a:r>
            <a:r>
              <a:rPr lang="en-US" dirty="0"/>
              <a:t> novi tip </a:t>
            </a:r>
            <a:r>
              <a:rPr lang="en-US" dirty="0" err="1"/>
              <a:t>podataka</a:t>
            </a:r>
            <a:r>
              <a:rPr lang="en-US" dirty="0"/>
              <a:t>. </a:t>
            </a:r>
            <a:r>
              <a:rPr lang="en-US" dirty="0" err="1"/>
              <a:t>Izabrani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podaci</a:t>
            </a:r>
            <a:r>
              <a:rPr lang="en-US" dirty="0"/>
              <a:t> o </a:t>
            </a:r>
            <a:r>
              <a:rPr lang="en-US" dirty="0" err="1"/>
              <a:t>osvetljenju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boji</a:t>
            </a:r>
            <a:r>
              <a:rPr lang="en-US" dirty="0"/>
              <a:t>, a </a:t>
            </a:r>
            <a:r>
              <a:rPr lang="en-US" dirty="0" err="1"/>
              <a:t>kompletan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je </a:t>
            </a:r>
            <a:r>
              <a:rPr lang="en-US" dirty="0" err="1"/>
              <a:t>prosiren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ukljucuje</a:t>
            </a:r>
            <a:r>
              <a:rPr lang="en-US" dirty="0"/>
              <a:t> Raspberry Pi, MQTT, </a:t>
            </a:r>
            <a:r>
              <a:rPr lang="en-US" dirty="0" err="1"/>
              <a:t>InfluxDB</a:t>
            </a:r>
            <a:r>
              <a:rPr lang="en-US" dirty="0"/>
              <a:t>, </a:t>
            </a:r>
            <a:r>
              <a:rPr lang="en-US" dirty="0" err="1"/>
              <a:t>Grafanu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TFLite</a:t>
            </a:r>
            <a:r>
              <a:rPr lang="en-US" dirty="0"/>
              <a:t> </a:t>
            </a:r>
            <a:r>
              <a:rPr lang="en-US" dirty="0" err="1"/>
              <a:t>analizu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se </a:t>
            </a:r>
            <a:r>
              <a:rPr lang="en-US" dirty="0" err="1"/>
              <a:t>sastoji</a:t>
            </a:r>
            <a:r>
              <a:rPr lang="en-US" dirty="0"/>
              <a:t> od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glavna</a:t>
            </a:r>
            <a:r>
              <a:rPr lang="en-US" dirty="0"/>
              <a:t> dela: </a:t>
            </a:r>
            <a:r>
              <a:rPr lang="en-US" b="1" dirty="0"/>
              <a:t>Arduino </a:t>
            </a:r>
            <a:r>
              <a:rPr lang="en-US" dirty="0" err="1"/>
              <a:t>uredjaja</a:t>
            </a:r>
            <a:r>
              <a:rPr lang="en-US" b="1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Raspberry Pi</a:t>
            </a:r>
            <a:r>
              <a:rPr lang="en-US" dirty="0"/>
              <a:t> </a:t>
            </a:r>
            <a:r>
              <a:rPr lang="en-US" dirty="0" err="1"/>
              <a:t>platforme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/>
              <a:t>Arduino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glasovne</a:t>
            </a:r>
            <a:r>
              <a:rPr lang="en-US" dirty="0"/>
              <a:t> </a:t>
            </a:r>
            <a:r>
              <a:rPr lang="en-US" dirty="0" err="1"/>
              <a:t>komande</a:t>
            </a:r>
            <a:r>
              <a:rPr lang="en-US" dirty="0"/>
              <a:t> o</a:t>
            </a:r>
            <a:r>
              <a:rPr lang="sr-Latn-RS" dirty="0"/>
              <a:t>č</a:t>
            </a:r>
            <a:r>
              <a:rPr lang="en-US" dirty="0" err="1"/>
              <a:t>itava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senzora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sr-Latn-RS" dirty="0"/>
              <a:t>š</a:t>
            </a:r>
            <a:r>
              <a:rPr lang="en-US" dirty="0" err="1"/>
              <a:t>alje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preko</a:t>
            </a:r>
            <a:r>
              <a:rPr lang="en-US" dirty="0"/>
              <a:t> </a:t>
            </a:r>
            <a:r>
              <a:rPr lang="en-US" dirty="0" err="1"/>
              <a:t>serijske</a:t>
            </a:r>
            <a:r>
              <a:rPr lang="en-US" dirty="0"/>
              <a:t> </a:t>
            </a:r>
            <a:r>
              <a:rPr lang="en-US" dirty="0" err="1"/>
              <a:t>veze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/>
              <a:t>Raspberry Pi prima </a:t>
            </a:r>
            <a:r>
              <a:rPr lang="en-US" dirty="0" err="1"/>
              <a:t>podatke</a:t>
            </a:r>
            <a:r>
              <a:rPr lang="en-US" dirty="0"/>
              <a:t>, </a:t>
            </a:r>
            <a:r>
              <a:rPr lang="en-US" dirty="0" err="1"/>
              <a:t>prosle</a:t>
            </a:r>
            <a:r>
              <a:rPr lang="sr-Latn-RS" dirty="0"/>
              <a:t>đ</a:t>
            </a:r>
            <a:r>
              <a:rPr lang="en-US" dirty="0" err="1"/>
              <a:t>uje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b="1" dirty="0"/>
              <a:t>MQTT broker</a:t>
            </a:r>
            <a:r>
              <a:rPr lang="en-US" dirty="0"/>
              <a:t>, </a:t>
            </a:r>
            <a:r>
              <a:rPr lang="sr-Latn-RS" dirty="0"/>
              <a:t>č</a:t>
            </a:r>
            <a:r>
              <a:rPr lang="en-US" dirty="0"/>
              <a:t>uva </a:t>
            </a:r>
            <a:r>
              <a:rPr lang="en-US" dirty="0" err="1"/>
              <a:t>ih</a:t>
            </a:r>
            <a:r>
              <a:rPr lang="en-US" dirty="0"/>
              <a:t> u </a:t>
            </a:r>
            <a:r>
              <a:rPr lang="en-US" b="1" dirty="0" err="1"/>
              <a:t>InfluxDB</a:t>
            </a:r>
            <a:r>
              <a:rPr lang="en-US" dirty="0"/>
              <a:t>, </a:t>
            </a:r>
            <a:r>
              <a:rPr lang="en-US" dirty="0" err="1"/>
              <a:t>prikazuje</a:t>
            </a:r>
            <a:r>
              <a:rPr lang="en-US" dirty="0"/>
              <a:t> u </a:t>
            </a:r>
            <a:r>
              <a:rPr lang="en-US" b="1" dirty="0" err="1"/>
              <a:t>Grafani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analizira</a:t>
            </a:r>
            <a:r>
              <a:rPr lang="en-US" dirty="0"/>
              <a:t> </a:t>
            </a:r>
            <a:r>
              <a:rPr lang="en-US" dirty="0" err="1"/>
              <a:t>pomo</a:t>
            </a:r>
            <a:r>
              <a:rPr lang="sr-Latn-RS" dirty="0"/>
              <a:t>ć</a:t>
            </a:r>
            <a:r>
              <a:rPr lang="en-US" dirty="0"/>
              <a:t>u </a:t>
            </a:r>
            <a:r>
              <a:rPr lang="en-US" b="1" dirty="0" err="1"/>
              <a:t>TFLite</a:t>
            </a:r>
            <a:r>
              <a:rPr lang="en-US" dirty="0"/>
              <a:t> </a:t>
            </a:r>
            <a:r>
              <a:rPr lang="en-US" b="1" dirty="0" err="1"/>
              <a:t>modela</a:t>
            </a:r>
            <a:r>
              <a:rPr lang="en-US" dirty="0"/>
              <a:t>.</a:t>
            </a:r>
            <a:endParaRPr lang="sr-Latn-RS" noProof="1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58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AB52-71D7-C27C-C2E7-F06B28766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3DFCA-6854-271C-C4A2-2BB74C61E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8650E-91FC-7E32-FDC9-98B5D7E70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4061-C72F-62B5-2884-C40947371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6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2604-6A13-E14D-E952-C382D5CD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72DC6-5F00-E419-54B7-9CE570EE8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BD847-7DC6-5216-AE07-66BA5A851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C3B5B-02F5-D116-A183-85D735D8F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39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EA55-8E07-85C9-4FD1-CAAA2D57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64643-E39B-E18F-7B1E-4BC3F4637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0E2A9-1D16-052A-3E1E-50920140A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MQTT je </a:t>
            </a:r>
            <a:r>
              <a:rPr lang="en-US" dirty="0" err="1"/>
              <a:t>koriscen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osnovni</a:t>
            </a:r>
            <a:r>
              <a:rPr lang="en-US" dirty="0"/>
              <a:t> </a:t>
            </a:r>
            <a:r>
              <a:rPr lang="en-US" dirty="0" err="1"/>
              <a:t>komunikacioni</a:t>
            </a:r>
            <a:r>
              <a:rPr lang="en-US" dirty="0"/>
              <a:t> </a:t>
            </a:r>
            <a:r>
              <a:rPr lang="en-US" dirty="0" err="1"/>
              <a:t>mehanizam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dirty="0" err="1"/>
              <a:t>mikroservisa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serial-reader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proxy </a:t>
            </a:r>
            <a:r>
              <a:rPr lang="en-US" dirty="0" err="1"/>
              <a:t>aplikaciju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prima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Arduina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prosledjuje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brokeru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195E3-9E7E-1818-23D5-1391E4FD1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62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A194E-DA0B-3DCF-0050-A6FD126C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E70D7-B3C6-C5EE-B42E-3669D51D9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D2A81-26BA-BB99-CDD0-EC9B1E684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9F27D-C9D9-D51A-607B-8BF811F85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07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DDBE7-4303-6AC9-2749-5449F6CC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819F0-6908-8EBC-8C88-3C4950B1A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23E81-EF32-BD73-4FFC-B709A89AC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5B357-E365-A9DB-C2DD-0F4EDCDF5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49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89505-AA0D-0941-07FD-A6C3827F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F6B8C8-458C-8763-CA73-999A8AAA9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CDEAB-0A2C-C3E2-A9BF-61FCF8D5B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649F5-E141-9875-A845-AB09BF6C2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3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9666D-2511-8993-3FF3-2C92986E3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7CC00-42A0-26EB-C23A-378C5909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F47EC-1D8C-9BC7-1CE7-8719E4D54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ovom</a:t>
            </a:r>
            <a:r>
              <a:rPr lang="en-US" dirty="0"/>
              <a:t> </a:t>
            </a:r>
            <a:r>
              <a:rPr lang="en-US" dirty="0" err="1"/>
              <a:t>slajdu</a:t>
            </a:r>
            <a:r>
              <a:rPr lang="en-US" dirty="0"/>
              <a:t> </a:t>
            </a:r>
            <a:r>
              <a:rPr lang="en-US" dirty="0" err="1"/>
              <a:t>prikazan</a:t>
            </a:r>
            <a:r>
              <a:rPr lang="en-US" dirty="0"/>
              <a:t> je </a:t>
            </a:r>
            <a:r>
              <a:rPr lang="sr-Latn-RS" dirty="0"/>
              <a:t>rezultat </a:t>
            </a:r>
            <a:r>
              <a:rPr lang="en-US" dirty="0" err="1"/>
              <a:t>izvrsavanj</a:t>
            </a:r>
            <a:r>
              <a:rPr lang="sr-Latn-RS" dirty="0"/>
              <a:t>a</a:t>
            </a:r>
            <a:r>
              <a:rPr lang="en-US" dirty="0"/>
              <a:t> </a:t>
            </a:r>
            <a:r>
              <a:rPr lang="en-US" dirty="0" err="1"/>
              <a:t>TFLite</a:t>
            </a:r>
            <a:r>
              <a:rPr lang="en-US" dirty="0"/>
              <a:t> </a:t>
            </a:r>
            <a:r>
              <a:rPr lang="en-US" dirty="0" err="1"/>
              <a:t>inferencije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formiranje</a:t>
            </a:r>
            <a:r>
              <a:rPr lang="en-US" dirty="0"/>
              <a:t> </a:t>
            </a:r>
            <a:r>
              <a:rPr lang="en-US" dirty="0" err="1"/>
              <a:t>rezultata</a:t>
            </a:r>
            <a:r>
              <a:rPr lang="en-US" dirty="0"/>
              <a:t> </a:t>
            </a:r>
            <a:r>
              <a:rPr lang="en-US" dirty="0" err="1"/>
              <a:t>analize</a:t>
            </a:r>
            <a:r>
              <a:rPr lang="en-US" dirty="0"/>
              <a:t> </a:t>
            </a:r>
            <a:r>
              <a:rPr lang="en-US" dirty="0" err="1"/>
              <a:t>dominantne</a:t>
            </a:r>
            <a:r>
              <a:rPr lang="en-US" dirty="0"/>
              <a:t> </a:t>
            </a:r>
            <a:r>
              <a:rPr lang="en-US" dirty="0" err="1"/>
              <a:t>boje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06F16-75FA-F8B5-07F3-B458E42CC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11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A772A-3C4C-F7E2-AC8F-DE0DCD0B9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9AEE2-FA9C-FC38-07B1-77A75C78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06D9E3-1BF6-B716-1C9D-408E5B115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Detekcija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osvetljenja</a:t>
            </a:r>
            <a:r>
              <a:rPr lang="en-US" dirty="0"/>
              <a:t> </a:t>
            </a:r>
            <a:r>
              <a:rPr lang="en-US" dirty="0" err="1"/>
              <a:t>realizovana</a:t>
            </a:r>
            <a:r>
              <a:rPr lang="en-US" dirty="0"/>
              <a:t> je </a:t>
            </a:r>
            <a:r>
              <a:rPr lang="en-US" dirty="0" err="1"/>
              <a:t>kao</a:t>
            </a:r>
            <a:r>
              <a:rPr lang="en-US" dirty="0"/>
              <a:t> event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zasnovana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promeni</a:t>
            </a:r>
            <a:r>
              <a:rPr lang="en-US" dirty="0"/>
              <a:t> ambient </a:t>
            </a:r>
            <a:r>
              <a:rPr lang="en-US" dirty="0" err="1"/>
              <a:t>vrednosti</a:t>
            </a:r>
            <a:r>
              <a:rPr lang="en-US" dirty="0"/>
              <a:t>. Time je </a:t>
            </a:r>
            <a:r>
              <a:rPr lang="en-US" dirty="0" err="1"/>
              <a:t>omoguceno</a:t>
            </a:r>
            <a:r>
              <a:rPr lang="en-US" dirty="0"/>
              <a:t> </a:t>
            </a:r>
            <a:r>
              <a:rPr lang="en-US" dirty="0" err="1"/>
              <a:t>prepoznavanje</a:t>
            </a:r>
            <a:r>
              <a:rPr lang="en-US" dirty="0"/>
              <a:t> </a:t>
            </a:r>
            <a:r>
              <a:rPr lang="en-US" dirty="0" err="1"/>
              <a:t>naglih</a:t>
            </a:r>
            <a:r>
              <a:rPr lang="en-US" dirty="0"/>
              <a:t> </a:t>
            </a:r>
            <a:r>
              <a:rPr lang="en-US" dirty="0" err="1"/>
              <a:t>promena</a:t>
            </a:r>
            <a:r>
              <a:rPr lang="en-US" dirty="0"/>
              <a:t> u </a:t>
            </a:r>
            <a:r>
              <a:rPr lang="en-US" dirty="0" err="1"/>
              <a:t>okruzenju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91003-28A5-44D6-523E-F9799236E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25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4DE6-351C-E334-68F7-066036DD5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A3721-8172-DFCD-57BF-904B14C4E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3D327-50AD-4D13-EB96-F4A075CF7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Aktuator</a:t>
            </a:r>
            <a:r>
              <a:rPr lang="en-US" dirty="0"/>
              <a:t> 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realizovan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stvarni</a:t>
            </a:r>
            <a:r>
              <a:rPr lang="en-US" dirty="0"/>
              <a:t> </a:t>
            </a:r>
            <a:r>
              <a:rPr lang="en-US" dirty="0" err="1"/>
              <a:t>hardverski</a:t>
            </a:r>
            <a:r>
              <a:rPr lang="en-US" dirty="0"/>
              <a:t> element, </a:t>
            </a:r>
            <a:r>
              <a:rPr lang="en-US" dirty="0" err="1"/>
              <a:t>vec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simulirana</a:t>
            </a:r>
            <a:r>
              <a:rPr lang="en-US" dirty="0"/>
              <a:t> </a:t>
            </a:r>
            <a:r>
              <a:rPr lang="en-US" dirty="0" err="1"/>
              <a:t>reakcija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MQTT </a:t>
            </a:r>
            <a:r>
              <a:rPr lang="en-US" dirty="0" err="1"/>
              <a:t>poruku</a:t>
            </a:r>
            <a:r>
              <a:rPr lang="en-US" dirty="0"/>
              <a:t>. Time je </a:t>
            </a:r>
            <a:r>
              <a:rPr lang="en-US" dirty="0" err="1"/>
              <a:t>ispunjen</a:t>
            </a:r>
            <a:r>
              <a:rPr lang="en-US" dirty="0"/>
              <a:t> </a:t>
            </a:r>
            <a:r>
              <a:rPr lang="en-US" dirty="0" err="1"/>
              <a:t>zahtev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bez </a:t>
            </a:r>
            <a:r>
              <a:rPr lang="en-US" dirty="0" err="1"/>
              <a:t>uvodjenja</a:t>
            </a:r>
            <a:r>
              <a:rPr lang="en-US" dirty="0"/>
              <a:t> </a:t>
            </a:r>
            <a:r>
              <a:rPr lang="en-US" dirty="0" err="1"/>
              <a:t>dodatnog</a:t>
            </a:r>
            <a:r>
              <a:rPr lang="en-US" dirty="0"/>
              <a:t> </a:t>
            </a:r>
            <a:r>
              <a:rPr lang="en-US" dirty="0" err="1"/>
              <a:t>hardvera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41CD9-C5ED-5141-BECA-CA0EE6C36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25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0EBB-1698-39A6-84B8-9F596181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63212-E5AF-6501-AF1D-2A07CF3EE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18D84-D5DB-B114-B93D-B89815ACF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</a:t>
            </a:r>
            <a:r>
              <a:rPr lang="en-US" dirty="0" err="1"/>
              <a:t>omogucio</a:t>
            </a:r>
            <a:r>
              <a:rPr lang="en-US" dirty="0"/>
              <a:t> je </a:t>
            </a:r>
            <a:r>
              <a:rPr lang="en-US" dirty="0" err="1"/>
              <a:t>jedinstveno</a:t>
            </a:r>
            <a:r>
              <a:rPr lang="en-US" dirty="0"/>
              <a:t> </a:t>
            </a:r>
            <a:r>
              <a:rPr lang="en-US" dirty="0" err="1"/>
              <a:t>pokretanje</a:t>
            </a:r>
            <a:r>
              <a:rPr lang="en-US" dirty="0"/>
              <a:t>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komponenti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, </a:t>
            </a:r>
            <a:r>
              <a:rPr lang="en-US" dirty="0" err="1"/>
              <a:t>sto</a:t>
            </a:r>
            <a:r>
              <a:rPr lang="en-US" dirty="0"/>
              <a:t> je </a:t>
            </a:r>
            <a:r>
              <a:rPr lang="en-US" dirty="0" err="1"/>
              <a:t>posebno</a:t>
            </a:r>
            <a:r>
              <a:rPr lang="en-US" dirty="0"/>
              <a:t> </a:t>
            </a:r>
            <a:r>
              <a:rPr lang="en-US" dirty="0" err="1"/>
              <a:t>znacajno</a:t>
            </a:r>
            <a:r>
              <a:rPr lang="en-US" dirty="0"/>
              <a:t> za rad </a:t>
            </a:r>
            <a:r>
              <a:rPr lang="en-US" dirty="0" err="1"/>
              <a:t>na</a:t>
            </a:r>
            <a:r>
              <a:rPr lang="en-US" dirty="0"/>
              <a:t> Raspberry Pi </a:t>
            </a:r>
            <a:r>
              <a:rPr lang="en-US" dirty="0" err="1"/>
              <a:t>uredjaju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F3166-4F7C-25A7-86E6-2BF3CBDFE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44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6/1/2026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6/1/2026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6/1/2026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6/1/2026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6/1/2026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1738315"/>
          </a:xfrm>
        </p:spPr>
        <p:txBody>
          <a:bodyPr>
            <a:normAutofit/>
          </a:bodyPr>
          <a:lstStyle/>
          <a:p>
            <a:pPr algn="ctr"/>
            <a:r>
              <a:rPr lang="sr-Latn-RS" sz="6600" noProof="1"/>
              <a:t>UbiComp – Projekat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noProof="1"/>
              <a:t>Anastasija Vasić, 1848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443C37-6BAB-D604-FA46-0E2F877ACD7F}"/>
              </a:ext>
            </a:extLst>
          </p:cNvPr>
          <p:cNvSpPr txBox="1">
            <a:spLocks/>
          </p:cNvSpPr>
          <p:nvPr/>
        </p:nvSpPr>
        <p:spPr>
          <a:xfrm>
            <a:off x="7982880" y="5432564"/>
            <a:ext cx="3457059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b="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r-Latn-RS" noProof="1"/>
              <a:t>Sveprisutno računarstvo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95205"/>
            <a:ext cx="9601200" cy="771595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Uvod i cilj projekta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627" y="1278083"/>
            <a:ext cx="11013911" cy="4784788"/>
          </a:xfrm>
        </p:spPr>
        <p:txBody>
          <a:bodyPr>
            <a:normAutofit fontScale="92500" lnSpcReduction="10000"/>
          </a:bodyPr>
          <a:lstStyle/>
          <a:p>
            <a:r>
              <a:rPr lang="sr-Latn-RS" b="1" noProof="1"/>
              <a:t>IoT aplikacija </a:t>
            </a:r>
            <a:r>
              <a:rPr lang="sr-Latn-RS" noProof="1"/>
              <a:t>na Raspberry Pi uređaju realizovana je kao skup međusobno povezanih mikroservisa u Docker Compose okruženju.</a:t>
            </a:r>
            <a:br>
              <a:rPr lang="sr-Latn-RS" noProof="1"/>
            </a:br>
            <a:r>
              <a:rPr lang="sr-Latn-RS" noProof="1"/>
              <a:t>Za razliku od monolitne organizacije u jednom fajlu ili jednom servisu, ovakav pristup omogućava jasnu podelu funkcionalnosti na prijem podataka, MQTT komunikaciju, skladištenje, vizuelizaciju i analizu.</a:t>
            </a:r>
          </a:p>
          <a:p>
            <a:r>
              <a:rPr lang="sr-Latn-RS" noProof="1"/>
              <a:t>Cilj projekta bio je razvoj IoT sistema koji se aktivira glasovnom komandom i nakon toga prikuplja nove senzorske podatke.</a:t>
            </a:r>
          </a:p>
          <a:p>
            <a:r>
              <a:rPr lang="sr-Latn-RS" noProof="1"/>
              <a:t>Izabrani skup podataka čine intenzitet osvetljenja i RGB komponente boje, koje se sa Arduino uređaja šalju na Raspberry Pi.</a:t>
            </a:r>
          </a:p>
          <a:p>
            <a:r>
              <a:rPr lang="sr-Latn-RS" noProof="1"/>
              <a:t>Na Raspberry Pi uređaju realizovani su MQTT komunikacija, čuvanje podataka u InfluxDB, vizuelizacija u Grafani i analiza pomoću TensorFlow Lite modela.</a:t>
            </a:r>
          </a:p>
          <a:p>
            <a:r>
              <a:rPr lang="sr-Latn-RS" noProof="1"/>
              <a:t>Koričćen hardver:  </a:t>
            </a:r>
          </a:p>
          <a:p>
            <a:pPr lvl="1"/>
            <a:r>
              <a:rPr lang="sr-Latn-RS" b="1" i="1" noProof="1"/>
              <a:t>Arduino Nano 33 BLE Sense Lite</a:t>
            </a:r>
          </a:p>
          <a:p>
            <a:pPr lvl="1"/>
            <a:r>
              <a:rPr lang="sr-Latn-RS" b="1" noProof="1"/>
              <a:t>Raspberry Pi 4 Model B</a:t>
            </a:r>
            <a:endParaRPr lang="sr-Latn-RS" b="1" i="1" noProof="1"/>
          </a:p>
          <a:p>
            <a:endParaRPr lang="sr-Latn-RS" i="1" noProof="1"/>
          </a:p>
          <a:p>
            <a:endParaRPr lang="sr-Latn-R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5F83B-787A-6BD4-866E-79CC3C01C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700801"/>
            <a:ext cx="1830402" cy="13620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06AE6E-51EE-9F0D-AB11-B000074D1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364" y="4616890"/>
            <a:ext cx="2337502" cy="15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B3A58-BFBC-3BDC-7E7D-06D1C00A5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0991" y="1600201"/>
            <a:ext cx="9425609" cy="4191000"/>
          </a:xfrm>
        </p:spPr>
        <p:txBody>
          <a:bodyPr/>
          <a:lstStyle/>
          <a:p>
            <a:r>
              <a:rPr lang="sr-Latn-RS" b="1" noProof="1"/>
              <a:t>Arduino IDE</a:t>
            </a:r>
          </a:p>
          <a:p>
            <a:r>
              <a:rPr lang="sr-Latn-RS" b="1" noProof="1"/>
              <a:t>Docker / Docker Compose</a:t>
            </a:r>
          </a:p>
          <a:p>
            <a:r>
              <a:rPr lang="sr-Latn-RS" b="1" noProof="1"/>
              <a:t>Mosquitto MQTT</a:t>
            </a:r>
          </a:p>
          <a:p>
            <a:r>
              <a:rPr lang="sr-Latn-RS" b="1" noProof="1"/>
              <a:t>InfluxDB</a:t>
            </a:r>
          </a:p>
          <a:p>
            <a:r>
              <a:rPr lang="sr-Latn-RS" b="1" noProof="1"/>
              <a:t>Grafana</a:t>
            </a:r>
          </a:p>
          <a:p>
            <a:r>
              <a:rPr lang="sr-Latn-RS" b="1" noProof="1"/>
              <a:t>TensorFlow Lite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52D692E-9B9A-D084-313F-604ECCCA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88236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Korišćene tehnologije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E69FB-F03E-D030-187B-3471E10B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84702"/>
            <a:ext cx="1780309" cy="1264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83FB27-8A15-69B7-50A2-ABB94C549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710" y="1340000"/>
            <a:ext cx="2168236" cy="1219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1311A8-FAC3-7080-61E6-B80188D50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73696"/>
            <a:ext cx="2348873" cy="4731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994D36-93BE-A3E5-2636-D780FDEA8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7400" y="2684213"/>
            <a:ext cx="1657507" cy="15451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2A73D0A-4BA3-7888-84CE-A42CA90188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7312" y="2716732"/>
            <a:ext cx="1563988" cy="15414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6BAF5E-28BC-B7C2-595D-C9F159F856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8327" y="4298369"/>
            <a:ext cx="1488174" cy="121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5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E16D0-B793-1830-A3F3-542136F0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511553-739D-57F1-F56B-B84DAFAB9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0416"/>
          <a:stretch>
            <a:fillRect/>
          </a:stretch>
        </p:blipFill>
        <p:spPr>
          <a:xfrm>
            <a:off x="1101436" y="1272165"/>
            <a:ext cx="9689768" cy="4885370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732D5B9-4FE6-633F-413A-624658A6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88236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Arhitektura sistema</a:t>
            </a:r>
          </a:p>
        </p:txBody>
      </p:sp>
    </p:spTree>
    <p:extLst>
      <p:ext uri="{BB962C8B-B14F-4D97-AF65-F5344CB8AC3E}">
        <p14:creationId xmlns:p14="http://schemas.microsoft.com/office/powerpoint/2010/main" val="141513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4A4B7-54FF-E7AA-CF85-C7F8F1D8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30C496-05AC-302A-3432-84D38D0A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88236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Arduino deo sistema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277A8-4FAF-C6B2-0DFC-BB897C88F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1873" y="1548245"/>
            <a:ext cx="6057900" cy="4242956"/>
          </a:xfrm>
        </p:spPr>
        <p:txBody>
          <a:bodyPr/>
          <a:lstStyle/>
          <a:p>
            <a:r>
              <a:rPr lang="sr-Latn-RS" noProof="1"/>
              <a:t>Na Arduino uređaju implementirana je logika za prepoznavanje komandi go i stop, upravljanje LED signalizacijom i očitavanje podataka o osvetljenju i boji.</a:t>
            </a:r>
          </a:p>
          <a:p>
            <a:r>
              <a:rPr lang="sr-Latn-RS" noProof="1"/>
              <a:t>Kada je sistem aktivan, sa </a:t>
            </a:r>
            <a:r>
              <a:rPr lang="sr-Latn-RS" i="1" noProof="1"/>
              <a:t>APDS9960</a:t>
            </a:r>
            <a:r>
              <a:rPr lang="sr-Latn-RS" noProof="1"/>
              <a:t> senzora se očitavaju ambient, R, G i B vrednosti, a zatim se izračunavaju dominantna boja i stanje osvetljenja.</a:t>
            </a:r>
          </a:p>
          <a:p>
            <a:r>
              <a:rPr lang="sr-Latn-RS" noProof="1"/>
              <a:t>Dobijeni podaci se formatiraju u JSON oblik i šalju Raspberry Pi uređaju preko serijske veze.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6C179-39CD-6F26-4B79-0D05F3C308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78"/>
          <a:stretch>
            <a:fillRect/>
          </a:stretch>
        </p:blipFill>
        <p:spPr>
          <a:xfrm>
            <a:off x="596331" y="1189038"/>
            <a:ext cx="4346278" cy="486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8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460D5-1A25-BCAC-B9C6-15F16DD1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E00975-32A3-8862-C4CF-22D2ACD6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64" y="288236"/>
            <a:ext cx="11159836" cy="900802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Glasovno aktiviranje i LED signalizacija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16C5C-F1ED-2042-5718-A483B0D03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581" y="1454727"/>
            <a:ext cx="11159835" cy="4336474"/>
          </a:xfrm>
          <a:noFill/>
        </p:spPr>
        <p:txBody>
          <a:bodyPr/>
          <a:lstStyle/>
          <a:p>
            <a:r>
              <a:rPr lang="sr-Latn-RS" noProof="1"/>
              <a:t>Sistem se pokreće glasovnom komandom </a:t>
            </a:r>
            <a:r>
              <a:rPr lang="sr-Latn-RS" b="1" noProof="1"/>
              <a:t>go</a:t>
            </a:r>
            <a:r>
              <a:rPr lang="sr-Latn-RS" noProof="1"/>
              <a:t>, a zaustavlja komandom </a:t>
            </a:r>
            <a:r>
              <a:rPr lang="sr-Latn-RS" b="1" noProof="1"/>
              <a:t>stop</a:t>
            </a:r>
            <a:r>
              <a:rPr lang="sr-Latn-RS" noProof="1"/>
              <a:t>.</a:t>
            </a:r>
            <a:br>
              <a:rPr lang="sr-Latn-RS" noProof="1"/>
            </a:br>
            <a:r>
              <a:rPr lang="sr-Latn-RS" noProof="1"/>
              <a:t>Pri komandi go uključuje se dodatna LED i RGB LED prelazi u zelenu boju, čime se označava aktivan režim rada.</a:t>
            </a:r>
            <a:br>
              <a:rPr lang="sr-Latn-RS" noProof="1"/>
            </a:br>
            <a:r>
              <a:rPr lang="sr-Latn-RS" noProof="1"/>
              <a:t>Pri komandi stop dodatna LED se gasi, a RGB LED prelazi u plavu boju.</a:t>
            </a:r>
            <a:br>
              <a:rPr lang="sr-Latn-RS" noProof="1"/>
            </a:br>
            <a:r>
              <a:rPr lang="sr-Latn-RS" noProof="1"/>
              <a:t>U slučaju nagle promene osvetljenja RGB LED kratko prelazi u crvenu boju.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DBBC0-5DFE-B844-996B-602C8BD8A6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58" t="21991" r="25199" b="31360"/>
          <a:stretch>
            <a:fillRect/>
          </a:stretch>
        </p:blipFill>
        <p:spPr>
          <a:xfrm>
            <a:off x="1047750" y="3252354"/>
            <a:ext cx="1970808" cy="1122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744076-F161-2B77-3C24-24D31AF000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284" t="23629" r="22112" b="28811"/>
          <a:stretch>
            <a:fillRect/>
          </a:stretch>
        </p:blipFill>
        <p:spPr>
          <a:xfrm>
            <a:off x="3286990" y="3252354"/>
            <a:ext cx="1970809" cy="11229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68F816-6BD3-75DD-A6C1-988C0DC176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059" t="10545" r="32969" b="12784"/>
          <a:stretch>
            <a:fillRect/>
          </a:stretch>
        </p:blipFill>
        <p:spPr>
          <a:xfrm rot="5400000">
            <a:off x="2623038" y="4259207"/>
            <a:ext cx="1095841" cy="197081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081D3C3-6B31-2CAB-52DE-DAC02083CA3C}"/>
              </a:ext>
            </a:extLst>
          </p:cNvPr>
          <p:cNvSpPr/>
          <p:nvPr/>
        </p:nvSpPr>
        <p:spPr>
          <a:xfrm>
            <a:off x="3823855" y="3906982"/>
            <a:ext cx="332509" cy="2078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 noProof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1DA793-DC13-151B-CC40-B742A35F7169}"/>
              </a:ext>
            </a:extLst>
          </p:cNvPr>
          <p:cNvSpPr/>
          <p:nvPr/>
        </p:nvSpPr>
        <p:spPr>
          <a:xfrm>
            <a:off x="3636818" y="3252354"/>
            <a:ext cx="332509" cy="3013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 noProof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CFB476-E68F-010A-32F7-299FF3A7DE41}"/>
              </a:ext>
            </a:extLst>
          </p:cNvPr>
          <p:cNvSpPr/>
          <p:nvPr/>
        </p:nvSpPr>
        <p:spPr>
          <a:xfrm>
            <a:off x="1693719" y="3823855"/>
            <a:ext cx="339436" cy="2909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 noProof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E49B1E-CA41-0F36-06ED-1A344599B66E}"/>
              </a:ext>
            </a:extLst>
          </p:cNvPr>
          <p:cNvSpPr/>
          <p:nvPr/>
        </p:nvSpPr>
        <p:spPr>
          <a:xfrm>
            <a:off x="2638868" y="5296223"/>
            <a:ext cx="394855" cy="3397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RS" noProof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1CCC18-DE84-39BE-A336-65C7A3D79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0865" y="3002008"/>
            <a:ext cx="6602082" cy="358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5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AD205-B522-0CA4-2931-6072AE91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EF0250-88F2-ADB9-F423-C4447283E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288236"/>
            <a:ext cx="11305309" cy="900802"/>
          </a:xfrm>
        </p:spPr>
        <p:txBody>
          <a:bodyPr>
            <a:normAutofit fontScale="90000"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MQTT komunikacija i prenos podataka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CB215-D3B9-C73C-7917-BCB295E0C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309255"/>
            <a:ext cx="11222183" cy="4769427"/>
          </a:xfrm>
        </p:spPr>
        <p:txBody>
          <a:bodyPr/>
          <a:lstStyle/>
          <a:p>
            <a:r>
              <a:rPr lang="sr-Latn-RS" noProof="1"/>
              <a:t>Podaci sa Arduino uređaja najpre se čitaju u serial-reader servisu, a zatim se publishuju na MQTT topic </a:t>
            </a:r>
            <a:r>
              <a:rPr lang="sr-Latn-RS" i="1" noProof="1">
                <a:solidFill>
                  <a:schemeClr val="bg1">
                    <a:lumMod val="50000"/>
                  </a:schemeClr>
                </a:solidFill>
              </a:rPr>
              <a:t>iot/sensors/light_color</a:t>
            </a:r>
            <a:r>
              <a:rPr lang="sr-Latn-RS" noProof="1"/>
              <a:t>.</a:t>
            </a:r>
          </a:p>
          <a:p>
            <a:pPr lvl="1"/>
            <a:r>
              <a:rPr lang="sr-Latn-RS" sz="1600" noProof="1"/>
              <a:t>Na ovaj način obezbeđen je pouzdan i modularan prenos podataka između izvora podataka i ostalih mikroservisa.</a:t>
            </a:r>
          </a:p>
          <a:p>
            <a:r>
              <a:rPr lang="sr-Latn-RS" noProof="1"/>
              <a:t>Pored senzorskih podataka, sistem koristi i dodatne MQTT topic-e za događaje i simulirane akcije aktuatora.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6DFAB-24A7-BE53-4FCC-3100F71B2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47" y="3199902"/>
            <a:ext cx="4887859" cy="1351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6174A1-1221-AE5B-EEB5-F2C675D18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796" y="4639292"/>
            <a:ext cx="4029763" cy="1351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6D9B25-3E8B-B845-6C1C-A38B80DB5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807" y="3152894"/>
            <a:ext cx="5643694" cy="182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10BD-86C7-D59E-BEF2-797497D1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1EB64F-35F2-FDA9-D752-B79477AB8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88236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InfluxDB i Grafana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5C0C7-79C7-67A2-47C2-842CC7C9D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1319645"/>
            <a:ext cx="11720945" cy="4471555"/>
          </a:xfrm>
        </p:spPr>
        <p:txBody>
          <a:bodyPr/>
          <a:lstStyle/>
          <a:p>
            <a:r>
              <a:rPr lang="sr-Latn-RS" noProof="1"/>
              <a:t>MQTT poruke sa senzorskim podacima preuzimaju se u </a:t>
            </a:r>
            <a:r>
              <a:rPr lang="sr-Latn-RS" i="1" noProof="1"/>
              <a:t>mqtt-to-influx</a:t>
            </a:r>
            <a:r>
              <a:rPr lang="sr-Latn-RS" noProof="1"/>
              <a:t> servisu i upisuju u InfluxDB bazu vremenskih serija.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5CAC8-A8A9-DDDF-1C34-916A1BB82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52" y="4833221"/>
            <a:ext cx="9124896" cy="866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164252-AE78-6147-CFAB-C57425805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96" y="2199538"/>
            <a:ext cx="5292138" cy="21868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F3E8BA-622E-F39E-34BE-A3E53AAA6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644" y="2199537"/>
            <a:ext cx="5026008" cy="218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0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0842D-7434-D8D3-50DD-51734D015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147E66-4923-9A3A-851A-A9084B3D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5997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sr-Latn-RS" sz="48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InfluxDB i Grafana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FD3BE-F16F-D307-6DE4-B9C84D102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63782"/>
            <a:ext cx="11045536" cy="4627419"/>
          </a:xfrm>
        </p:spPr>
        <p:txBody>
          <a:bodyPr/>
          <a:lstStyle/>
          <a:p>
            <a:r>
              <a:rPr lang="sr-Latn-RS" noProof="1"/>
              <a:t>Na osnovu tih podataka u Grafani su napravljeni paneli za praćenje vrednosti osvetljenja i RGB kanala u realnom vremenu.</a:t>
            </a:r>
            <a:br>
              <a:rPr lang="sr-Latn-RS" noProof="1"/>
            </a:br>
            <a:r>
              <a:rPr lang="sr-Latn-RS" noProof="1"/>
              <a:t>Na taj način omoguceno je i skladištenje istorijskih podataka i njihova pregledna vizuelizacija.</a:t>
            </a:r>
          </a:p>
          <a:p>
            <a:endParaRPr lang="sr-Latn-R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F508C2-868F-1DE2-9BC4-474CD11496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13"/>
          <a:stretch>
            <a:fillRect/>
          </a:stretch>
        </p:blipFill>
        <p:spPr>
          <a:xfrm>
            <a:off x="2322794" y="2055240"/>
            <a:ext cx="7475834" cy="414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7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98AE0-DDE6-1801-CC6B-A77883E93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33C879-CEA1-46DD-154F-C77B69AC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88236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TensorFlow Lite model</a:t>
            </a:r>
            <a:endParaRPr lang="sr-Latn-RS" sz="48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73012-358F-32B2-6729-01806AF81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1537855"/>
            <a:ext cx="11658600" cy="4572000"/>
          </a:xfrm>
        </p:spPr>
        <p:txBody>
          <a:bodyPr/>
          <a:lstStyle/>
          <a:p>
            <a:r>
              <a:rPr lang="en-US" dirty="0"/>
              <a:t>Za </a:t>
            </a:r>
            <a:r>
              <a:rPr lang="en-US" dirty="0" err="1"/>
              <a:t>analizu</a:t>
            </a:r>
            <a:r>
              <a:rPr lang="en-US" dirty="0"/>
              <a:t> </a:t>
            </a:r>
            <a:r>
              <a:rPr lang="en-US" dirty="0" err="1"/>
              <a:t>senzorskih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Raspberry Pi </a:t>
            </a:r>
            <a:r>
              <a:rPr lang="en-US" dirty="0" err="1"/>
              <a:t>uredjaju</a:t>
            </a:r>
            <a:r>
              <a:rPr lang="en-US" dirty="0"/>
              <a:t> kori</a:t>
            </a:r>
            <a:r>
              <a:rPr lang="sr-Latn-RS" dirty="0"/>
              <a:t>šć</a:t>
            </a:r>
            <a:r>
              <a:rPr lang="en-US" dirty="0" err="1"/>
              <a:t>en</a:t>
            </a:r>
            <a:r>
              <a:rPr lang="en-US" dirty="0"/>
              <a:t> je TensorFlow Lite model </a:t>
            </a:r>
            <a:r>
              <a:rPr lang="en-US" dirty="0" err="1"/>
              <a:t>treniran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ambient, R, G </a:t>
            </a:r>
            <a:r>
              <a:rPr lang="en-US" dirty="0" err="1"/>
              <a:t>i</a:t>
            </a:r>
            <a:r>
              <a:rPr lang="en-US" dirty="0"/>
              <a:t> B.</a:t>
            </a:r>
            <a:br>
              <a:rPr lang="en-US" dirty="0"/>
            </a:br>
            <a:r>
              <a:rPr lang="en-US" dirty="0"/>
              <a:t>Model </a:t>
            </a:r>
            <a:r>
              <a:rPr lang="en-US" dirty="0" err="1"/>
              <a:t>klasifikuje</a:t>
            </a:r>
            <a:r>
              <a:rPr lang="en-US" dirty="0"/>
              <a:t> </a:t>
            </a:r>
            <a:r>
              <a:rPr lang="en-US" dirty="0" err="1"/>
              <a:t>dominantnu</a:t>
            </a:r>
            <a:r>
              <a:rPr lang="en-US" dirty="0"/>
              <a:t> </a:t>
            </a:r>
            <a:r>
              <a:rPr lang="en-US" dirty="0" err="1"/>
              <a:t>boju</a:t>
            </a:r>
            <a:r>
              <a:rPr lang="en-US" dirty="0"/>
              <a:t> u </a:t>
            </a:r>
            <a:r>
              <a:rPr lang="en-US" dirty="0" err="1"/>
              <a:t>jednu</a:t>
            </a:r>
            <a:r>
              <a:rPr lang="en-US" dirty="0"/>
              <a:t> od </a:t>
            </a:r>
            <a:r>
              <a:rPr lang="sr-Latn-RS" dirty="0"/>
              <a:t>č</a:t>
            </a:r>
            <a:r>
              <a:rPr lang="en-US" dirty="0" err="1"/>
              <a:t>etiri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: red, green, blue </a:t>
            </a:r>
            <a:r>
              <a:rPr lang="en-US" dirty="0" err="1"/>
              <a:t>i</a:t>
            </a:r>
            <a:r>
              <a:rPr lang="en-US" dirty="0"/>
              <a:t> neutral.</a:t>
            </a:r>
            <a:br>
              <a:rPr lang="en-US" dirty="0"/>
            </a:br>
            <a:r>
              <a:rPr lang="en-US" dirty="0"/>
              <a:t>Model je </a:t>
            </a:r>
            <a:r>
              <a:rPr lang="en-US" dirty="0" err="1"/>
              <a:t>treniran</a:t>
            </a:r>
            <a:r>
              <a:rPr lang="en-US" dirty="0"/>
              <a:t> van Raspberry Pi </a:t>
            </a:r>
            <a:r>
              <a:rPr lang="en-US" dirty="0" err="1"/>
              <a:t>platforme</a:t>
            </a:r>
            <a:r>
              <a:rPr lang="en-US" dirty="0"/>
              <a:t>, a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eksportovan</a:t>
            </a:r>
            <a:r>
              <a:rPr lang="en-US" dirty="0"/>
              <a:t> u .</a:t>
            </a:r>
            <a:r>
              <a:rPr lang="en-US" dirty="0" err="1"/>
              <a:t>tflite</a:t>
            </a:r>
            <a:r>
              <a:rPr lang="en-US" dirty="0"/>
              <a:t> format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izvr</a:t>
            </a:r>
            <a:r>
              <a:rPr lang="sr-Latn-RS" dirty="0"/>
              <a:t>š</a:t>
            </a:r>
            <a:r>
              <a:rPr lang="en-US" dirty="0" err="1"/>
              <a:t>avan</a:t>
            </a:r>
            <a:r>
              <a:rPr lang="en-US" dirty="0"/>
              <a:t> </a:t>
            </a:r>
            <a:r>
              <a:rPr lang="en-US" dirty="0" err="1"/>
              <a:t>lokalno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Raspberry Pi </a:t>
            </a:r>
            <a:r>
              <a:rPr lang="en-US" dirty="0" err="1"/>
              <a:t>ure</a:t>
            </a:r>
            <a:r>
              <a:rPr lang="sr-Latn-RS" dirty="0"/>
              <a:t>đ</a:t>
            </a:r>
            <a:r>
              <a:rPr lang="en-US" dirty="0" err="1"/>
              <a:t>aju</a:t>
            </a:r>
            <a:r>
              <a:rPr lang="en-US" dirty="0"/>
              <a:t>.</a:t>
            </a:r>
            <a:endParaRPr lang="sr-Latn-R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A9DAB-B805-7CE6-2087-A9FECE79DA64}"/>
              </a:ext>
            </a:extLst>
          </p:cNvPr>
          <p:cNvSpPr txBox="1"/>
          <p:nvPr/>
        </p:nvSpPr>
        <p:spPr>
          <a:xfrm>
            <a:off x="5047384" y="2971514"/>
            <a:ext cx="29328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train_color_model.py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204FE6-4F35-283B-A341-550FCDA62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811" y="3547933"/>
            <a:ext cx="5285123" cy="1105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ECEC5C-9096-6606-6B6B-4CC45C061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810" y="4982718"/>
            <a:ext cx="5285123" cy="68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8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0F9FB-45FF-931C-7288-97F3C754C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DFF8C5-4AE7-4E78-0400-907B4BAB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88236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Detekcija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dominantne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boje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E6389-33AB-7CBE-8B6F-1613B6E6D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973" y="1394680"/>
            <a:ext cx="4894118" cy="4396521"/>
          </a:xfrm>
        </p:spPr>
        <p:txBody>
          <a:bodyPr/>
          <a:lstStyle/>
          <a:p>
            <a:r>
              <a:rPr lang="en-US" dirty="0" err="1"/>
              <a:t>TFLite</a:t>
            </a:r>
            <a:r>
              <a:rPr lang="en-US" dirty="0"/>
              <a:t> analyzer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pretpla</a:t>
            </a:r>
            <a:r>
              <a:rPr lang="sr-Latn-RS" dirty="0"/>
              <a:t>ć</a:t>
            </a:r>
            <a:r>
              <a:rPr lang="en-US" dirty="0" err="1"/>
              <a:t>en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MQTT topic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senzorskim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poruku</a:t>
            </a:r>
            <a:r>
              <a:rPr lang="en-US" dirty="0"/>
              <a:t> </a:t>
            </a:r>
            <a:r>
              <a:rPr lang="en-US" dirty="0" err="1"/>
              <a:t>vr</a:t>
            </a:r>
            <a:r>
              <a:rPr lang="sr-Latn-RS" dirty="0"/>
              <a:t>š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inferenciju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Na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ambient, R, G </a:t>
            </a:r>
            <a:r>
              <a:rPr lang="en-US" dirty="0" err="1"/>
              <a:t>i</a:t>
            </a:r>
            <a:r>
              <a:rPr lang="en-US" dirty="0"/>
              <a:t> B model </a:t>
            </a:r>
            <a:r>
              <a:rPr lang="en-US" dirty="0" err="1"/>
              <a:t>odre</a:t>
            </a:r>
            <a:r>
              <a:rPr lang="sr-Latn-RS" dirty="0"/>
              <a:t>đ</a:t>
            </a:r>
            <a:r>
              <a:rPr lang="en-US" dirty="0" err="1"/>
              <a:t>uje</a:t>
            </a:r>
            <a:r>
              <a:rPr lang="en-US" dirty="0"/>
              <a:t> </a:t>
            </a:r>
            <a:r>
              <a:rPr lang="en-US" dirty="0" err="1"/>
              <a:t>dominantnu</a:t>
            </a:r>
            <a:r>
              <a:rPr lang="en-US" dirty="0"/>
              <a:t> </a:t>
            </a:r>
            <a:r>
              <a:rPr lang="en-US" dirty="0" err="1"/>
              <a:t>boju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sr-Latn-RS" dirty="0"/>
              <a:t>č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pouzdanost</a:t>
            </a:r>
            <a:r>
              <a:rPr lang="en-US" dirty="0"/>
              <a:t> </a:t>
            </a:r>
            <a:r>
              <a:rPr lang="en-US" dirty="0" err="1"/>
              <a:t>klasifikacije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Rezultat</a:t>
            </a:r>
            <a:r>
              <a:rPr lang="en-US" dirty="0"/>
              <a:t> se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objavljuje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MQTT topic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iot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/events/detection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34B520-833B-81FF-E461-4C1115010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73" y="4672009"/>
            <a:ext cx="5533450" cy="13248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40DB89-38FE-4633-AF4C-03C49949D6EF}"/>
              </a:ext>
            </a:extLst>
          </p:cNvPr>
          <p:cNvSpPr txBox="1"/>
          <p:nvPr/>
        </p:nvSpPr>
        <p:spPr>
          <a:xfrm>
            <a:off x="2320329" y="4248201"/>
            <a:ext cx="2660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iot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/events/detection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A7084F-47C8-20FD-7A6D-445A3E5434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09"/>
          <a:stretch>
            <a:fillRect/>
          </a:stretch>
        </p:blipFill>
        <p:spPr>
          <a:xfrm>
            <a:off x="7667922" y="3714798"/>
            <a:ext cx="3228678" cy="20764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E984CC-2984-F348-3426-1028502FE1FC}"/>
              </a:ext>
            </a:extLst>
          </p:cNvPr>
          <p:cNvSpPr txBox="1"/>
          <p:nvPr/>
        </p:nvSpPr>
        <p:spPr>
          <a:xfrm>
            <a:off x="7207208" y="1524518"/>
            <a:ext cx="3391520" cy="366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tflite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-analyzer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6D4965-673C-D6D1-2F05-4CFE5E043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21" y="1953754"/>
            <a:ext cx="4541306" cy="157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7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E25A0-BCB5-54A1-D58B-0FBC7152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6B3479-61C1-274B-453F-715B7B2C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88236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Detekcija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promene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osvetljenja</a:t>
            </a:r>
            <a:endParaRPr lang="sr-Latn-RS" sz="48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9E169-8845-B596-29C7-679979A96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5" y="1444337"/>
            <a:ext cx="10952018" cy="4603172"/>
          </a:xfrm>
        </p:spPr>
        <p:txBody>
          <a:bodyPr/>
          <a:lstStyle/>
          <a:p>
            <a:r>
              <a:rPr lang="en-US" dirty="0"/>
              <a:t>Pored </a:t>
            </a:r>
            <a:r>
              <a:rPr lang="en-US" dirty="0" err="1"/>
              <a:t>klasifikacije</a:t>
            </a:r>
            <a:r>
              <a:rPr lang="en-US" dirty="0"/>
              <a:t> </a:t>
            </a:r>
            <a:r>
              <a:rPr lang="en-US" dirty="0" err="1"/>
              <a:t>dominantne</a:t>
            </a:r>
            <a:r>
              <a:rPr lang="en-US" dirty="0"/>
              <a:t> </a:t>
            </a:r>
            <a:r>
              <a:rPr lang="en-US" dirty="0" err="1"/>
              <a:t>boje</a:t>
            </a:r>
            <a:r>
              <a:rPr lang="en-US" dirty="0"/>
              <a:t>, </a:t>
            </a:r>
            <a:r>
              <a:rPr lang="en-US" dirty="0" err="1"/>
              <a:t>implementirana</a:t>
            </a:r>
            <a:r>
              <a:rPr lang="en-US" dirty="0"/>
              <a:t> je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detekcija</a:t>
            </a:r>
            <a:r>
              <a:rPr lang="en-US" dirty="0"/>
              <a:t> </a:t>
            </a:r>
            <a:r>
              <a:rPr lang="en-US" dirty="0" err="1"/>
              <a:t>nagle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osvetljenja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Za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svrhu</a:t>
            </a:r>
            <a:r>
              <a:rPr lang="en-US" dirty="0"/>
              <a:t> </a:t>
            </a:r>
            <a:r>
              <a:rPr lang="en-US" dirty="0" err="1"/>
              <a:t>upore</a:t>
            </a:r>
            <a:r>
              <a:rPr lang="sr-Latn-RS" dirty="0"/>
              <a:t>đ</a:t>
            </a:r>
            <a:r>
              <a:rPr lang="en-US" dirty="0" err="1"/>
              <a:t>uje</a:t>
            </a:r>
            <a:r>
              <a:rPr lang="en-US" dirty="0"/>
              <a:t> se </a:t>
            </a:r>
            <a:r>
              <a:rPr lang="en-US" dirty="0" err="1"/>
              <a:t>trenutna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prethodna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ambient</a:t>
            </a:r>
            <a:r>
              <a:rPr lang="en-US" dirty="0"/>
              <a:t> </a:t>
            </a:r>
            <a:r>
              <a:rPr lang="en-US" dirty="0" err="1"/>
              <a:t>parametra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Ako je </a:t>
            </a:r>
            <a:r>
              <a:rPr lang="en-US" dirty="0" err="1"/>
              <a:t>razlika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sr-Latn-RS" dirty="0"/>
              <a:t>ć</a:t>
            </a:r>
            <a:r>
              <a:rPr lang="en-US" dirty="0"/>
              <a:t>a od </a:t>
            </a:r>
            <a:r>
              <a:rPr lang="en-US" dirty="0" err="1"/>
              <a:t>zadatog</a:t>
            </a:r>
            <a:r>
              <a:rPr lang="en-US" dirty="0"/>
              <a:t> </a:t>
            </a:r>
            <a:r>
              <a:rPr lang="en-US" dirty="0" err="1"/>
              <a:t>praga</a:t>
            </a:r>
            <a:r>
              <a:rPr lang="en-US" dirty="0"/>
              <a:t>, </a:t>
            </a:r>
            <a:r>
              <a:rPr lang="en-US" dirty="0" err="1"/>
              <a:t>generi</a:t>
            </a:r>
            <a:r>
              <a:rPr lang="sr-Latn-RS" dirty="0"/>
              <a:t>š</a:t>
            </a:r>
            <a:r>
              <a:rPr lang="en-US" dirty="0"/>
              <a:t>e se </a:t>
            </a:r>
            <a:r>
              <a:rPr lang="en-US" dirty="0" err="1"/>
              <a:t>doga</a:t>
            </a:r>
            <a:r>
              <a:rPr lang="sr-Latn-RS" dirty="0"/>
              <a:t>đ</a:t>
            </a:r>
            <a:r>
              <a:rPr lang="en-US" dirty="0" err="1"/>
              <a:t>aj</a:t>
            </a:r>
            <a:r>
              <a:rPr lang="en-US" dirty="0"/>
              <a:t>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sudden_brightness_increase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sudden_brightness_decrease</a:t>
            </a:r>
            <a:r>
              <a:rPr lang="en-US" dirty="0"/>
              <a:t>.</a:t>
            </a:r>
            <a:endParaRPr lang="sr-Latn-R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4B8A09-492E-B72C-54D2-9593FD5C0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044" y="2765249"/>
            <a:ext cx="3851911" cy="30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3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3EB38-D234-5410-7C5F-A5A83ED07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C4A4CE0-151B-AE51-2590-2707A8017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5998"/>
            <a:ext cx="9601200" cy="900802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Simulirana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akcija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aktuatora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D7A0C-F28F-52FB-634D-690AEAE1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845" y="1226127"/>
            <a:ext cx="10900064" cy="4565073"/>
          </a:xfrm>
        </p:spPr>
        <p:txBody>
          <a:bodyPr/>
          <a:lstStyle/>
          <a:p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detekcije</a:t>
            </a:r>
            <a:r>
              <a:rPr lang="en-US" dirty="0"/>
              <a:t> </a:t>
            </a:r>
            <a:r>
              <a:rPr lang="en-US" dirty="0" err="1"/>
              <a:t>doga</a:t>
            </a:r>
            <a:r>
              <a:rPr lang="sr-Latn-RS" dirty="0"/>
              <a:t>đ</a:t>
            </a:r>
            <a:r>
              <a:rPr lang="en-US" dirty="0" err="1"/>
              <a:t>aja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objavljuje</a:t>
            </a:r>
            <a:r>
              <a:rPr lang="en-US" dirty="0"/>
              <a:t> </a:t>
            </a:r>
            <a:r>
              <a:rPr lang="en-US" dirty="0" err="1"/>
              <a:t>poruku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MQTT topic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</a:rPr>
              <a:t>iot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/actuator/action</a:t>
            </a:r>
            <a:r>
              <a:rPr lang="en-US" dirty="0"/>
              <a:t>, </a:t>
            </a:r>
            <a:r>
              <a:rPr lang="sr-Latn-RS" dirty="0"/>
              <a:t>č</a:t>
            </a:r>
            <a:r>
              <a:rPr lang="en-US" dirty="0" err="1"/>
              <a:t>ime</a:t>
            </a:r>
            <a:r>
              <a:rPr lang="en-US" dirty="0"/>
              <a:t> se </a:t>
            </a:r>
            <a:r>
              <a:rPr lang="en-US" dirty="0" err="1"/>
              <a:t>simulira</a:t>
            </a:r>
            <a:r>
              <a:rPr lang="en-US" dirty="0"/>
              <a:t> </a:t>
            </a:r>
            <a:r>
              <a:rPr lang="en-US" dirty="0" err="1"/>
              <a:t>reakcija</a:t>
            </a:r>
            <a:r>
              <a:rPr lang="en-US" dirty="0"/>
              <a:t> </a:t>
            </a:r>
            <a:r>
              <a:rPr lang="en-US" dirty="0" err="1"/>
              <a:t>aktuatora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/>
              <a:t>Na taj </a:t>
            </a:r>
            <a:r>
              <a:rPr lang="en-US" dirty="0" err="1"/>
              <a:t>na</a:t>
            </a:r>
            <a:r>
              <a:rPr lang="sr-Latn-RS" dirty="0"/>
              <a:t>č</a:t>
            </a:r>
            <a:r>
              <a:rPr lang="en-US" dirty="0"/>
              <a:t>in </a:t>
            </a:r>
            <a:r>
              <a:rPr lang="en-US" dirty="0" err="1"/>
              <a:t>ostvarena</a:t>
            </a:r>
            <a:r>
              <a:rPr lang="en-US" dirty="0"/>
              <a:t> je </a:t>
            </a:r>
            <a:r>
              <a:rPr lang="en-US" dirty="0" err="1"/>
              <a:t>potpuna</a:t>
            </a:r>
            <a:r>
              <a:rPr lang="en-US" dirty="0"/>
              <a:t> IoT </a:t>
            </a:r>
            <a:r>
              <a:rPr lang="en-US" dirty="0" err="1"/>
              <a:t>petlja</a:t>
            </a:r>
            <a:r>
              <a:rPr lang="en-US" dirty="0"/>
              <a:t>: </a:t>
            </a:r>
            <a:endParaRPr lang="sr-Latn-RS" dirty="0"/>
          </a:p>
          <a:p>
            <a:pPr lvl="1"/>
            <a:r>
              <a:rPr lang="en-US" dirty="0" err="1"/>
              <a:t>prikupljanje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analiza</a:t>
            </a:r>
            <a:r>
              <a:rPr lang="en-US" dirty="0"/>
              <a:t>, </a:t>
            </a:r>
            <a:r>
              <a:rPr lang="en-US" dirty="0" err="1"/>
              <a:t>detekcija</a:t>
            </a:r>
            <a:r>
              <a:rPr lang="en-US" dirty="0"/>
              <a:t> </a:t>
            </a:r>
            <a:r>
              <a:rPr lang="en-US" dirty="0" err="1"/>
              <a:t>doga</a:t>
            </a:r>
            <a:r>
              <a:rPr lang="sr-Latn-RS" dirty="0"/>
              <a:t>đ</a:t>
            </a:r>
            <a:r>
              <a:rPr lang="en-US" dirty="0" err="1"/>
              <a:t>aja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reakcija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 err="1"/>
              <a:t>Istovremeno</a:t>
            </a:r>
            <a:r>
              <a:rPr lang="en-US" dirty="0"/>
              <a:t>, </a:t>
            </a:r>
            <a:r>
              <a:rPr lang="en-US" dirty="0" err="1"/>
              <a:t>lokalno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Arduino </a:t>
            </a:r>
            <a:r>
              <a:rPr lang="en-US" dirty="0" err="1"/>
              <a:t>ure</a:t>
            </a:r>
            <a:r>
              <a:rPr lang="sr-Latn-RS" dirty="0"/>
              <a:t>đ</a:t>
            </a:r>
            <a:r>
              <a:rPr lang="en-US" dirty="0" err="1"/>
              <a:t>aju</a:t>
            </a:r>
            <a:r>
              <a:rPr lang="en-US" dirty="0"/>
              <a:t> RGB LED </a:t>
            </a:r>
            <a:r>
              <a:rPr lang="en-US" dirty="0" err="1"/>
              <a:t>prelazi</a:t>
            </a:r>
            <a:r>
              <a:rPr lang="en-US" dirty="0"/>
              <a:t> u </a:t>
            </a:r>
            <a:r>
              <a:rPr lang="en-US" dirty="0" err="1"/>
              <a:t>crvenu</a:t>
            </a:r>
            <a:r>
              <a:rPr lang="en-US" dirty="0"/>
              <a:t> </a:t>
            </a:r>
            <a:r>
              <a:rPr lang="en-US" dirty="0" err="1"/>
              <a:t>boju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nagloj</a:t>
            </a:r>
            <a:r>
              <a:rPr lang="en-US" dirty="0"/>
              <a:t> </a:t>
            </a:r>
            <a:r>
              <a:rPr lang="en-US" dirty="0" err="1"/>
              <a:t>promeni</a:t>
            </a:r>
            <a:r>
              <a:rPr lang="en-US" dirty="0"/>
              <a:t> </a:t>
            </a:r>
            <a:r>
              <a:rPr lang="en-US" dirty="0" err="1"/>
              <a:t>osvetljenja</a:t>
            </a:r>
            <a:r>
              <a:rPr lang="en-US" dirty="0"/>
              <a:t>.</a:t>
            </a:r>
            <a:endParaRPr lang="sr-Latn-RS" noProof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41DF40-DCE9-9C16-1EC6-564E51FCB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716481"/>
            <a:ext cx="9461968" cy="658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D69E8C-737A-505B-FC3A-04BE07F75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0967" y="4520046"/>
            <a:ext cx="4170833" cy="16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0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CC0A5-DE70-6674-5412-D4A793736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373E04-5640-5CF9-6EF7-012615F70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92" y="247957"/>
            <a:ext cx="11991108" cy="69619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Compose </a:t>
            </a: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mikroservisna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arhitektura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5BD9A-71C9-5652-DF45-CD98A207E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418" y="1437765"/>
            <a:ext cx="4769427" cy="4353435"/>
          </a:xfrm>
        </p:spPr>
        <p:txBody>
          <a:bodyPr/>
          <a:lstStyle/>
          <a:p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softverske</a:t>
            </a:r>
            <a:r>
              <a:rPr lang="en-US" dirty="0"/>
              <a:t> </a:t>
            </a:r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Raspberry Pi </a:t>
            </a:r>
            <a:r>
              <a:rPr lang="en-US" dirty="0" err="1"/>
              <a:t>ure</a:t>
            </a:r>
            <a:r>
              <a:rPr lang="sr-Latn-RS" dirty="0"/>
              <a:t>đ</a:t>
            </a:r>
            <a:r>
              <a:rPr lang="en-US" dirty="0" err="1"/>
              <a:t>aju</a:t>
            </a:r>
            <a:r>
              <a:rPr lang="en-US" dirty="0"/>
              <a:t> </a:t>
            </a:r>
            <a:r>
              <a:rPr lang="en-US" dirty="0" err="1"/>
              <a:t>realizovane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Docker </a:t>
            </a:r>
            <a:r>
              <a:rPr lang="en-US" dirty="0" err="1"/>
              <a:t>kontejneri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podi</a:t>
            </a:r>
            <a:r>
              <a:rPr lang="sr-Latn-RS" dirty="0"/>
              <a:t>ž</a:t>
            </a:r>
            <a:r>
              <a:rPr lang="en-US" dirty="0"/>
              <a:t>u se </a:t>
            </a:r>
            <a:r>
              <a:rPr lang="en-US" dirty="0" err="1"/>
              <a:t>jedinstvenim</a:t>
            </a:r>
            <a:r>
              <a:rPr lang="en-US" dirty="0"/>
              <a:t> </a:t>
            </a:r>
            <a:r>
              <a:rPr lang="en-US" b="1" dirty="0"/>
              <a:t>docker compose </a:t>
            </a:r>
            <a:r>
              <a:rPr lang="en-US" dirty="0" err="1"/>
              <a:t>fajlom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/>
              <a:t>Na taj </a:t>
            </a:r>
            <a:r>
              <a:rPr lang="en-US" dirty="0" err="1"/>
              <a:t>na</a:t>
            </a:r>
            <a:r>
              <a:rPr lang="sr-Latn-RS" dirty="0"/>
              <a:t>č</a:t>
            </a:r>
            <a:r>
              <a:rPr lang="en-US" dirty="0"/>
              <a:t>in </a:t>
            </a:r>
            <a:r>
              <a:rPr lang="en-US" dirty="0" err="1"/>
              <a:t>ostvarena</a:t>
            </a:r>
            <a:r>
              <a:rPr lang="en-US" dirty="0"/>
              <a:t> je </a:t>
            </a:r>
            <a:r>
              <a:rPr lang="en-US" dirty="0" err="1"/>
              <a:t>modularnost</a:t>
            </a:r>
            <a:r>
              <a:rPr lang="en-US" dirty="0"/>
              <a:t>, </a:t>
            </a:r>
            <a:r>
              <a:rPr lang="en-US" dirty="0" err="1"/>
              <a:t>jednostavno</a:t>
            </a:r>
            <a:r>
              <a:rPr lang="en-US" dirty="0"/>
              <a:t> </a:t>
            </a:r>
            <a:r>
              <a:rPr lang="en-US" dirty="0" err="1"/>
              <a:t>pokretanje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lak</a:t>
            </a:r>
            <a:r>
              <a:rPr lang="sr-Latn-RS" dirty="0"/>
              <a:t>š</a:t>
            </a:r>
            <a:r>
              <a:rPr lang="en-US" dirty="0"/>
              <a:t>e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servisima</a:t>
            </a:r>
            <a:r>
              <a:rPr lang="en-US" dirty="0"/>
              <a:t>.</a:t>
            </a:r>
            <a:endParaRPr lang="sr-Latn-RS" dirty="0"/>
          </a:p>
          <a:p>
            <a:r>
              <a:rPr lang="en-US" dirty="0"/>
              <a:t>U </a:t>
            </a:r>
            <a:r>
              <a:rPr lang="en-US" dirty="0" err="1"/>
              <a:t>okviru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se </a:t>
            </a:r>
            <a:r>
              <a:rPr lang="en-US" dirty="0" err="1"/>
              <a:t>servisi</a:t>
            </a:r>
            <a:r>
              <a:rPr lang="en-US" dirty="0"/>
              <a:t>: </a:t>
            </a:r>
            <a:r>
              <a:rPr lang="en-US" b="1" i="1" dirty="0" err="1"/>
              <a:t>Mosquitto</a:t>
            </a:r>
            <a:r>
              <a:rPr lang="en-US" dirty="0"/>
              <a:t>, </a:t>
            </a:r>
            <a:r>
              <a:rPr lang="en-US" b="1" i="1" dirty="0" err="1"/>
              <a:t>InfluxDB</a:t>
            </a:r>
            <a:r>
              <a:rPr lang="en-US" dirty="0"/>
              <a:t>, </a:t>
            </a:r>
            <a:r>
              <a:rPr lang="en-US" b="1" i="1" dirty="0"/>
              <a:t>Grafana</a:t>
            </a:r>
            <a:r>
              <a:rPr lang="en-US" dirty="0"/>
              <a:t>, </a:t>
            </a:r>
            <a:r>
              <a:rPr lang="en-US" b="1" i="1" dirty="0"/>
              <a:t>serial-reader</a:t>
            </a:r>
            <a:r>
              <a:rPr lang="en-US" dirty="0"/>
              <a:t>, </a:t>
            </a:r>
            <a:r>
              <a:rPr lang="en-US" b="1" i="1" dirty="0" err="1"/>
              <a:t>mqtt</a:t>
            </a:r>
            <a:r>
              <a:rPr lang="en-US" b="1" i="1" dirty="0"/>
              <a:t>-to-influx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i="1" dirty="0" err="1"/>
              <a:t>tflite</a:t>
            </a:r>
            <a:r>
              <a:rPr lang="en-US" b="1" i="1" dirty="0"/>
              <a:t>-analyzer</a:t>
            </a:r>
            <a:r>
              <a:rPr lang="en-US" dirty="0"/>
              <a:t>.</a:t>
            </a:r>
            <a:endParaRPr lang="sr-Latn-R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A9731-4ECB-F3AB-C107-EF75B50DA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72" y="5316632"/>
            <a:ext cx="11537373" cy="11390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08AEAA-FFBB-0A8D-24F1-C56CD2EF1799}"/>
              </a:ext>
            </a:extLst>
          </p:cNvPr>
          <p:cNvSpPr txBox="1"/>
          <p:nvPr/>
        </p:nvSpPr>
        <p:spPr>
          <a:xfrm>
            <a:off x="7373827" y="1015939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docker-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compose.yml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C95EA0-77FC-51FA-8C98-9F197DF65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923" y="1437765"/>
            <a:ext cx="2825727" cy="38263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2F8BC2-BA0A-532E-4DF9-8C7E36839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127" y="1457061"/>
            <a:ext cx="3030226" cy="37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39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2075" y="2667000"/>
            <a:ext cx="9601200" cy="1123950"/>
          </a:xfrm>
        </p:spPr>
        <p:txBody>
          <a:bodyPr/>
          <a:lstStyle/>
          <a:p>
            <a:pPr algn="ctr"/>
            <a:r>
              <a:rPr lang="sr-Latn-RS" noProof="1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23622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3208</TotalTime>
  <Words>1051</Words>
  <Application>Microsoft Office PowerPoint</Application>
  <PresentationFormat>Widescreen</PresentationFormat>
  <Paragraphs>76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Diamond Grid 16x9</vt:lpstr>
      <vt:lpstr>UbiComp – Projekat 2</vt:lpstr>
      <vt:lpstr>Uvod i cilj projekta</vt:lpstr>
      <vt:lpstr>Korišćene tehnologije</vt:lpstr>
      <vt:lpstr>Arhitektura sistema</vt:lpstr>
      <vt:lpstr>Arduino deo sistema</vt:lpstr>
      <vt:lpstr>Glasovno aktiviranje i LED signalizacija</vt:lpstr>
      <vt:lpstr>MQTT komunikacija i prenos podataka</vt:lpstr>
      <vt:lpstr>InfluxDB i Grafana</vt:lpstr>
      <vt:lpstr>InfluxDB i Grafana</vt:lpstr>
      <vt:lpstr>TensorFlow Lite model</vt:lpstr>
      <vt:lpstr>Detekcija dominantne boje</vt:lpstr>
      <vt:lpstr>Detekcija promene osvetljenja</vt:lpstr>
      <vt:lpstr>Simulirana akcija aktuatora</vt:lpstr>
      <vt:lpstr>Docker Compose i mikroservisna arhitektura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Anastasija Vasić</dc:creator>
  <cp:lastModifiedBy>Anastasija Vasić</cp:lastModifiedBy>
  <cp:revision>11</cp:revision>
  <dcterms:created xsi:type="dcterms:W3CDTF">2026-05-21T19:10:14Z</dcterms:created>
  <dcterms:modified xsi:type="dcterms:W3CDTF">2026-06-01T15:14:58Z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