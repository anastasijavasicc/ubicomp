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1" r:id="rId2"/>
    <p:sldId id="257" r:id="rId3"/>
    <p:sldId id="271" r:id="rId4"/>
    <p:sldId id="264" r:id="rId5"/>
    <p:sldId id="272" r:id="rId6"/>
    <p:sldId id="274" r:id="rId7"/>
    <p:sldId id="275" r:id="rId8"/>
    <p:sldId id="276" r:id="rId9"/>
    <p:sldId id="273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7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>
      <p:cViewPr>
        <p:scale>
          <a:sx n="80" d="100"/>
          <a:sy n="80" d="100"/>
        </p:scale>
        <p:origin x="782" y="-8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A29113-7A70-4E0E-B036-871C49B835F1}" type="doc">
      <dgm:prSet loTypeId="urn:microsoft.com/office/officeart/2005/8/layout/hProcess6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6406C01-7E83-4650-8EF5-394419DCB348}">
      <dgm:prSet phldrT="[Text]" custT="1"/>
      <dgm:spPr/>
      <dgm:t>
        <a:bodyPr/>
        <a:lstStyle/>
        <a:p>
          <a:r>
            <a:rPr lang="sr-Latn-RS" sz="2800" b="1" noProof="1"/>
            <a:t>Go</a:t>
          </a:r>
          <a:endParaRPr lang="sr-Latn-RS" sz="1700" b="1" noProof="1"/>
        </a:p>
      </dgm:t>
      <dgm:extLst>
        <a:ext uri="{E40237B7-FDA0-4F09-8148-C483321AD2D9}">
          <dgm14:cNvPr xmlns:dgm14="http://schemas.microsoft.com/office/drawing/2010/diagram" id="0" name="" title="Step 1 title"/>
        </a:ext>
      </dgm:extLst>
    </dgm:pt>
    <dgm:pt modelId="{2586B3BB-DA8B-42DF-AC9A-77CE21607FD0}" type="parTrans" cxnId="{4D956F8D-5727-488A-93AF-F33602655A44}">
      <dgm:prSet/>
      <dgm:spPr/>
      <dgm:t>
        <a:bodyPr/>
        <a:lstStyle/>
        <a:p>
          <a:endParaRPr lang="en-US"/>
        </a:p>
      </dgm:t>
    </dgm:pt>
    <dgm:pt modelId="{7C5B61F0-A4F6-4FCA-B552-36151F31051E}" type="sibTrans" cxnId="{4D956F8D-5727-488A-93AF-F33602655A44}">
      <dgm:prSet/>
      <dgm:spPr/>
      <dgm:t>
        <a:bodyPr/>
        <a:lstStyle/>
        <a:p>
          <a:endParaRPr lang="en-US"/>
        </a:p>
      </dgm:t>
    </dgm:pt>
    <dgm:pt modelId="{E4E9F0D0-FF23-4B59-9B97-973BCBE5DC65}">
      <dgm:prSet phldrT="[Text]"/>
      <dgm:spPr/>
      <dgm:t>
        <a:bodyPr/>
        <a:lstStyle/>
        <a:p>
          <a:r>
            <a:rPr lang="sr-Latn-RS" noProof="1"/>
            <a:t>Aktivira monitoring sistema</a:t>
          </a:r>
        </a:p>
      </dgm:t>
      <dgm:extLst>
        <a:ext uri="{E40237B7-FDA0-4F09-8148-C483321AD2D9}">
          <dgm14:cNvPr xmlns:dgm14="http://schemas.microsoft.com/office/drawing/2010/diagram" id="0" name="" title="Step 1 - task description"/>
        </a:ext>
      </dgm:extLst>
    </dgm:pt>
    <dgm:pt modelId="{E9237435-F938-45D4-8BF4-6D5D4DFF850F}" type="parTrans" cxnId="{37A3A996-9723-4BDB-8959-9D9B7799BD9A}">
      <dgm:prSet/>
      <dgm:spPr/>
      <dgm:t>
        <a:bodyPr/>
        <a:lstStyle/>
        <a:p>
          <a:endParaRPr lang="en-US"/>
        </a:p>
      </dgm:t>
    </dgm:pt>
    <dgm:pt modelId="{D32B195A-7CAD-474B-B79C-BE4BB171E742}" type="sibTrans" cxnId="{37A3A996-9723-4BDB-8959-9D9B7799BD9A}">
      <dgm:prSet/>
      <dgm:spPr/>
      <dgm:t>
        <a:bodyPr/>
        <a:lstStyle/>
        <a:p>
          <a:endParaRPr lang="en-US"/>
        </a:p>
      </dgm:t>
    </dgm:pt>
    <dgm:pt modelId="{5D952622-A79E-41E4-BBC2-6212DEFFA91C}">
      <dgm:prSet phldrT="[Text]" custT="1"/>
      <dgm:spPr/>
      <dgm:t>
        <a:bodyPr/>
        <a:lstStyle/>
        <a:p>
          <a:r>
            <a:rPr lang="sr-Latn-RS" sz="2800" b="1" noProof="1"/>
            <a:t>Stop</a:t>
          </a:r>
          <a:endParaRPr lang="sr-Latn-RS" sz="1700" b="1" noProof="1"/>
        </a:p>
      </dgm:t>
      <dgm:extLst>
        <a:ext uri="{E40237B7-FDA0-4F09-8148-C483321AD2D9}">
          <dgm14:cNvPr xmlns:dgm14="http://schemas.microsoft.com/office/drawing/2010/diagram" id="0" name="" title="Step 2 title"/>
        </a:ext>
      </dgm:extLst>
    </dgm:pt>
    <dgm:pt modelId="{10627A68-BE4B-4A4A-9EC9-4CFEF1E4DF39}" type="parTrans" cxnId="{A22BDB9A-90BB-4DA2-8850-00D4F1D3B898}">
      <dgm:prSet/>
      <dgm:spPr/>
      <dgm:t>
        <a:bodyPr/>
        <a:lstStyle/>
        <a:p>
          <a:endParaRPr lang="en-US"/>
        </a:p>
      </dgm:t>
    </dgm:pt>
    <dgm:pt modelId="{092BAEF3-D9F2-476B-9A0B-6F14CC814529}" type="sibTrans" cxnId="{A22BDB9A-90BB-4DA2-8850-00D4F1D3B898}">
      <dgm:prSet/>
      <dgm:spPr/>
      <dgm:t>
        <a:bodyPr/>
        <a:lstStyle/>
        <a:p>
          <a:endParaRPr lang="en-US"/>
        </a:p>
      </dgm:t>
    </dgm:pt>
    <dgm:pt modelId="{5248D9DA-6444-46F6-8D28-C8BB2253AAD1}">
      <dgm:prSet phldrT="[Text]"/>
      <dgm:spPr/>
      <dgm:t>
        <a:bodyPr/>
        <a:lstStyle/>
        <a:p>
          <a:r>
            <a:rPr lang="sr-Latn-RS" noProof="1"/>
            <a:t>Zaustavlja monitoring sistema</a:t>
          </a:r>
        </a:p>
      </dgm:t>
      <dgm:extLst>
        <a:ext uri="{E40237B7-FDA0-4F09-8148-C483321AD2D9}">
          <dgm14:cNvPr xmlns:dgm14="http://schemas.microsoft.com/office/drawing/2010/diagram" id="0" name="" title="Step 2 - task description"/>
        </a:ext>
      </dgm:extLst>
    </dgm:pt>
    <dgm:pt modelId="{A8533F77-F094-4EDB-BCC7-35E0D6A46B71}" type="parTrans" cxnId="{35AF286C-A401-4C08-B8A3-F38B03322BD8}">
      <dgm:prSet/>
      <dgm:spPr/>
      <dgm:t>
        <a:bodyPr/>
        <a:lstStyle/>
        <a:p>
          <a:endParaRPr lang="en-US"/>
        </a:p>
      </dgm:t>
    </dgm:pt>
    <dgm:pt modelId="{011B552E-515A-4C41-B810-0D2552861422}" type="sibTrans" cxnId="{35AF286C-A401-4C08-B8A3-F38B03322BD8}">
      <dgm:prSet/>
      <dgm:spPr/>
      <dgm:t>
        <a:bodyPr/>
        <a:lstStyle/>
        <a:p>
          <a:endParaRPr lang="en-US"/>
        </a:p>
      </dgm:t>
    </dgm:pt>
    <dgm:pt modelId="{50706FFE-8A00-485D-9FF7-8D310692C602}">
      <dgm:prSet phldrT="[Text]" custT="1"/>
      <dgm:spPr/>
      <dgm:t>
        <a:bodyPr/>
        <a:lstStyle/>
        <a:p>
          <a:r>
            <a:rPr lang="sr-Latn-RS" sz="1600" b="1" noProof="1"/>
            <a:t>Unknown</a:t>
          </a:r>
        </a:p>
      </dgm:t>
      <dgm:extLst>
        <a:ext uri="{E40237B7-FDA0-4F09-8148-C483321AD2D9}">
          <dgm14:cNvPr xmlns:dgm14="http://schemas.microsoft.com/office/drawing/2010/diagram" id="0" name="" title="Step 3 title"/>
        </a:ext>
      </dgm:extLst>
    </dgm:pt>
    <dgm:pt modelId="{EF44BD91-19A4-424B-BA32-4A5492B6E40B}" type="parTrans" cxnId="{7599CECE-5293-4C57-A979-D096C99254C7}">
      <dgm:prSet/>
      <dgm:spPr/>
      <dgm:t>
        <a:bodyPr/>
        <a:lstStyle/>
        <a:p>
          <a:endParaRPr lang="en-US"/>
        </a:p>
      </dgm:t>
    </dgm:pt>
    <dgm:pt modelId="{CD03DFF4-D962-46D6-AFFA-2A87FD08403E}" type="sibTrans" cxnId="{7599CECE-5293-4C57-A979-D096C99254C7}">
      <dgm:prSet/>
      <dgm:spPr/>
      <dgm:t>
        <a:bodyPr/>
        <a:lstStyle/>
        <a:p>
          <a:endParaRPr lang="en-US"/>
        </a:p>
      </dgm:t>
    </dgm:pt>
    <dgm:pt modelId="{3A9B5D84-CB00-4BC9-ADB2-5CF832F36763}">
      <dgm:prSet phldrT="[Text]"/>
      <dgm:spPr/>
      <dgm:t>
        <a:bodyPr/>
        <a:lstStyle/>
        <a:p>
          <a:r>
            <a:rPr lang="sr-Latn-RS" noProof="1"/>
            <a:t>Komande koje nisu validne</a:t>
          </a:r>
        </a:p>
      </dgm:t>
      <dgm:extLst>
        <a:ext uri="{E40237B7-FDA0-4F09-8148-C483321AD2D9}">
          <dgm14:cNvPr xmlns:dgm14="http://schemas.microsoft.com/office/drawing/2010/diagram" id="0" name="" title="Step 3 - task description"/>
        </a:ext>
      </dgm:extLst>
    </dgm:pt>
    <dgm:pt modelId="{BD57EC4A-052D-4824-8820-064BAC997A9B}" type="parTrans" cxnId="{11A0AF47-4BCA-470E-92BF-7B388FFB0DE8}">
      <dgm:prSet/>
      <dgm:spPr/>
      <dgm:t>
        <a:bodyPr/>
        <a:lstStyle/>
        <a:p>
          <a:endParaRPr lang="en-US"/>
        </a:p>
      </dgm:t>
    </dgm:pt>
    <dgm:pt modelId="{98E878CF-4A49-4E76-BD23-AE7C5290BAFD}" type="sibTrans" cxnId="{11A0AF47-4BCA-470E-92BF-7B388FFB0DE8}">
      <dgm:prSet/>
      <dgm:spPr/>
      <dgm:t>
        <a:bodyPr/>
        <a:lstStyle/>
        <a:p>
          <a:endParaRPr lang="en-US"/>
        </a:p>
      </dgm:t>
    </dgm:pt>
    <dgm:pt modelId="{8734DFB3-ADD8-4FD2-87D8-1981AA0ADD0B}" type="pres">
      <dgm:prSet presAssocID="{FBA29113-7A70-4E0E-B036-871C49B835F1}" presName="theList" presStyleCnt="0">
        <dgm:presLayoutVars>
          <dgm:dir/>
          <dgm:animLvl val="lvl"/>
          <dgm:resizeHandles val="exact"/>
        </dgm:presLayoutVars>
      </dgm:prSet>
      <dgm:spPr/>
    </dgm:pt>
    <dgm:pt modelId="{5C04AEFB-7132-4B28-A7D3-862245070A8D}" type="pres">
      <dgm:prSet presAssocID="{A6406C01-7E83-4650-8EF5-394419DCB348}" presName="compNode" presStyleCnt="0"/>
      <dgm:spPr/>
    </dgm:pt>
    <dgm:pt modelId="{358F74AC-FC7D-465B-BD12-B6CCC00F3D29}" type="pres">
      <dgm:prSet presAssocID="{A6406C01-7E83-4650-8EF5-394419DCB348}" presName="noGeometry" presStyleCnt="0"/>
      <dgm:spPr/>
    </dgm:pt>
    <dgm:pt modelId="{610B5FFC-C0C9-444C-9F7A-14D1B54F604D}" type="pres">
      <dgm:prSet presAssocID="{A6406C01-7E83-4650-8EF5-394419DCB348}" presName="childTextVisible" presStyleLbl="bgAccFollowNode1" presStyleIdx="0" presStyleCnt="3">
        <dgm:presLayoutVars>
          <dgm:bulletEnabled val="1"/>
        </dgm:presLayoutVars>
      </dgm:prSet>
      <dgm:spPr/>
    </dgm:pt>
    <dgm:pt modelId="{FB705FC1-639E-4064-8E9A-A79870DE5273}" type="pres">
      <dgm:prSet presAssocID="{A6406C01-7E83-4650-8EF5-394419DCB348}" presName="childTextHidden" presStyleLbl="bgAccFollowNode1" presStyleIdx="0" presStyleCnt="3"/>
      <dgm:spPr/>
    </dgm:pt>
    <dgm:pt modelId="{47DA5750-48DC-4E4F-815D-0B05DBC30DAB}" type="pres">
      <dgm:prSet presAssocID="{A6406C01-7E83-4650-8EF5-394419DCB34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319C676-A7DE-4777-9BB4-3B6D30ED3F5C}" type="pres">
      <dgm:prSet presAssocID="{A6406C01-7E83-4650-8EF5-394419DCB348}" presName="aSpace" presStyleCnt="0"/>
      <dgm:spPr/>
    </dgm:pt>
    <dgm:pt modelId="{CA708D38-D093-4C16-A955-CF2CAC7F0A99}" type="pres">
      <dgm:prSet presAssocID="{5D952622-A79E-41E4-BBC2-6212DEFFA91C}" presName="compNode" presStyleCnt="0"/>
      <dgm:spPr/>
    </dgm:pt>
    <dgm:pt modelId="{6F3066E9-E96F-489D-8A4B-6D55FBE389F2}" type="pres">
      <dgm:prSet presAssocID="{5D952622-A79E-41E4-BBC2-6212DEFFA91C}" presName="noGeometry" presStyleCnt="0"/>
      <dgm:spPr/>
    </dgm:pt>
    <dgm:pt modelId="{00D2DC2C-7CA2-4A4B-B66D-3DDCAB7DC8E9}" type="pres">
      <dgm:prSet presAssocID="{5D952622-A79E-41E4-BBC2-6212DEFFA91C}" presName="childTextVisible" presStyleLbl="bgAccFollowNode1" presStyleIdx="1" presStyleCnt="3">
        <dgm:presLayoutVars>
          <dgm:bulletEnabled val="1"/>
        </dgm:presLayoutVars>
      </dgm:prSet>
      <dgm:spPr/>
    </dgm:pt>
    <dgm:pt modelId="{072FB640-0A28-40E8-9C0C-86BAF45C6EF0}" type="pres">
      <dgm:prSet presAssocID="{5D952622-A79E-41E4-BBC2-6212DEFFA91C}" presName="childTextHidden" presStyleLbl="bgAccFollowNode1" presStyleIdx="1" presStyleCnt="3"/>
      <dgm:spPr/>
    </dgm:pt>
    <dgm:pt modelId="{EE8733A1-7662-4D0A-B39E-2218596CC81C}" type="pres">
      <dgm:prSet presAssocID="{5D952622-A79E-41E4-BBC2-6212DEFFA91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0D7C734-E391-436F-996C-E60442F50A17}" type="pres">
      <dgm:prSet presAssocID="{5D952622-A79E-41E4-BBC2-6212DEFFA91C}" presName="aSpace" presStyleCnt="0"/>
      <dgm:spPr/>
    </dgm:pt>
    <dgm:pt modelId="{E8F3A685-8F9F-4BAC-8C8B-A1DE5AA41F3A}" type="pres">
      <dgm:prSet presAssocID="{50706FFE-8A00-485D-9FF7-8D310692C602}" presName="compNode" presStyleCnt="0"/>
      <dgm:spPr/>
    </dgm:pt>
    <dgm:pt modelId="{84BFA617-6CAF-4DA9-A086-82BCA61093BE}" type="pres">
      <dgm:prSet presAssocID="{50706FFE-8A00-485D-9FF7-8D310692C602}" presName="noGeometry" presStyleCnt="0"/>
      <dgm:spPr/>
    </dgm:pt>
    <dgm:pt modelId="{4BF699B1-BE15-42D1-9784-AA33CF29870E}" type="pres">
      <dgm:prSet presAssocID="{50706FFE-8A00-485D-9FF7-8D310692C602}" presName="childTextVisible" presStyleLbl="bgAccFollowNode1" presStyleIdx="2" presStyleCnt="3">
        <dgm:presLayoutVars>
          <dgm:bulletEnabled val="1"/>
        </dgm:presLayoutVars>
      </dgm:prSet>
      <dgm:spPr/>
    </dgm:pt>
    <dgm:pt modelId="{F0925EF4-86E2-4748-BA70-94AAF55AB064}" type="pres">
      <dgm:prSet presAssocID="{50706FFE-8A00-485D-9FF7-8D310692C602}" presName="childTextHidden" presStyleLbl="bgAccFollowNode1" presStyleIdx="2" presStyleCnt="3"/>
      <dgm:spPr/>
    </dgm:pt>
    <dgm:pt modelId="{78E9A4E4-18A9-4B73-8007-A63A71C71937}" type="pres">
      <dgm:prSet presAssocID="{50706FFE-8A00-485D-9FF7-8D310692C602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99E34304-5770-4691-A3EE-6A7C8B9ACD53}" type="presOf" srcId="{E4E9F0D0-FF23-4B59-9B97-973BCBE5DC65}" destId="{610B5FFC-C0C9-444C-9F7A-14D1B54F604D}" srcOrd="0" destOrd="0" presId="urn:microsoft.com/office/officeart/2005/8/layout/hProcess6"/>
    <dgm:cxn modelId="{81ACEA16-295B-4802-A889-1DC375F525AB}" type="presOf" srcId="{A6406C01-7E83-4650-8EF5-394419DCB348}" destId="{47DA5750-48DC-4E4F-815D-0B05DBC30DAB}" srcOrd="0" destOrd="0" presId="urn:microsoft.com/office/officeart/2005/8/layout/hProcess6"/>
    <dgm:cxn modelId="{130B0544-2388-4104-A721-8D29E7C77420}" type="presOf" srcId="{5D952622-A79E-41E4-BBC2-6212DEFFA91C}" destId="{EE8733A1-7662-4D0A-B39E-2218596CC81C}" srcOrd="0" destOrd="0" presId="urn:microsoft.com/office/officeart/2005/8/layout/hProcess6"/>
    <dgm:cxn modelId="{31498E67-CEA0-4571-B7AB-26A2113144F6}" type="presOf" srcId="{FBA29113-7A70-4E0E-B036-871C49B835F1}" destId="{8734DFB3-ADD8-4FD2-87D8-1981AA0ADD0B}" srcOrd="0" destOrd="0" presId="urn:microsoft.com/office/officeart/2005/8/layout/hProcess6"/>
    <dgm:cxn modelId="{11A0AF47-4BCA-470E-92BF-7B388FFB0DE8}" srcId="{50706FFE-8A00-485D-9FF7-8D310692C602}" destId="{3A9B5D84-CB00-4BC9-ADB2-5CF832F36763}" srcOrd="0" destOrd="0" parTransId="{BD57EC4A-052D-4824-8820-064BAC997A9B}" sibTransId="{98E878CF-4A49-4E76-BD23-AE7C5290BAFD}"/>
    <dgm:cxn modelId="{019AA969-1A2B-48C0-B7C9-005E817BC2CB}" type="presOf" srcId="{E4E9F0D0-FF23-4B59-9B97-973BCBE5DC65}" destId="{FB705FC1-639E-4064-8E9A-A79870DE5273}" srcOrd="1" destOrd="0" presId="urn:microsoft.com/office/officeart/2005/8/layout/hProcess6"/>
    <dgm:cxn modelId="{35AF286C-A401-4C08-B8A3-F38B03322BD8}" srcId="{5D952622-A79E-41E4-BBC2-6212DEFFA91C}" destId="{5248D9DA-6444-46F6-8D28-C8BB2253AAD1}" srcOrd="0" destOrd="0" parTransId="{A8533F77-F094-4EDB-BCC7-35E0D6A46B71}" sibTransId="{011B552E-515A-4C41-B810-0D2552861422}"/>
    <dgm:cxn modelId="{F36BB86E-E9BB-4DBF-9DFE-F8050046ED1F}" type="presOf" srcId="{3A9B5D84-CB00-4BC9-ADB2-5CF832F36763}" destId="{4BF699B1-BE15-42D1-9784-AA33CF29870E}" srcOrd="0" destOrd="0" presId="urn:microsoft.com/office/officeart/2005/8/layout/hProcess6"/>
    <dgm:cxn modelId="{BA539253-48E3-447C-8770-C31D10399C4A}" type="presOf" srcId="{50706FFE-8A00-485D-9FF7-8D310692C602}" destId="{78E9A4E4-18A9-4B73-8007-A63A71C71937}" srcOrd="0" destOrd="0" presId="urn:microsoft.com/office/officeart/2005/8/layout/hProcess6"/>
    <dgm:cxn modelId="{D2E26D7D-A939-4166-987B-3E9E5A080266}" type="presOf" srcId="{3A9B5D84-CB00-4BC9-ADB2-5CF832F36763}" destId="{F0925EF4-86E2-4748-BA70-94AAF55AB064}" srcOrd="1" destOrd="0" presId="urn:microsoft.com/office/officeart/2005/8/layout/hProcess6"/>
    <dgm:cxn modelId="{4D956F8D-5727-488A-93AF-F33602655A44}" srcId="{FBA29113-7A70-4E0E-B036-871C49B835F1}" destId="{A6406C01-7E83-4650-8EF5-394419DCB348}" srcOrd="0" destOrd="0" parTransId="{2586B3BB-DA8B-42DF-AC9A-77CE21607FD0}" sibTransId="{7C5B61F0-A4F6-4FCA-B552-36151F31051E}"/>
    <dgm:cxn modelId="{37A3A996-9723-4BDB-8959-9D9B7799BD9A}" srcId="{A6406C01-7E83-4650-8EF5-394419DCB348}" destId="{E4E9F0D0-FF23-4B59-9B97-973BCBE5DC65}" srcOrd="0" destOrd="0" parTransId="{E9237435-F938-45D4-8BF4-6D5D4DFF850F}" sibTransId="{D32B195A-7CAD-474B-B79C-BE4BB171E742}"/>
    <dgm:cxn modelId="{E23D729A-C2FC-40CD-8A08-F5EBB66CF80B}" type="presOf" srcId="{5248D9DA-6444-46F6-8D28-C8BB2253AAD1}" destId="{072FB640-0A28-40E8-9C0C-86BAF45C6EF0}" srcOrd="1" destOrd="0" presId="urn:microsoft.com/office/officeart/2005/8/layout/hProcess6"/>
    <dgm:cxn modelId="{A22BDB9A-90BB-4DA2-8850-00D4F1D3B898}" srcId="{FBA29113-7A70-4E0E-B036-871C49B835F1}" destId="{5D952622-A79E-41E4-BBC2-6212DEFFA91C}" srcOrd="1" destOrd="0" parTransId="{10627A68-BE4B-4A4A-9EC9-4CFEF1E4DF39}" sibTransId="{092BAEF3-D9F2-476B-9A0B-6F14CC814529}"/>
    <dgm:cxn modelId="{AE4FA1B2-1FFD-4999-BFB4-0E2A9E4BEBBB}" type="presOf" srcId="{5248D9DA-6444-46F6-8D28-C8BB2253AAD1}" destId="{00D2DC2C-7CA2-4A4B-B66D-3DDCAB7DC8E9}" srcOrd="0" destOrd="0" presId="urn:microsoft.com/office/officeart/2005/8/layout/hProcess6"/>
    <dgm:cxn modelId="{7599CECE-5293-4C57-A979-D096C99254C7}" srcId="{FBA29113-7A70-4E0E-B036-871C49B835F1}" destId="{50706FFE-8A00-485D-9FF7-8D310692C602}" srcOrd="2" destOrd="0" parTransId="{EF44BD91-19A4-424B-BA32-4A5492B6E40B}" sibTransId="{CD03DFF4-D962-46D6-AFFA-2A87FD08403E}"/>
    <dgm:cxn modelId="{FF0D50D3-9477-4407-8F44-B60B9728DED7}" type="presParOf" srcId="{8734DFB3-ADD8-4FD2-87D8-1981AA0ADD0B}" destId="{5C04AEFB-7132-4B28-A7D3-862245070A8D}" srcOrd="0" destOrd="0" presId="urn:microsoft.com/office/officeart/2005/8/layout/hProcess6"/>
    <dgm:cxn modelId="{126CE751-65CF-4E60-902C-2D0B01478834}" type="presParOf" srcId="{5C04AEFB-7132-4B28-A7D3-862245070A8D}" destId="{358F74AC-FC7D-465B-BD12-B6CCC00F3D29}" srcOrd="0" destOrd="0" presId="urn:microsoft.com/office/officeart/2005/8/layout/hProcess6"/>
    <dgm:cxn modelId="{C6915109-771C-43AE-A4C7-A411D8E5978F}" type="presParOf" srcId="{5C04AEFB-7132-4B28-A7D3-862245070A8D}" destId="{610B5FFC-C0C9-444C-9F7A-14D1B54F604D}" srcOrd="1" destOrd="0" presId="urn:microsoft.com/office/officeart/2005/8/layout/hProcess6"/>
    <dgm:cxn modelId="{954FE73F-9595-47D0-9AB9-6EB7EDC39F8E}" type="presParOf" srcId="{5C04AEFB-7132-4B28-A7D3-862245070A8D}" destId="{FB705FC1-639E-4064-8E9A-A79870DE5273}" srcOrd="2" destOrd="0" presId="urn:microsoft.com/office/officeart/2005/8/layout/hProcess6"/>
    <dgm:cxn modelId="{362B7B1C-776A-481A-B10E-B2136C044DB5}" type="presParOf" srcId="{5C04AEFB-7132-4B28-A7D3-862245070A8D}" destId="{47DA5750-48DC-4E4F-815D-0B05DBC30DAB}" srcOrd="3" destOrd="0" presId="urn:microsoft.com/office/officeart/2005/8/layout/hProcess6"/>
    <dgm:cxn modelId="{AB361918-49A4-4458-A6B4-A38162139DB4}" type="presParOf" srcId="{8734DFB3-ADD8-4FD2-87D8-1981AA0ADD0B}" destId="{6319C676-A7DE-4777-9BB4-3B6D30ED3F5C}" srcOrd="1" destOrd="0" presId="urn:microsoft.com/office/officeart/2005/8/layout/hProcess6"/>
    <dgm:cxn modelId="{3E32ED31-FAFA-41FB-A502-0C9269827B55}" type="presParOf" srcId="{8734DFB3-ADD8-4FD2-87D8-1981AA0ADD0B}" destId="{CA708D38-D093-4C16-A955-CF2CAC7F0A99}" srcOrd="2" destOrd="0" presId="urn:microsoft.com/office/officeart/2005/8/layout/hProcess6"/>
    <dgm:cxn modelId="{38B5F8BF-C6A8-4D51-8681-B847070CD1C0}" type="presParOf" srcId="{CA708D38-D093-4C16-A955-CF2CAC7F0A99}" destId="{6F3066E9-E96F-489D-8A4B-6D55FBE389F2}" srcOrd="0" destOrd="0" presId="urn:microsoft.com/office/officeart/2005/8/layout/hProcess6"/>
    <dgm:cxn modelId="{B873A9F4-217E-473A-8D65-14527890AC34}" type="presParOf" srcId="{CA708D38-D093-4C16-A955-CF2CAC7F0A99}" destId="{00D2DC2C-7CA2-4A4B-B66D-3DDCAB7DC8E9}" srcOrd="1" destOrd="0" presId="urn:microsoft.com/office/officeart/2005/8/layout/hProcess6"/>
    <dgm:cxn modelId="{F573A08D-1388-4362-9D10-155655876363}" type="presParOf" srcId="{CA708D38-D093-4C16-A955-CF2CAC7F0A99}" destId="{072FB640-0A28-40E8-9C0C-86BAF45C6EF0}" srcOrd="2" destOrd="0" presId="urn:microsoft.com/office/officeart/2005/8/layout/hProcess6"/>
    <dgm:cxn modelId="{7ADF5CCF-F26A-45B5-9692-98B07AFD46A1}" type="presParOf" srcId="{CA708D38-D093-4C16-A955-CF2CAC7F0A99}" destId="{EE8733A1-7662-4D0A-B39E-2218596CC81C}" srcOrd="3" destOrd="0" presId="urn:microsoft.com/office/officeart/2005/8/layout/hProcess6"/>
    <dgm:cxn modelId="{985C18C8-95A3-4479-821C-610A2BAFFFF3}" type="presParOf" srcId="{8734DFB3-ADD8-4FD2-87D8-1981AA0ADD0B}" destId="{E0D7C734-E391-436F-996C-E60442F50A17}" srcOrd="3" destOrd="0" presId="urn:microsoft.com/office/officeart/2005/8/layout/hProcess6"/>
    <dgm:cxn modelId="{951CD7FA-A9B4-463F-BD0D-452C521FF523}" type="presParOf" srcId="{8734DFB3-ADD8-4FD2-87D8-1981AA0ADD0B}" destId="{E8F3A685-8F9F-4BAC-8C8B-A1DE5AA41F3A}" srcOrd="4" destOrd="0" presId="urn:microsoft.com/office/officeart/2005/8/layout/hProcess6"/>
    <dgm:cxn modelId="{E08D8862-B273-4AA6-9A90-754366CE4945}" type="presParOf" srcId="{E8F3A685-8F9F-4BAC-8C8B-A1DE5AA41F3A}" destId="{84BFA617-6CAF-4DA9-A086-82BCA61093BE}" srcOrd="0" destOrd="0" presId="urn:microsoft.com/office/officeart/2005/8/layout/hProcess6"/>
    <dgm:cxn modelId="{69392B4C-2A7B-41A4-A48C-35E312A6434A}" type="presParOf" srcId="{E8F3A685-8F9F-4BAC-8C8B-A1DE5AA41F3A}" destId="{4BF699B1-BE15-42D1-9784-AA33CF29870E}" srcOrd="1" destOrd="0" presId="urn:microsoft.com/office/officeart/2005/8/layout/hProcess6"/>
    <dgm:cxn modelId="{29F5DEAB-A9C8-47F8-A089-1585C323795A}" type="presParOf" srcId="{E8F3A685-8F9F-4BAC-8C8B-A1DE5AA41F3A}" destId="{F0925EF4-86E2-4748-BA70-94AAF55AB064}" srcOrd="2" destOrd="0" presId="urn:microsoft.com/office/officeart/2005/8/layout/hProcess6"/>
    <dgm:cxn modelId="{E9A57A1B-DDAF-4905-B46C-246DB5E9FB2A}" type="presParOf" srcId="{E8F3A685-8F9F-4BAC-8C8B-A1DE5AA41F3A}" destId="{78E9A4E4-18A9-4B73-8007-A63A71C7193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B5FFC-C0C9-444C-9F7A-14D1B54F604D}">
      <dsp:nvSpPr>
        <dsp:cNvPr id="0" name=""/>
        <dsp:cNvSpPr/>
      </dsp:nvSpPr>
      <dsp:spPr>
        <a:xfrm>
          <a:off x="714955" y="664475"/>
          <a:ext cx="2838320" cy="2481049"/>
        </a:xfrm>
        <a:prstGeom prst="rightArrow">
          <a:avLst>
            <a:gd name="adj1" fmla="val 70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2667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100" kern="1200" noProof="1"/>
            <a:t>Aktivira monitoring sistema</a:t>
          </a:r>
        </a:p>
      </dsp:txBody>
      <dsp:txXfrm>
        <a:off x="1424536" y="1036632"/>
        <a:ext cx="1383681" cy="1736735"/>
      </dsp:txXfrm>
    </dsp:sp>
    <dsp:sp modelId="{47DA5750-48DC-4E4F-815D-0B05DBC30DAB}">
      <dsp:nvSpPr>
        <dsp:cNvPr id="0" name=""/>
        <dsp:cNvSpPr/>
      </dsp:nvSpPr>
      <dsp:spPr>
        <a:xfrm>
          <a:off x="5375" y="1195419"/>
          <a:ext cx="1419160" cy="14191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800" b="1" kern="1200" noProof="1"/>
            <a:t>Go</a:t>
          </a:r>
          <a:endParaRPr lang="sr-Latn-RS" sz="1700" b="1" kern="1200" noProof="1"/>
        </a:p>
      </dsp:txBody>
      <dsp:txXfrm>
        <a:off x="213206" y="1403250"/>
        <a:ext cx="1003498" cy="1003498"/>
      </dsp:txXfrm>
    </dsp:sp>
    <dsp:sp modelId="{00D2DC2C-7CA2-4A4B-B66D-3DDCAB7DC8E9}">
      <dsp:nvSpPr>
        <dsp:cNvPr id="0" name=""/>
        <dsp:cNvSpPr/>
      </dsp:nvSpPr>
      <dsp:spPr>
        <a:xfrm>
          <a:off x="4440252" y="664475"/>
          <a:ext cx="2838320" cy="2481049"/>
        </a:xfrm>
        <a:prstGeom prst="rightArrow">
          <a:avLst>
            <a:gd name="adj1" fmla="val 70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2667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100" kern="1200" noProof="1"/>
            <a:t>Zaustavlja monitoring sistema</a:t>
          </a:r>
        </a:p>
      </dsp:txBody>
      <dsp:txXfrm>
        <a:off x="5149832" y="1036632"/>
        <a:ext cx="1383681" cy="1736735"/>
      </dsp:txXfrm>
    </dsp:sp>
    <dsp:sp modelId="{EE8733A1-7662-4D0A-B39E-2218596CC81C}">
      <dsp:nvSpPr>
        <dsp:cNvPr id="0" name=""/>
        <dsp:cNvSpPr/>
      </dsp:nvSpPr>
      <dsp:spPr>
        <a:xfrm>
          <a:off x="3730671" y="1195419"/>
          <a:ext cx="1419160" cy="14191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800" b="1" kern="1200" noProof="1"/>
            <a:t>Stop</a:t>
          </a:r>
          <a:endParaRPr lang="sr-Latn-RS" sz="1700" b="1" kern="1200" noProof="1"/>
        </a:p>
      </dsp:txBody>
      <dsp:txXfrm>
        <a:off x="3938502" y="1403250"/>
        <a:ext cx="1003498" cy="1003498"/>
      </dsp:txXfrm>
    </dsp:sp>
    <dsp:sp modelId="{4BF699B1-BE15-42D1-9784-AA33CF29870E}">
      <dsp:nvSpPr>
        <dsp:cNvPr id="0" name=""/>
        <dsp:cNvSpPr/>
      </dsp:nvSpPr>
      <dsp:spPr>
        <a:xfrm>
          <a:off x="8165548" y="664475"/>
          <a:ext cx="2838320" cy="2481049"/>
        </a:xfrm>
        <a:prstGeom prst="rightArrow">
          <a:avLst>
            <a:gd name="adj1" fmla="val 70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2667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100" kern="1200" noProof="1"/>
            <a:t>Komande koje nisu validne</a:t>
          </a:r>
        </a:p>
      </dsp:txBody>
      <dsp:txXfrm>
        <a:off x="8875128" y="1036632"/>
        <a:ext cx="1383681" cy="1736735"/>
      </dsp:txXfrm>
    </dsp:sp>
    <dsp:sp modelId="{78E9A4E4-18A9-4B73-8007-A63A71C71937}">
      <dsp:nvSpPr>
        <dsp:cNvPr id="0" name=""/>
        <dsp:cNvSpPr/>
      </dsp:nvSpPr>
      <dsp:spPr>
        <a:xfrm>
          <a:off x="7455968" y="1195419"/>
          <a:ext cx="1419160" cy="14191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600" b="1" kern="1200" noProof="1"/>
            <a:t>Unknown</a:t>
          </a:r>
        </a:p>
      </dsp:txBody>
      <dsp:txXfrm>
        <a:off x="7663799" y="1403250"/>
        <a:ext cx="1003498" cy="10034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MFE </a:t>
            </a:r>
            <a:r>
              <a:rPr lang="en-US" dirty="0" err="1"/>
              <a:t>uzima</a:t>
            </a:r>
            <a:r>
              <a:rPr lang="en-US" dirty="0"/>
              <a:t> audio signal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racuna</a:t>
            </a:r>
            <a:r>
              <a:rPr lang="en-US" dirty="0"/>
              <a:t> </a:t>
            </a:r>
            <a:r>
              <a:rPr lang="en-US" b="1" dirty="0" err="1"/>
              <a:t>energiju</a:t>
            </a:r>
            <a:r>
              <a:rPr lang="en-US" b="1" dirty="0"/>
              <a:t> po mel </a:t>
            </a:r>
            <a:r>
              <a:rPr lang="en-US" b="1" dirty="0" err="1"/>
              <a:t>frekvencijskim</a:t>
            </a:r>
            <a:r>
              <a:rPr lang="en-US" b="1" dirty="0"/>
              <a:t> </a:t>
            </a:r>
            <a:r>
              <a:rPr lang="en-US" b="1" dirty="0" err="1"/>
              <a:t>opsezima</a:t>
            </a:r>
            <a:r>
              <a:rPr lang="en-US" dirty="0"/>
              <a:t>.</a:t>
            </a:r>
          </a:p>
          <a:p>
            <a:r>
              <a:rPr lang="en-US" dirty="0" err="1"/>
              <a:t>Prosto</a:t>
            </a:r>
            <a:r>
              <a:rPr lang="en-US" dirty="0"/>
              <a:t> </a:t>
            </a:r>
            <a:r>
              <a:rPr lang="en-US" dirty="0" err="1"/>
              <a:t>receno</a:t>
            </a:r>
            <a:r>
              <a:rPr lang="en-US" dirty="0"/>
              <a:t>:</a:t>
            </a:r>
          </a:p>
          <a:p>
            <a:r>
              <a:rPr lang="en-US" dirty="0" err="1"/>
              <a:t>gleda</a:t>
            </a:r>
            <a:r>
              <a:rPr lang="en-US" dirty="0"/>
              <a:t> “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” </a:t>
            </a:r>
            <a:r>
              <a:rPr lang="en-US" dirty="0" err="1"/>
              <a:t>ima</a:t>
            </a:r>
            <a:r>
              <a:rPr lang="en-US" dirty="0"/>
              <a:t> u </a:t>
            </a:r>
            <a:r>
              <a:rPr lang="en-US" dirty="0" err="1"/>
              <a:t>odredjenim</a:t>
            </a:r>
            <a:r>
              <a:rPr lang="en-US" dirty="0"/>
              <a:t> </a:t>
            </a:r>
            <a:r>
              <a:rPr lang="en-US" dirty="0" err="1"/>
              <a:t>frekvencijskim</a:t>
            </a:r>
            <a:r>
              <a:rPr lang="en-US" dirty="0"/>
              <a:t> </a:t>
            </a:r>
            <a:r>
              <a:rPr lang="en-US" dirty="0" err="1"/>
              <a:t>zonama</a:t>
            </a:r>
            <a:r>
              <a:rPr lang="en-US" dirty="0"/>
              <a:t> </a:t>
            </a:r>
          </a:p>
          <a:p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jednostavniji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zvuka</a:t>
            </a:r>
            <a:r>
              <a:rPr lang="en-US" dirty="0"/>
              <a:t> </a:t>
            </a:r>
          </a:p>
          <a:p>
            <a:r>
              <a:rPr lang="en-US" dirty="0" err="1"/>
              <a:t>cesto</a:t>
            </a:r>
            <a:r>
              <a:rPr lang="en-US" dirty="0"/>
              <a:t> je </a:t>
            </a:r>
            <a:r>
              <a:rPr lang="en-US" dirty="0" err="1"/>
              <a:t>laksi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zgodan</a:t>
            </a:r>
            <a:r>
              <a:rPr lang="en-US" dirty="0"/>
              <a:t> za embedded/</a:t>
            </a:r>
            <a:r>
              <a:rPr lang="en-US" dirty="0" err="1"/>
              <a:t>TinyML</a:t>
            </a:r>
            <a:r>
              <a:rPr lang="en-US" dirty="0"/>
              <a:t> </a:t>
            </a:r>
            <a:r>
              <a:rPr lang="en-US" dirty="0" err="1"/>
              <a:t>primene</a:t>
            </a:r>
            <a:r>
              <a:rPr lang="en-US" dirty="0"/>
              <a:t> </a:t>
            </a:r>
          </a:p>
          <a:p>
            <a:r>
              <a:rPr lang="en-US" dirty="0" err="1"/>
              <a:t>Zbog</a:t>
            </a:r>
            <a:r>
              <a:rPr lang="en-US" dirty="0"/>
              <a:t> toga je MFE </a:t>
            </a:r>
            <a:r>
              <a:rPr lang="en-US" dirty="0" err="1"/>
              <a:t>cesto</a:t>
            </a:r>
            <a:r>
              <a:rPr lang="en-US" dirty="0"/>
              <a:t> </a:t>
            </a:r>
            <a:r>
              <a:rPr lang="en-US" dirty="0" err="1"/>
              <a:t>dobar</a:t>
            </a:r>
            <a:r>
              <a:rPr lang="en-US" dirty="0"/>
              <a:t> </a:t>
            </a:r>
            <a:r>
              <a:rPr lang="en-US" dirty="0" err="1"/>
              <a:t>izbor</a:t>
            </a:r>
            <a:r>
              <a:rPr lang="en-US" dirty="0"/>
              <a:t> </a:t>
            </a:r>
            <a:r>
              <a:rPr lang="en-US" dirty="0" err="1"/>
              <a:t>kad</a:t>
            </a:r>
            <a:r>
              <a:rPr lang="en-US" dirty="0"/>
              <a:t> </a:t>
            </a:r>
            <a:r>
              <a:rPr lang="en-US" dirty="0" err="1"/>
              <a:t>hoces</a:t>
            </a:r>
            <a:r>
              <a:rPr lang="en-US" dirty="0"/>
              <a:t>:</a:t>
            </a:r>
          </a:p>
          <a:p>
            <a:r>
              <a:rPr lang="en-US" dirty="0" err="1"/>
              <a:t>manji</a:t>
            </a:r>
            <a:r>
              <a:rPr lang="en-US" dirty="0"/>
              <a:t> model </a:t>
            </a:r>
          </a:p>
          <a:p>
            <a:r>
              <a:rPr lang="en-US" dirty="0" err="1"/>
              <a:t>jednostavniju</a:t>
            </a:r>
            <a:r>
              <a:rPr lang="en-US" dirty="0"/>
              <a:t> </a:t>
            </a:r>
            <a:r>
              <a:rPr lang="en-US" dirty="0" err="1"/>
              <a:t>obradu</a:t>
            </a:r>
            <a:r>
              <a:rPr lang="en-US" dirty="0"/>
              <a:t> </a:t>
            </a:r>
          </a:p>
          <a:p>
            <a:r>
              <a:rPr lang="en-US" dirty="0" err="1"/>
              <a:t>laksi</a:t>
            </a:r>
            <a:r>
              <a:rPr lang="en-US" dirty="0"/>
              <a:t> deployment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mikrokontroler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81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</a:t>
            </a:r>
            <a:r>
              <a:rPr lang="en-US" dirty="0" err="1"/>
              <a:t>okviru</a:t>
            </a:r>
            <a:r>
              <a:rPr lang="en-US" dirty="0"/>
              <a:t> Classifier </a:t>
            </a:r>
            <a:r>
              <a:rPr lang="en-US" dirty="0" err="1"/>
              <a:t>koraka</a:t>
            </a:r>
            <a:r>
              <a:rPr lang="en-US" dirty="0"/>
              <a:t> </a:t>
            </a:r>
            <a:r>
              <a:rPr lang="en-US" dirty="0" err="1"/>
              <a:t>vrsi</a:t>
            </a:r>
            <a:r>
              <a:rPr lang="en-US" dirty="0"/>
              <a:t> se </a:t>
            </a:r>
            <a:r>
              <a:rPr lang="en-US" dirty="0" err="1"/>
              <a:t>treniranje</a:t>
            </a:r>
            <a:r>
              <a:rPr lang="en-US" dirty="0"/>
              <a:t> </a:t>
            </a:r>
            <a:r>
              <a:rPr lang="en-US" dirty="0" err="1"/>
              <a:t>neuronske</a:t>
            </a:r>
            <a:r>
              <a:rPr lang="en-US" dirty="0"/>
              <a:t> </a:t>
            </a:r>
            <a:r>
              <a:rPr lang="en-US" dirty="0" err="1"/>
              <a:t>mreze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prethodno</a:t>
            </a:r>
            <a:r>
              <a:rPr lang="en-US" dirty="0"/>
              <a:t> </a:t>
            </a:r>
            <a:r>
              <a:rPr lang="en-US" dirty="0" err="1"/>
              <a:t>izdvojenim</a:t>
            </a:r>
            <a:r>
              <a:rPr lang="en-US" dirty="0"/>
              <a:t> </a:t>
            </a:r>
            <a:r>
              <a:rPr lang="en-US" dirty="0" err="1"/>
              <a:t>karakteristikama</a:t>
            </a:r>
            <a:r>
              <a:rPr lang="en-US" dirty="0"/>
              <a:t> audio </a:t>
            </a:r>
            <a:r>
              <a:rPr lang="en-US" dirty="0" err="1"/>
              <a:t>signala</a:t>
            </a:r>
            <a:r>
              <a:rPr lang="en-US" dirty="0"/>
              <a:t>. </a:t>
            </a:r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koraka</a:t>
            </a:r>
            <a:r>
              <a:rPr lang="en-US" dirty="0"/>
              <a:t> je da model </a:t>
            </a:r>
            <a:r>
              <a:rPr lang="en-US" dirty="0" err="1"/>
              <a:t>nauci</a:t>
            </a:r>
            <a:r>
              <a:rPr lang="en-US" dirty="0"/>
              <a:t> da </a:t>
            </a:r>
            <a:r>
              <a:rPr lang="en-US" dirty="0" err="1"/>
              <a:t>razlikuje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go </a:t>
            </a:r>
            <a:r>
              <a:rPr lang="en-US" dirty="0" err="1"/>
              <a:t>i</a:t>
            </a:r>
            <a:r>
              <a:rPr lang="en-US" dirty="0"/>
              <a:t> stop od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ostalih</a:t>
            </a:r>
            <a:r>
              <a:rPr lang="en-US" dirty="0"/>
              <a:t> </a:t>
            </a:r>
            <a:r>
              <a:rPr lang="en-US" dirty="0" err="1"/>
              <a:t>zvukova</a:t>
            </a:r>
            <a:r>
              <a:rPr lang="en-US" dirty="0"/>
              <a:t> koji </a:t>
            </a:r>
            <a:r>
              <a:rPr lang="en-US" dirty="0" err="1"/>
              <a:t>pripadaju</a:t>
            </a:r>
            <a:r>
              <a:rPr lang="en-US" dirty="0"/>
              <a:t> </a:t>
            </a:r>
            <a:r>
              <a:rPr lang="en-US" dirty="0" err="1"/>
              <a:t>klasi</a:t>
            </a:r>
            <a:r>
              <a:rPr lang="en-US" dirty="0"/>
              <a:t> unknown.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uspesnog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</a:t>
            </a:r>
            <a:r>
              <a:rPr lang="en-US" dirty="0" err="1"/>
              <a:t>dobija</a:t>
            </a:r>
            <a:r>
              <a:rPr lang="en-US" dirty="0"/>
              <a:t> se </a:t>
            </a:r>
            <a:r>
              <a:rPr lang="en-US" dirty="0" err="1"/>
              <a:t>finalni</a:t>
            </a:r>
            <a:r>
              <a:rPr lang="en-US" dirty="0"/>
              <a:t> model koji se </a:t>
            </a:r>
            <a:r>
              <a:rPr lang="en-US" dirty="0" err="1"/>
              <a:t>moze</a:t>
            </a:r>
            <a:r>
              <a:rPr lang="en-US" dirty="0"/>
              <a:t> </a:t>
            </a:r>
            <a:r>
              <a:rPr lang="en-US" dirty="0" err="1"/>
              <a:t>eksportovati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pokrenuti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Arduino </a:t>
            </a:r>
            <a:r>
              <a:rPr lang="en-US" dirty="0" err="1"/>
              <a:t>uredjaju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27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</a:t>
            </a:r>
            <a:r>
              <a:rPr lang="en-US" dirty="0" err="1"/>
              <a:t>ovoj</a:t>
            </a:r>
            <a:r>
              <a:rPr lang="en-US" dirty="0"/>
              <a:t> </a:t>
            </a:r>
            <a:r>
              <a:rPr lang="en-US" dirty="0" err="1"/>
              <a:t>fazi</a:t>
            </a:r>
            <a:r>
              <a:rPr lang="en-US" dirty="0"/>
              <a:t> </a:t>
            </a:r>
            <a:r>
              <a:rPr lang="en-US" dirty="0" err="1"/>
              <a:t>proverava</a:t>
            </a:r>
            <a:r>
              <a:rPr lang="en-US" dirty="0"/>
              <a:t> se </a:t>
            </a:r>
            <a:r>
              <a:rPr lang="en-US" dirty="0" err="1"/>
              <a:t>koliko</a:t>
            </a:r>
            <a:r>
              <a:rPr lang="en-US" dirty="0"/>
              <a:t> je </a:t>
            </a:r>
            <a:r>
              <a:rPr lang="en-US" dirty="0" err="1"/>
              <a:t>istrenirani</a:t>
            </a:r>
            <a:r>
              <a:rPr lang="en-US" dirty="0"/>
              <a:t> model </a:t>
            </a:r>
            <a:r>
              <a:rPr lang="en-US" dirty="0" err="1"/>
              <a:t>uspesan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test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prethodno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video </a:t>
            </a:r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. Na </a:t>
            </a:r>
            <a:r>
              <a:rPr lang="en-US" dirty="0" err="1"/>
              <a:t>osnovu</a:t>
            </a:r>
            <a:r>
              <a:rPr lang="en-US" dirty="0"/>
              <a:t> accuracy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confusion matrix </a:t>
            </a:r>
            <a:r>
              <a:rPr lang="en-US" dirty="0" err="1"/>
              <a:t>moze</a:t>
            </a:r>
            <a:r>
              <a:rPr lang="en-US" dirty="0"/>
              <a:t> da se </a:t>
            </a:r>
            <a:r>
              <a:rPr lang="en-US" dirty="0" err="1"/>
              <a:t>proceni</a:t>
            </a:r>
            <a:r>
              <a:rPr lang="en-US" dirty="0"/>
              <a:t> da li model </a:t>
            </a:r>
            <a:r>
              <a:rPr lang="en-US" dirty="0" err="1"/>
              <a:t>pravilno</a:t>
            </a:r>
            <a:r>
              <a:rPr lang="en-US" dirty="0"/>
              <a:t> </a:t>
            </a:r>
            <a:r>
              <a:rPr lang="en-US" dirty="0" err="1"/>
              <a:t>razlikuje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go </a:t>
            </a:r>
            <a:r>
              <a:rPr lang="en-US" dirty="0" err="1"/>
              <a:t>i</a:t>
            </a:r>
            <a:r>
              <a:rPr lang="en-US" dirty="0"/>
              <a:t> stop od </a:t>
            </a:r>
            <a:r>
              <a:rPr lang="en-US" dirty="0" err="1"/>
              <a:t>ostalih</a:t>
            </a:r>
            <a:r>
              <a:rPr lang="en-US" dirty="0"/>
              <a:t> </a:t>
            </a:r>
            <a:r>
              <a:rPr lang="en-US" dirty="0" err="1"/>
              <a:t>zvukova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 unknown.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korak</a:t>
            </a:r>
            <a:r>
              <a:rPr lang="en-US" dirty="0"/>
              <a:t> je </a:t>
            </a:r>
            <a:r>
              <a:rPr lang="en-US" dirty="0" err="1"/>
              <a:t>vazan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pokazuje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model </a:t>
            </a:r>
            <a:r>
              <a:rPr lang="en-US" dirty="0" err="1"/>
              <a:t>moze</a:t>
            </a:r>
            <a:r>
              <a:rPr lang="en-US" dirty="0"/>
              <a:t> da </a:t>
            </a:r>
            <a:r>
              <a:rPr lang="en-US" dirty="0" err="1"/>
              <a:t>generalizuje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je </a:t>
            </a:r>
            <a:r>
              <a:rPr lang="en-US" dirty="0" err="1"/>
              <a:t>spreman</a:t>
            </a:r>
            <a:r>
              <a:rPr lang="en-US" dirty="0"/>
              <a:t> za </a:t>
            </a:r>
            <a:r>
              <a:rPr lang="en-US" dirty="0" err="1"/>
              <a:t>primenu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samom</a:t>
            </a:r>
            <a:r>
              <a:rPr lang="en-US" dirty="0"/>
              <a:t> Arduino </a:t>
            </a:r>
            <a:r>
              <a:rPr lang="en-US" dirty="0" err="1"/>
              <a:t>uredjaju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98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deployment </a:t>
            </a:r>
            <a:r>
              <a:rPr lang="en-US" dirty="0" err="1"/>
              <a:t>fazi</a:t>
            </a:r>
            <a:r>
              <a:rPr lang="en-US" dirty="0"/>
              <a:t> </a:t>
            </a:r>
            <a:r>
              <a:rPr lang="en-US" dirty="0" err="1"/>
              <a:t>istrenirani</a:t>
            </a:r>
            <a:r>
              <a:rPr lang="en-US" dirty="0"/>
              <a:t> model je </a:t>
            </a:r>
            <a:r>
              <a:rPr lang="en-US" dirty="0" err="1"/>
              <a:t>iz</a:t>
            </a:r>
            <a:r>
              <a:rPr lang="en-US" dirty="0"/>
              <a:t> Edge Impulse </a:t>
            </a:r>
            <a:r>
              <a:rPr lang="en-US" dirty="0" err="1"/>
              <a:t>platforme</a:t>
            </a:r>
            <a:r>
              <a:rPr lang="en-US" dirty="0"/>
              <a:t> </a:t>
            </a:r>
            <a:r>
              <a:rPr lang="en-US" dirty="0" err="1"/>
              <a:t>eksportovan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Arduino </a:t>
            </a:r>
            <a:r>
              <a:rPr lang="en-US" dirty="0" err="1"/>
              <a:t>biblioteka</a:t>
            </a:r>
            <a:r>
              <a:rPr lang="en-US" dirty="0"/>
              <a:t>. </a:t>
            </a:r>
            <a:r>
              <a:rPr lang="en-US" dirty="0" err="1"/>
              <a:t>Nakon</a:t>
            </a:r>
            <a:r>
              <a:rPr lang="en-US" dirty="0"/>
              <a:t> toga je </a:t>
            </a:r>
            <a:r>
              <a:rPr lang="en-US" dirty="0" err="1"/>
              <a:t>ukljucen</a:t>
            </a:r>
            <a:r>
              <a:rPr lang="en-US" dirty="0"/>
              <a:t> u Arduino IDE </a:t>
            </a:r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povezan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ostatkom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, </a:t>
            </a:r>
            <a:r>
              <a:rPr lang="en-US" dirty="0" err="1"/>
              <a:t>odnosno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mikrofonom</a:t>
            </a:r>
            <a:r>
              <a:rPr lang="en-US" dirty="0"/>
              <a:t>, LED </a:t>
            </a:r>
            <a:r>
              <a:rPr lang="en-US" dirty="0" err="1"/>
              <a:t>signalizacijom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senzorima</a:t>
            </a:r>
            <a:r>
              <a:rPr lang="en-US" dirty="0"/>
              <a:t>. Time je </a:t>
            </a:r>
            <a:r>
              <a:rPr lang="en-US" dirty="0" err="1"/>
              <a:t>omoguceno</a:t>
            </a:r>
            <a:r>
              <a:rPr lang="en-US" dirty="0"/>
              <a:t> da se </a:t>
            </a:r>
            <a:r>
              <a:rPr lang="en-US" dirty="0" err="1"/>
              <a:t>inferencija</a:t>
            </a:r>
            <a:r>
              <a:rPr lang="en-US" dirty="0"/>
              <a:t> </a:t>
            </a:r>
            <a:r>
              <a:rPr lang="en-US" dirty="0" err="1"/>
              <a:t>izvrsava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samom</a:t>
            </a:r>
            <a:r>
              <a:rPr lang="en-US" dirty="0"/>
              <a:t> Arduino </a:t>
            </a:r>
            <a:r>
              <a:rPr lang="en-US" dirty="0" err="1"/>
              <a:t>uredjaju</a:t>
            </a:r>
            <a:r>
              <a:rPr lang="en-US" dirty="0"/>
              <a:t>, bez </a:t>
            </a:r>
            <a:r>
              <a:rPr lang="en-US" dirty="0" err="1"/>
              <a:t>potrebe</a:t>
            </a:r>
            <a:r>
              <a:rPr lang="en-US" dirty="0"/>
              <a:t> za </a:t>
            </a:r>
            <a:r>
              <a:rPr lang="en-US" dirty="0" err="1"/>
              <a:t>slanjem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72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B5C6A-C06E-8161-C1B7-485A03B36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DCFBB-D273-769B-4DA7-94106941F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6B962-A51B-68C2-ACCD-D04C437FB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koraku</a:t>
            </a:r>
            <a:r>
              <a:rPr lang="en-US" dirty="0"/>
              <a:t> je </a:t>
            </a:r>
            <a:r>
              <a:rPr lang="en-US" dirty="0" err="1"/>
              <a:t>eksportovani</a:t>
            </a:r>
            <a:r>
              <a:rPr lang="en-US" dirty="0"/>
              <a:t> Edge Impulse model </a:t>
            </a:r>
            <a:r>
              <a:rPr lang="en-US" dirty="0" err="1"/>
              <a:t>ukljucen</a:t>
            </a:r>
            <a:r>
              <a:rPr lang="en-US" dirty="0"/>
              <a:t> u Arduino IDE </a:t>
            </a:r>
            <a:r>
              <a:rPr lang="en-US" dirty="0" err="1"/>
              <a:t>projekat</a:t>
            </a:r>
            <a:r>
              <a:rPr lang="en-US" dirty="0"/>
              <a:t>. </a:t>
            </a:r>
            <a:r>
              <a:rPr lang="en-US" dirty="0" err="1"/>
              <a:t>Otvoren</a:t>
            </a:r>
            <a:r>
              <a:rPr lang="en-US" dirty="0"/>
              <a:t> je primer nano_ble33_sense_microphone_continuous,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sto</a:t>
            </a:r>
            <a:r>
              <a:rPr lang="en-US" dirty="0"/>
              <a:t> je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zasnovana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kontinuiranom</a:t>
            </a:r>
            <a:r>
              <a:rPr lang="en-US" dirty="0"/>
              <a:t> </a:t>
            </a:r>
            <a:r>
              <a:rPr lang="en-US" dirty="0" err="1"/>
              <a:t>pracenju</a:t>
            </a:r>
            <a:r>
              <a:rPr lang="en-US" dirty="0"/>
              <a:t> </a:t>
            </a:r>
            <a:r>
              <a:rPr lang="en-US" dirty="0" err="1"/>
              <a:t>zvuka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ugradjenog</a:t>
            </a:r>
            <a:r>
              <a:rPr lang="en-US" dirty="0"/>
              <a:t> </a:t>
            </a:r>
            <a:r>
              <a:rPr lang="en-US" dirty="0" err="1"/>
              <a:t>mikrofona</a:t>
            </a:r>
            <a:r>
              <a:rPr lang="en-US" dirty="0"/>
              <a:t>. Na </a:t>
            </a:r>
            <a:r>
              <a:rPr lang="en-US" dirty="0" err="1"/>
              <a:t>osnovu</a:t>
            </a:r>
            <a:r>
              <a:rPr lang="en-US" dirty="0"/>
              <a:t> tog </a:t>
            </a:r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zatim</a:t>
            </a:r>
            <a:r>
              <a:rPr lang="en-US" dirty="0"/>
              <a:t> je </a:t>
            </a:r>
            <a:r>
              <a:rPr lang="en-US" dirty="0" err="1"/>
              <a:t>razvijena</a:t>
            </a:r>
            <a:r>
              <a:rPr lang="en-US" dirty="0"/>
              <a:t> </a:t>
            </a:r>
            <a:r>
              <a:rPr lang="en-US" dirty="0" err="1"/>
              <a:t>finalna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u </a:t>
            </a:r>
            <a:r>
              <a:rPr lang="en-US" dirty="0" err="1"/>
              <a:t>koju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dodate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go </a:t>
            </a:r>
            <a:r>
              <a:rPr lang="en-US" dirty="0" err="1"/>
              <a:t>i</a:t>
            </a:r>
            <a:r>
              <a:rPr lang="en-US" dirty="0"/>
              <a:t> stop, LED </a:t>
            </a:r>
            <a:r>
              <a:rPr lang="en-US" dirty="0" err="1"/>
              <a:t>signalizacija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senzorima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95E2E-74C6-A22B-F954-8CA38AFED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85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8619E-0900-6D2D-9A33-04C3EC59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D2D3-6101-9A21-011D-E1037ADC7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1E10E-B2D9-C256-986C-90E42C16B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5FA9C-2DB4-7CCF-8543-B366B6F73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64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8A4BC-18D4-0C0F-AD02-B01734E0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56A2C-0FED-29D9-F509-C342BC442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5DC80-F33A-04F5-CE5D-06E381D28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3010C-4A36-3632-1EB7-D48C26EA6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92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68C1-9FF9-5A5F-7DAA-80DDE094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05DCA-7733-B402-077A-DE54FC8FA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AB6F2-06E6-B514-CED1-ECF4D87B9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delu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vidi</a:t>
            </a:r>
            <a:r>
              <a:rPr lang="en-US" dirty="0"/>
              <a:t> se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stalno</a:t>
            </a:r>
            <a:r>
              <a:rPr lang="en-US" dirty="0"/>
              <a:t> </a:t>
            </a:r>
            <a:r>
              <a:rPr lang="en-US" dirty="0" err="1"/>
              <a:t>osluskuje</a:t>
            </a:r>
            <a:r>
              <a:rPr lang="en-US" dirty="0"/>
              <a:t> audio signal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mikrofona</a:t>
            </a:r>
            <a:r>
              <a:rPr lang="en-US" dirty="0"/>
              <a:t>.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sto</a:t>
            </a:r>
            <a:r>
              <a:rPr lang="en-US" dirty="0"/>
              <a:t> se </a:t>
            </a:r>
            <a:r>
              <a:rPr lang="en-US" dirty="0" err="1"/>
              <a:t>prikupi</a:t>
            </a:r>
            <a:r>
              <a:rPr lang="en-US" dirty="0"/>
              <a:t> novi segment </a:t>
            </a:r>
            <a:r>
              <a:rPr lang="en-US" dirty="0" err="1"/>
              <a:t>zvuka</a:t>
            </a:r>
            <a:r>
              <a:rPr lang="en-US" dirty="0"/>
              <a:t>, on se </a:t>
            </a:r>
            <a:r>
              <a:rPr lang="en-US" dirty="0" err="1"/>
              <a:t>prosledjuje</a:t>
            </a:r>
            <a:r>
              <a:rPr lang="en-US" dirty="0"/>
              <a:t> </a:t>
            </a:r>
            <a:r>
              <a:rPr lang="en-US" dirty="0" err="1"/>
              <a:t>TinyML</a:t>
            </a:r>
            <a:r>
              <a:rPr lang="en-US" dirty="0"/>
              <a:t> </a:t>
            </a:r>
            <a:r>
              <a:rPr lang="en-US" dirty="0" err="1"/>
              <a:t>modelu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run_classifier_continuous</a:t>
            </a:r>
            <a:r>
              <a:rPr lang="en-US" dirty="0"/>
              <a:t>. Kao 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dobijaju</a:t>
            </a:r>
            <a:r>
              <a:rPr lang="en-US" dirty="0"/>
              <a:t> se </a:t>
            </a:r>
            <a:r>
              <a:rPr lang="en-US" dirty="0" err="1"/>
              <a:t>verovatnoce</a:t>
            </a:r>
            <a:r>
              <a:rPr lang="en-US" dirty="0"/>
              <a:t> za </a:t>
            </a:r>
            <a:r>
              <a:rPr lang="en-US" dirty="0" err="1"/>
              <a:t>klase</a:t>
            </a:r>
            <a:r>
              <a:rPr lang="en-US" dirty="0"/>
              <a:t> go, stop </a:t>
            </a:r>
            <a:r>
              <a:rPr lang="en-US" dirty="0" err="1"/>
              <a:t>i</a:t>
            </a:r>
            <a:r>
              <a:rPr lang="en-US" dirty="0"/>
              <a:t> unknown, </a:t>
            </a:r>
            <a:r>
              <a:rPr lang="en-US" dirty="0" err="1"/>
              <a:t>sto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za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sistemom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1F031-D020-BC09-4AF5-B1F42BEFC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98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BEAF8-C9EC-0272-6900-BC94F448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475AE-A0DE-2799-4854-B5F2BEA0D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2E7D8-D781-6DA4-3048-2B4488E1C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Ovde</a:t>
            </a:r>
            <a:r>
              <a:rPr lang="en-US" dirty="0"/>
              <a:t> se </a:t>
            </a:r>
            <a:r>
              <a:rPr lang="en-US" dirty="0" err="1"/>
              <a:t>vidi</a:t>
            </a:r>
            <a:r>
              <a:rPr lang="en-US" dirty="0"/>
              <a:t> deo </a:t>
            </a:r>
            <a:r>
              <a:rPr lang="en-US" dirty="0" err="1"/>
              <a:t>koda</a:t>
            </a:r>
            <a:r>
              <a:rPr lang="en-US" dirty="0"/>
              <a:t> u </a:t>
            </a:r>
            <a:r>
              <a:rPr lang="en-US" dirty="0" err="1"/>
              <a:t>kome</a:t>
            </a:r>
            <a:r>
              <a:rPr lang="en-US" dirty="0"/>
              <a:t> se </a:t>
            </a:r>
            <a:r>
              <a:rPr lang="en-US" dirty="0" err="1"/>
              <a:t>obradjuju</a:t>
            </a:r>
            <a:r>
              <a:rPr lang="en-US" dirty="0"/>
              <a:t> </a:t>
            </a:r>
            <a:r>
              <a:rPr lang="en-US" dirty="0" err="1"/>
              <a:t>rezultati</a:t>
            </a:r>
            <a:r>
              <a:rPr lang="en-US" dirty="0"/>
              <a:t> </a:t>
            </a:r>
            <a:r>
              <a:rPr lang="en-US" dirty="0" err="1"/>
              <a:t>klasifikacije</a:t>
            </a:r>
            <a:r>
              <a:rPr lang="en-US" dirty="0"/>
              <a:t>. Model </a:t>
            </a:r>
            <a:r>
              <a:rPr lang="en-US" dirty="0" err="1"/>
              <a:t>vraca</a:t>
            </a:r>
            <a:r>
              <a:rPr lang="en-US" dirty="0"/>
              <a:t> </a:t>
            </a:r>
            <a:r>
              <a:rPr lang="en-US" dirty="0" err="1"/>
              <a:t>verovatnoce</a:t>
            </a:r>
            <a:r>
              <a:rPr lang="en-US" dirty="0"/>
              <a:t> za </a:t>
            </a:r>
            <a:r>
              <a:rPr lang="en-US" dirty="0" err="1"/>
              <a:t>sve</a:t>
            </a:r>
            <a:r>
              <a:rPr lang="en-US" dirty="0"/>
              <a:t> tri </a:t>
            </a:r>
            <a:r>
              <a:rPr lang="en-US" dirty="0" err="1"/>
              <a:t>klase</a:t>
            </a:r>
            <a:r>
              <a:rPr lang="en-US" dirty="0"/>
              <a:t>, a </a:t>
            </a:r>
            <a:r>
              <a:rPr lang="en-US" dirty="0" err="1"/>
              <a:t>zatim</a:t>
            </a:r>
            <a:r>
              <a:rPr lang="en-US" dirty="0"/>
              <a:t> se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smestaju</a:t>
            </a:r>
            <a:r>
              <a:rPr lang="en-US" dirty="0"/>
              <a:t> u </a:t>
            </a:r>
            <a:r>
              <a:rPr lang="en-US" dirty="0" err="1"/>
              <a:t>posebne</a:t>
            </a:r>
            <a:r>
              <a:rPr lang="en-US" dirty="0"/>
              <a:t> </a:t>
            </a:r>
            <a:r>
              <a:rPr lang="en-US" dirty="0" err="1"/>
              <a:t>promenljive</a:t>
            </a:r>
            <a:r>
              <a:rPr lang="en-US" dirty="0"/>
              <a:t> </a:t>
            </a:r>
            <a:r>
              <a:rPr lang="en-US" dirty="0" err="1"/>
              <a:t>goScore</a:t>
            </a:r>
            <a:r>
              <a:rPr lang="en-US" dirty="0"/>
              <a:t>, </a:t>
            </a:r>
            <a:r>
              <a:rPr lang="en-US" dirty="0" err="1"/>
              <a:t>stopScore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unknownScore</a:t>
            </a:r>
            <a:r>
              <a:rPr lang="en-US" dirty="0"/>
              <a:t>. </a:t>
            </a:r>
            <a:r>
              <a:rPr lang="en-US" dirty="0" err="1"/>
              <a:t>Nakon</a:t>
            </a:r>
            <a:r>
              <a:rPr lang="en-US" dirty="0"/>
              <a:t> toga program </a:t>
            </a:r>
            <a:r>
              <a:rPr lang="en-US" dirty="0" err="1"/>
              <a:t>moze</a:t>
            </a:r>
            <a:r>
              <a:rPr lang="en-US" dirty="0"/>
              <a:t> da </a:t>
            </a:r>
            <a:r>
              <a:rPr lang="en-US" dirty="0" err="1"/>
              <a:t>proveri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komanda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najvecu</a:t>
            </a:r>
            <a:r>
              <a:rPr lang="en-US" dirty="0"/>
              <a:t> </a:t>
            </a:r>
            <a:r>
              <a:rPr lang="en-US" dirty="0" err="1"/>
              <a:t>verovatnocu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li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promeniti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8B7C8-C91C-AFE0-2C18-5E214FA89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15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302B5-178A-432F-FF4A-3E92AD2E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7F6A9-B3A8-610F-9EA5-00E6F563F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76208-1CCE-A535-EA02-A0C6B3C5E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Ovaj</a:t>
            </a:r>
            <a:r>
              <a:rPr lang="en-US" dirty="0"/>
              <a:t> deo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obradu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</a:t>
            </a:r>
            <a:r>
              <a:rPr lang="en-US" dirty="0"/>
              <a:t>. Kada model </a:t>
            </a:r>
            <a:r>
              <a:rPr lang="en-US" dirty="0" err="1"/>
              <a:t>proceni</a:t>
            </a:r>
            <a:r>
              <a:rPr lang="en-US" dirty="0"/>
              <a:t> da je </a:t>
            </a:r>
            <a:r>
              <a:rPr lang="en-US" dirty="0" err="1"/>
              <a:t>komanda</a:t>
            </a:r>
            <a:r>
              <a:rPr lang="en-US" dirty="0"/>
              <a:t> go </a:t>
            </a:r>
            <a:r>
              <a:rPr lang="en-US" dirty="0" err="1"/>
              <a:t>prepoznata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dovoljnom</a:t>
            </a:r>
            <a:r>
              <a:rPr lang="en-US" dirty="0"/>
              <a:t> </a:t>
            </a:r>
            <a:r>
              <a:rPr lang="en-US" dirty="0" err="1"/>
              <a:t>pouzdanoscu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 u </a:t>
            </a:r>
            <a:r>
              <a:rPr lang="en-US" dirty="0" err="1"/>
              <a:t>aktivno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monitoringa</a:t>
            </a:r>
            <a:r>
              <a:rPr lang="en-US" dirty="0"/>
              <a:t>. U tom </a:t>
            </a:r>
            <a:r>
              <a:rPr lang="en-US" dirty="0" err="1"/>
              <a:t>trenutku</a:t>
            </a:r>
            <a:r>
              <a:rPr lang="en-US" dirty="0"/>
              <a:t> </a:t>
            </a:r>
            <a:r>
              <a:rPr lang="en-US" dirty="0" err="1"/>
              <a:t>ukljucuje</a:t>
            </a:r>
            <a:r>
              <a:rPr lang="en-US" dirty="0"/>
              <a:t> se LED </a:t>
            </a:r>
            <a:r>
              <a:rPr lang="en-US" dirty="0" err="1"/>
              <a:t>signalizacija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pocinje</a:t>
            </a:r>
            <a:r>
              <a:rPr lang="en-US" dirty="0"/>
              <a:t> da </a:t>
            </a:r>
            <a:r>
              <a:rPr lang="en-US" dirty="0" err="1"/>
              <a:t>ocitava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senzora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9BE19-08C2-8792-CB6B-DED87C1B4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91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93D7-7BF8-0D36-BE12-6F8DA6F6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2FE34-E203-4E1F-932D-723125774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6402B-3759-0F34-8D5E-0CE4B214A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Ovaj</a:t>
            </a:r>
            <a:r>
              <a:rPr lang="en-US" dirty="0"/>
              <a:t> deo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obradu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</a:t>
            </a:r>
            <a:r>
              <a:rPr lang="en-US" dirty="0"/>
              <a:t>. Kada model </a:t>
            </a:r>
            <a:r>
              <a:rPr lang="en-US" dirty="0" err="1"/>
              <a:t>proceni</a:t>
            </a:r>
            <a:r>
              <a:rPr lang="en-US" dirty="0"/>
              <a:t> da je </a:t>
            </a:r>
            <a:r>
              <a:rPr lang="en-US" dirty="0" err="1"/>
              <a:t>izgovorena</a:t>
            </a:r>
            <a:r>
              <a:rPr lang="en-US" dirty="0"/>
              <a:t> </a:t>
            </a:r>
            <a:r>
              <a:rPr lang="en-US" dirty="0" err="1"/>
              <a:t>komanda</a:t>
            </a:r>
            <a:r>
              <a:rPr lang="en-US" dirty="0"/>
              <a:t> stop, monitoring se </a:t>
            </a:r>
            <a:r>
              <a:rPr lang="en-US" dirty="0" err="1"/>
              <a:t>zaustavlja</a:t>
            </a:r>
            <a:r>
              <a:rPr lang="en-US" dirty="0"/>
              <a:t>, </a:t>
            </a:r>
            <a:r>
              <a:rPr lang="en-US" dirty="0" err="1"/>
              <a:t>promenljiva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monitoring_active</a:t>
            </a:r>
            <a:r>
              <a:rPr lang="en-US" dirty="0"/>
              <a:t> </a:t>
            </a:r>
            <a:r>
              <a:rPr lang="en-US" dirty="0" err="1"/>
              <a:t>dobija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false, </a:t>
            </a:r>
            <a:r>
              <a:rPr lang="en-US" dirty="0" err="1"/>
              <a:t>gasi</a:t>
            </a:r>
            <a:r>
              <a:rPr lang="en-US" dirty="0"/>
              <a:t> se </a:t>
            </a:r>
            <a:r>
              <a:rPr lang="en-US" dirty="0" err="1"/>
              <a:t>ugradjena</a:t>
            </a:r>
            <a:r>
              <a:rPr lang="en-US" dirty="0"/>
              <a:t> LED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ukljucuje</a:t>
            </a:r>
            <a:r>
              <a:rPr lang="en-US" dirty="0"/>
              <a:t> se </a:t>
            </a:r>
            <a:r>
              <a:rPr lang="en-US" dirty="0" err="1"/>
              <a:t>plava</a:t>
            </a:r>
            <a:r>
              <a:rPr lang="en-US" dirty="0"/>
              <a:t> RGB </a:t>
            </a:r>
            <a:r>
              <a:rPr lang="en-US" dirty="0" err="1"/>
              <a:t>dioda</a:t>
            </a:r>
            <a:r>
              <a:rPr lang="en-US" dirty="0"/>
              <a:t>,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oznacava</a:t>
            </a:r>
            <a:r>
              <a:rPr lang="en-US" dirty="0"/>
              <a:t> da je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vracen</a:t>
            </a:r>
            <a:r>
              <a:rPr lang="en-US" dirty="0"/>
              <a:t> u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mirovanja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A3506-1AFF-4841-0B46-3E1B69B4C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81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0A52-AA37-7308-F5A2-275CBDD2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531F9-B301-DFBE-D601-272EEEFAA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FDF5D-DCB8-3C83-5935-B225DD730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Ovaj</a:t>
            </a:r>
            <a:r>
              <a:rPr lang="en-US" dirty="0"/>
              <a:t> deo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akcelerometrom</a:t>
            </a:r>
            <a:r>
              <a:rPr lang="en-US" dirty="0"/>
              <a:t>. Kada je monitoring </a:t>
            </a:r>
            <a:r>
              <a:rPr lang="en-US" dirty="0" err="1"/>
              <a:t>aktivan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cita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ubrzanja</a:t>
            </a:r>
            <a:r>
              <a:rPr lang="en-US" dirty="0"/>
              <a:t> po tri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racuna</a:t>
            </a:r>
            <a:r>
              <a:rPr lang="en-US" dirty="0"/>
              <a:t> </a:t>
            </a:r>
            <a:r>
              <a:rPr lang="en-US" dirty="0" err="1"/>
              <a:t>ukupnu</a:t>
            </a:r>
            <a:r>
              <a:rPr lang="en-US" dirty="0"/>
              <a:t> </a:t>
            </a:r>
            <a:r>
              <a:rPr lang="en-US" dirty="0" err="1"/>
              <a:t>magnitudu</a:t>
            </a:r>
            <a:r>
              <a:rPr lang="en-US" dirty="0"/>
              <a:t> </a:t>
            </a:r>
            <a:r>
              <a:rPr lang="en-US" dirty="0" err="1"/>
              <a:t>kretanja</a:t>
            </a:r>
            <a:r>
              <a:rPr lang="en-US" dirty="0"/>
              <a:t>. Ako ta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predje</a:t>
            </a:r>
            <a:r>
              <a:rPr lang="en-US" dirty="0"/>
              <a:t> </a:t>
            </a:r>
            <a:r>
              <a:rPr lang="en-US" dirty="0" err="1"/>
              <a:t>definisani</a:t>
            </a:r>
            <a:r>
              <a:rPr lang="en-US" dirty="0"/>
              <a:t> </a:t>
            </a:r>
            <a:r>
              <a:rPr lang="en-US" dirty="0" err="1"/>
              <a:t>prag</a:t>
            </a:r>
            <a:r>
              <a:rPr lang="en-US" dirty="0"/>
              <a:t>, </a:t>
            </a:r>
            <a:r>
              <a:rPr lang="en-US" dirty="0" err="1"/>
              <a:t>zakljucuje</a:t>
            </a:r>
            <a:r>
              <a:rPr lang="en-US" dirty="0"/>
              <a:t> se da je </a:t>
            </a:r>
            <a:r>
              <a:rPr lang="en-US" dirty="0" err="1"/>
              <a:t>uredjaj</a:t>
            </a:r>
            <a:r>
              <a:rPr lang="en-US" dirty="0"/>
              <a:t> </a:t>
            </a:r>
            <a:r>
              <a:rPr lang="en-US" dirty="0" err="1"/>
              <a:t>pomeren</a:t>
            </a:r>
            <a:r>
              <a:rPr lang="en-US" dirty="0"/>
              <a:t>,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cemu</a:t>
            </a:r>
            <a:r>
              <a:rPr lang="en-US" dirty="0"/>
              <a:t> se </a:t>
            </a:r>
            <a:r>
              <a:rPr lang="en-US" dirty="0" err="1"/>
              <a:t>kratko</a:t>
            </a:r>
            <a:r>
              <a:rPr lang="en-US" dirty="0"/>
              <a:t> </a:t>
            </a:r>
            <a:r>
              <a:rPr lang="en-US" dirty="0" err="1"/>
              <a:t>pali</a:t>
            </a:r>
            <a:r>
              <a:rPr lang="en-US" dirty="0"/>
              <a:t> </a:t>
            </a:r>
            <a:r>
              <a:rPr lang="en-US" dirty="0" err="1"/>
              <a:t>crvena</a:t>
            </a:r>
            <a:r>
              <a:rPr lang="en-US" dirty="0"/>
              <a:t> RGB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u </a:t>
            </a:r>
            <a:r>
              <a:rPr lang="en-US" dirty="0" err="1"/>
              <a:t>serijskom</a:t>
            </a:r>
            <a:r>
              <a:rPr lang="en-US" dirty="0"/>
              <a:t> </a:t>
            </a:r>
            <a:r>
              <a:rPr lang="en-US" dirty="0" err="1"/>
              <a:t>monitoru</a:t>
            </a:r>
            <a:r>
              <a:rPr lang="en-US" dirty="0"/>
              <a:t> se </a:t>
            </a:r>
            <a:r>
              <a:rPr lang="en-US" dirty="0" err="1"/>
              <a:t>ispisuje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da je </a:t>
            </a:r>
            <a:r>
              <a:rPr lang="en-US" dirty="0" err="1"/>
              <a:t>pokret</a:t>
            </a:r>
            <a:r>
              <a:rPr lang="en-US" dirty="0"/>
              <a:t> </a:t>
            </a:r>
            <a:r>
              <a:rPr lang="en-US" dirty="0" err="1"/>
              <a:t>detektovan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850FF-E4A3-FA4C-7A74-53B1D2E8B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31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43F0-CAD2-F810-8EE8-C8B22146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58789-918A-B4CA-9326-4AE529D43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771E1-76AB-8AB5-F3F8-01DDCC891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Ovaj</a:t>
            </a:r>
            <a:r>
              <a:rPr lang="en-US" dirty="0"/>
              <a:t> deo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barometrom</a:t>
            </a:r>
            <a:r>
              <a:rPr lang="en-US" dirty="0"/>
              <a:t>. Kada je monitoring </a:t>
            </a:r>
            <a:r>
              <a:rPr lang="en-US" dirty="0" err="1"/>
              <a:t>aktivan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svakih</a:t>
            </a:r>
            <a:r>
              <a:rPr lang="en-US" dirty="0"/>
              <a:t>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/>
              <a:t>trenutaka</a:t>
            </a:r>
            <a:r>
              <a:rPr lang="en-US" dirty="0"/>
              <a:t> </a:t>
            </a:r>
            <a:r>
              <a:rPr lang="en-US" dirty="0" err="1"/>
              <a:t>ocitava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vazdusnog</a:t>
            </a:r>
            <a:r>
              <a:rPr lang="en-US" dirty="0"/>
              <a:t> </a:t>
            </a:r>
            <a:r>
              <a:rPr lang="en-US" dirty="0" err="1"/>
              <a:t>pritiska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ispisuje</a:t>
            </a:r>
            <a:r>
              <a:rPr lang="en-US" dirty="0"/>
              <a:t> je u </a:t>
            </a:r>
            <a:r>
              <a:rPr lang="en-US" dirty="0" err="1"/>
              <a:t>serijski</a:t>
            </a:r>
            <a:r>
              <a:rPr lang="en-US" dirty="0"/>
              <a:t> monitor. </a:t>
            </a:r>
            <a:r>
              <a:rPr lang="en-US" dirty="0" err="1"/>
              <a:t>Uveden</a:t>
            </a:r>
            <a:r>
              <a:rPr lang="en-US" dirty="0"/>
              <a:t> je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vremenski</a:t>
            </a:r>
            <a:r>
              <a:rPr lang="en-US" dirty="0"/>
              <a:t> interval, </a:t>
            </a:r>
            <a:r>
              <a:rPr lang="en-US" dirty="0" err="1"/>
              <a:t>kako</a:t>
            </a:r>
            <a:r>
              <a:rPr lang="en-US" dirty="0"/>
              <a:t> se </a:t>
            </a:r>
            <a:r>
              <a:rPr lang="en-US" dirty="0" err="1"/>
              <a:t>podaci</a:t>
            </a:r>
            <a:r>
              <a:rPr lang="en-US" dirty="0"/>
              <a:t> ne bi </a:t>
            </a:r>
            <a:r>
              <a:rPr lang="en-US" dirty="0" err="1"/>
              <a:t>ispisivali</a:t>
            </a:r>
            <a:r>
              <a:rPr lang="en-US" dirty="0"/>
              <a:t> previse </a:t>
            </a:r>
            <a:r>
              <a:rPr lang="en-US" dirty="0" err="1"/>
              <a:t>cesto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</a:t>
            </a:r>
            <a:r>
              <a:rPr lang="en-US" dirty="0" err="1"/>
              <a:t>izlaz</a:t>
            </a:r>
            <a:r>
              <a:rPr lang="en-US" dirty="0"/>
              <a:t> </a:t>
            </a:r>
            <a:r>
              <a:rPr lang="en-US" dirty="0" err="1"/>
              <a:t>ostao</a:t>
            </a:r>
            <a:r>
              <a:rPr lang="en-US" dirty="0"/>
              <a:t> </a:t>
            </a:r>
            <a:r>
              <a:rPr lang="en-US" dirty="0" err="1"/>
              <a:t>pregledan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76A18-BF15-A396-DF9A-16E540B4F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5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5/21/2026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5/21/2026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5/21/2026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1738315"/>
          </a:xfrm>
        </p:spPr>
        <p:txBody>
          <a:bodyPr>
            <a:normAutofit/>
          </a:bodyPr>
          <a:lstStyle/>
          <a:p>
            <a:pPr algn="ctr"/>
            <a:r>
              <a:rPr lang="sr-Latn-RS" sz="6600" noProof="1"/>
              <a:t>UbiComp – Projekat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noProof="1"/>
              <a:t>Anastasija Vasić, 1848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443C37-6BAB-D604-FA46-0E2F877ACD7F}"/>
              </a:ext>
            </a:extLst>
          </p:cNvPr>
          <p:cNvSpPr txBox="1">
            <a:spLocks/>
          </p:cNvSpPr>
          <p:nvPr/>
        </p:nvSpPr>
        <p:spPr>
          <a:xfrm>
            <a:off x="7982880" y="5432564"/>
            <a:ext cx="3457059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b="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noProof="1"/>
              <a:t>Sveprisutno računarstvo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95205"/>
            <a:ext cx="9601200" cy="771595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Ideja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399" y="1341783"/>
            <a:ext cx="10373139" cy="4721087"/>
          </a:xfrm>
        </p:spPr>
        <p:txBody>
          <a:bodyPr>
            <a:normAutofit fontScale="92500" lnSpcReduction="10000"/>
          </a:bodyPr>
          <a:lstStyle/>
          <a:p>
            <a:r>
              <a:rPr lang="sr-Latn-RS" b="1" noProof="1"/>
              <a:t>IoT sistem </a:t>
            </a:r>
            <a:r>
              <a:rPr lang="sr-Latn-RS" noProof="1"/>
              <a:t>koji prepoznaje glasovne komande i aktivira praćenje senzora.</a:t>
            </a:r>
          </a:p>
          <a:p>
            <a:r>
              <a:rPr lang="sr-Latn-RS" noProof="1"/>
              <a:t>Osnovni cilj projekta je realizacija sistema koji:</a:t>
            </a:r>
          </a:p>
          <a:p>
            <a:pPr lvl="1"/>
            <a:r>
              <a:rPr lang="sr-Latn-RS" sz="1700" noProof="1"/>
              <a:t>prepoznaje glasovne komande </a:t>
            </a:r>
            <a:r>
              <a:rPr lang="sr-Latn-RS" sz="1700" b="1" noProof="1"/>
              <a:t>go</a:t>
            </a:r>
            <a:r>
              <a:rPr lang="sr-Latn-RS" sz="1700" noProof="1"/>
              <a:t> i </a:t>
            </a:r>
            <a:r>
              <a:rPr lang="sr-Latn-RS" sz="1700" b="1" noProof="1"/>
              <a:t>stop</a:t>
            </a:r>
            <a:r>
              <a:rPr lang="sr-Latn-RS" sz="1700" noProof="1"/>
              <a:t> </a:t>
            </a:r>
          </a:p>
          <a:p>
            <a:pPr lvl="1"/>
            <a:r>
              <a:rPr lang="sr-Latn-RS" sz="1700" noProof="1"/>
              <a:t>uključuje i isključuje monitoring sistema </a:t>
            </a:r>
          </a:p>
          <a:p>
            <a:pPr lvl="1"/>
            <a:r>
              <a:rPr lang="sr-Latn-RS" sz="1700" noProof="1"/>
              <a:t>očitava vrednosti sa akcelerometra i barometra </a:t>
            </a:r>
          </a:p>
          <a:p>
            <a:pPr lvl="1"/>
            <a:r>
              <a:rPr lang="sr-Latn-RS" sz="1700" noProof="1"/>
              <a:t>signalizira stanje sistema pomoću RGB LED diode i ugrađene </a:t>
            </a:r>
            <a:r>
              <a:rPr lang="sr-Latn-RS" sz="1900" noProof="1"/>
              <a:t>LED diode</a:t>
            </a:r>
          </a:p>
          <a:p>
            <a:r>
              <a:rPr lang="sr-Latn-RS" noProof="1"/>
              <a:t>Koričćen hardver:  </a:t>
            </a:r>
          </a:p>
          <a:p>
            <a:pPr lvl="1"/>
            <a:r>
              <a:rPr lang="sr-Latn-RS" b="1" i="1" noProof="1"/>
              <a:t>Arduino Nano 33 BLE Sense Lite</a:t>
            </a:r>
          </a:p>
          <a:p>
            <a:pPr lvl="1"/>
            <a:r>
              <a:rPr lang="sr-Latn-RS" i="1" noProof="1"/>
              <a:t>Mikrofon</a:t>
            </a:r>
          </a:p>
          <a:p>
            <a:pPr lvl="1"/>
            <a:r>
              <a:rPr lang="sr-Latn-RS" i="1" noProof="1"/>
              <a:t>IMU / Akcelerometar</a:t>
            </a:r>
          </a:p>
          <a:p>
            <a:pPr lvl="1"/>
            <a:r>
              <a:rPr lang="sr-Latn-RS" i="1" noProof="1"/>
              <a:t>Barometar</a:t>
            </a:r>
          </a:p>
          <a:p>
            <a:pPr lvl="1"/>
            <a:r>
              <a:rPr lang="sr-Latn-RS" i="1" noProof="1"/>
              <a:t>RGB LED i ugrađena LED</a:t>
            </a:r>
          </a:p>
          <a:p>
            <a:endParaRPr lang="sr-Latn-RS" i="1" noProof="1"/>
          </a:p>
          <a:p>
            <a:endParaRPr lang="sr-Latn-R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5F83B-787A-6BD4-866E-79CC3C01C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986" y="3702326"/>
            <a:ext cx="2821614" cy="209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B3A58-BFBC-3BDC-7E7D-06D1C00A5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991" y="1600201"/>
            <a:ext cx="9425609" cy="4191000"/>
          </a:xfrm>
        </p:spPr>
        <p:txBody>
          <a:bodyPr/>
          <a:lstStyle/>
          <a:p>
            <a:r>
              <a:rPr lang="sr-Latn-RS" b="1" noProof="1"/>
              <a:t>Arduino IDE </a:t>
            </a:r>
            <a:r>
              <a:rPr lang="sr-Latn-RS" noProof="1"/>
              <a:t>za razvoj i upload programa na mikrokontroler.</a:t>
            </a:r>
          </a:p>
          <a:p>
            <a:r>
              <a:rPr lang="sr-Latn-RS" b="1" noProof="1"/>
              <a:t>Edge Impulse </a:t>
            </a:r>
            <a:r>
              <a:rPr lang="sr-Latn-RS" noProof="1"/>
              <a:t>za prikupljanje podataka, treniranje modela i deployment.</a:t>
            </a:r>
          </a:p>
          <a:p>
            <a:pPr>
              <a:lnSpc>
                <a:spcPct val="150000"/>
              </a:lnSpc>
            </a:pPr>
            <a:r>
              <a:rPr lang="sr-Latn-RS" noProof="1"/>
              <a:t>Biblioteke </a:t>
            </a:r>
            <a:r>
              <a:rPr lang="sr-Latn-RS" b="1" noProof="1"/>
              <a:t>PDM</a:t>
            </a:r>
            <a:r>
              <a:rPr lang="sr-Latn-RS" noProof="1"/>
              <a:t>, </a:t>
            </a:r>
            <a:r>
              <a:rPr lang="sr-Latn-RS" b="1" noProof="1"/>
              <a:t>Arduino_LSM9DS1 </a:t>
            </a:r>
            <a:r>
              <a:rPr lang="sr-Latn-RS" noProof="1"/>
              <a:t>i </a:t>
            </a:r>
            <a:r>
              <a:rPr lang="sr-Latn-RS" b="1" noProof="1"/>
              <a:t>Arduino_LPS22HB </a:t>
            </a:r>
            <a:r>
              <a:rPr lang="sr-Latn-RS" noProof="1"/>
              <a:t>za rad sa mikrofonom, akcelerometrom i barometrom.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2D692E-9B9A-D084-313F-604ECCCA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8236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Korišćene tehnologije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E69FB-F03E-D030-187B-3471E10B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076" y="4214191"/>
            <a:ext cx="2337213" cy="16598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D79FC9-1368-2E23-9F57-3462C45C3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536" y="4383156"/>
            <a:ext cx="4786031" cy="149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5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Definisane glasovne komande</a:t>
            </a:r>
          </a:p>
        </p:txBody>
      </p:sp>
      <p:graphicFrame>
        <p:nvGraphicFramePr>
          <p:cNvPr id="4" name="Content Placeholder 3" descr="Process Arrows diagram showing 3 steps arranged from left to right with task descriptions fo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171095"/>
              </p:ext>
            </p:extLst>
          </p:nvPr>
        </p:nvGraphicFramePr>
        <p:xfrm>
          <a:off x="591377" y="2070651"/>
          <a:ext cx="11009245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151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C154B-DCB3-2822-D541-A0382E9D5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EB723-A154-787F-C0E7-4534FD4D6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97" y="914400"/>
            <a:ext cx="11549268" cy="487680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sr-Latn-RS" sz="1700" noProof="1"/>
              <a:t>Podaci za treniranje modela prikupljani su direktno sa Arduino uređaja korišćenjem ugrađenog mikrofona i platforme Edge Impulse. </a:t>
            </a:r>
          </a:p>
          <a:p>
            <a:pPr>
              <a:spcBef>
                <a:spcPts val="600"/>
              </a:spcBef>
            </a:pPr>
            <a:r>
              <a:rPr lang="sr-Latn-RS" sz="1700" noProof="1"/>
              <a:t>Za svaku komandu snimljen je skup uzoraka, a uz to je formirana i klasa </a:t>
            </a:r>
            <a:r>
              <a:rPr lang="sr-Latn-RS" sz="1700" b="1" noProof="1"/>
              <a:t>unknown</a:t>
            </a:r>
            <a:r>
              <a:rPr lang="sr-Latn-RS" sz="1700" noProof="1"/>
              <a:t> koja sadrži ostale zvuke i reči.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584D41-9B99-FBFE-E54C-F3524AE4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9209"/>
            <a:ext cx="960120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Edge Impuls – Data Acquisition</a:t>
            </a:r>
          </a:p>
        </p:txBody>
      </p:sp>
      <p:pic>
        <p:nvPicPr>
          <p:cNvPr id="2" name="Content Placeholder 2">
            <a:extLst>
              <a:ext uri="{FF2B5EF4-FFF2-40B4-BE49-F238E27FC236}">
                <a16:creationId xmlns:a16="http://schemas.microsoft.com/office/drawing/2014/main" id="{47903EBF-5899-0B30-5B6B-C771222C0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2" y="1927525"/>
            <a:ext cx="5877689" cy="4525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A43C4A-6A62-1587-8E8F-63F6C92C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318" y="2078990"/>
            <a:ext cx="5439747" cy="437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3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546C2-3E92-E9F6-2A76-D3975A28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18CB1-5A81-F77E-D47B-271D869DF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97" y="914400"/>
            <a:ext cx="11549268" cy="487680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sr-Latn-RS" sz="1600" noProof="1"/>
              <a:t>Definiše se osnovna struktura modela za obradu i klasifikaciju audio signala.</a:t>
            </a:r>
          </a:p>
          <a:p>
            <a:pPr>
              <a:spcBef>
                <a:spcPts val="600"/>
              </a:spcBef>
            </a:pPr>
            <a:r>
              <a:rPr lang="sr-Latn-RS" sz="1600" noProof="1"/>
              <a:t>Za obradu signala dodat je </a:t>
            </a:r>
            <a:r>
              <a:rPr lang="sr-Latn-RS" sz="1600" b="1" noProof="1"/>
              <a:t>MFE</a:t>
            </a:r>
            <a:r>
              <a:rPr lang="sr-Latn-RS" sz="1600" noProof="1"/>
              <a:t> blok, koji iz sirovog audio signala izdvaja najvažnije karakteristike, dok je za klasifikaciju dodat </a:t>
            </a:r>
            <a:r>
              <a:rPr lang="sr-Latn-RS" sz="1600" b="1" noProof="1"/>
              <a:t>Classification</a:t>
            </a:r>
            <a:r>
              <a:rPr lang="sr-Latn-RS" sz="1600" noProof="1"/>
              <a:t> blok, koji na osnovu tih karakteristika prepoznaje komande </a:t>
            </a:r>
            <a:r>
              <a:rPr lang="sr-Latn-RS" sz="1600" b="1" noProof="1"/>
              <a:t>go</a:t>
            </a:r>
            <a:r>
              <a:rPr lang="sr-Latn-RS" sz="1600" noProof="1"/>
              <a:t>, </a:t>
            </a:r>
            <a:r>
              <a:rPr lang="sr-Latn-RS" sz="1600" b="1" noProof="1"/>
              <a:t>stop</a:t>
            </a:r>
            <a:r>
              <a:rPr lang="sr-Latn-RS" sz="1600" noProof="1"/>
              <a:t> i </a:t>
            </a:r>
            <a:r>
              <a:rPr lang="sr-Latn-RS" sz="1600" b="1" noProof="1"/>
              <a:t>unknown</a:t>
            </a:r>
            <a:r>
              <a:rPr lang="sr-Latn-RS" sz="1600" noProof="1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B2C0B8-D11C-DC40-E729-C8DA2606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9209"/>
            <a:ext cx="960120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Edge Impuls – Create Impuls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88EF17-A2C6-5071-90E2-99055C379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899" y="1754674"/>
            <a:ext cx="9446201" cy="437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4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D5582-4B2A-E966-53A2-46583515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09B9-C7B2-E9FA-3E39-41E4FF8B8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914400"/>
            <a:ext cx="11492619" cy="4876801"/>
          </a:xfrm>
        </p:spPr>
        <p:txBody>
          <a:bodyPr>
            <a:normAutofit/>
          </a:bodyPr>
          <a:lstStyle/>
          <a:p>
            <a:r>
              <a:rPr lang="sr-Latn-RS" sz="1700" b="1" noProof="1"/>
              <a:t>MFE (Mel Frequency Energy) </a:t>
            </a:r>
            <a:r>
              <a:rPr lang="sr-Latn-RS" sz="1700" noProof="1"/>
              <a:t>blok koristi se za ekstrakciju najvažnijih karakteristika iz audio signala.</a:t>
            </a:r>
            <a:br>
              <a:rPr lang="sr-Latn-RS" sz="1700" noProof="1"/>
            </a:br>
            <a:r>
              <a:rPr lang="sr-Latn-RS" sz="1700" noProof="1"/>
              <a:t>Sirovi zvuk sa mikrofona se u ovom koraku transformiše u numeričke osobine koje model može da koristi za prepoznavanje komandi.</a:t>
            </a:r>
            <a:br>
              <a:rPr lang="sr-Latn-RS" sz="1700" noProof="1"/>
            </a:br>
            <a:r>
              <a:rPr lang="sr-Latn-RS" sz="1700" noProof="1"/>
              <a:t>U projektu je MFE izabran jer omogućava efikasnu obradu govora i stabilan rad modela na resursno ograničenom Arduino uredjaju.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06F7F8-B68B-4318-5E5D-4282279F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9209"/>
            <a:ext cx="960120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Edge Impuls – MFE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C10FDC-80EE-CF17-DD1B-89CB23DE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48"/>
          <a:stretch>
            <a:fillRect/>
          </a:stretch>
        </p:blipFill>
        <p:spPr>
          <a:xfrm>
            <a:off x="4460185" y="2322651"/>
            <a:ext cx="7731815" cy="4258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AA187-7F97-8D09-4193-346FD0E0A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06" y="2588509"/>
            <a:ext cx="4284679" cy="372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8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9F114-3ED5-EF9D-71A6-1F72C4B7B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8D9F3-5716-F115-7941-A55F6734E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14400"/>
            <a:ext cx="11989490" cy="487680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sr-Latn-RS" sz="1700" noProof="1"/>
              <a:t>U okviru </a:t>
            </a:r>
            <a:r>
              <a:rPr lang="sr-Latn-RS" sz="1700" b="1" noProof="1"/>
              <a:t>Classifier</a:t>
            </a:r>
            <a:r>
              <a:rPr lang="sr-Latn-RS" sz="1700" noProof="1"/>
              <a:t> koraka vrši se treniranje modela mašinskog učenja na osnovu karakteristika dobijenih iz MFE bloka.</a:t>
            </a:r>
          </a:p>
          <a:p>
            <a:pPr>
              <a:spcBef>
                <a:spcPts val="600"/>
              </a:spcBef>
            </a:pPr>
            <a:r>
              <a:rPr lang="sr-Latn-RS" sz="1700" noProof="1"/>
              <a:t>Model na osnovu tih karakteristika uči da razlikuje komande go, stop i unknown.</a:t>
            </a:r>
          </a:p>
          <a:p>
            <a:pPr>
              <a:spcBef>
                <a:spcPts val="600"/>
              </a:spcBef>
            </a:pPr>
            <a:r>
              <a:rPr lang="sr-Latn-RS" sz="1700" noProof="1"/>
              <a:t>Rezultat ovog koraka je istreniran klasifikator koji se kasnije eksportuje i izvršava direktno na Arduino uređaju.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7988E9-AD51-A07B-93D9-8EC9E3D0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9209"/>
            <a:ext cx="960120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Edge Impuls – Classifier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175741-BF99-738E-3C0B-A44D3FA117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15"/>
          <a:stretch>
            <a:fillRect/>
          </a:stretch>
        </p:blipFill>
        <p:spPr>
          <a:xfrm>
            <a:off x="0" y="1994866"/>
            <a:ext cx="3809215" cy="4539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2214CC-2445-4C73-43F3-CF232A762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215" y="1994866"/>
            <a:ext cx="4374555" cy="4410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0639AA-91EA-F8A2-BF9A-158DFAACE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281" y="2485886"/>
            <a:ext cx="4438719" cy="3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B8B0-44DD-3B7E-CE5A-7DA931BE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39532-0149-0572-A59E-4563F2EBF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914400"/>
            <a:ext cx="11714921" cy="487680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sr-Latn-RS" sz="1650" noProof="1"/>
              <a:t>Model Testing služi za proveru performansi modela nad nepoznatim test podacima. </a:t>
            </a:r>
          </a:p>
          <a:p>
            <a:pPr>
              <a:spcBef>
                <a:spcPts val="600"/>
              </a:spcBef>
            </a:pPr>
            <a:r>
              <a:rPr lang="sr-Latn-RS" sz="1650" noProof="1"/>
              <a:t>Na ovom koraku se analiziraju accuracy, confusion matrix i uspešnost razlikovanja klasa go, stop i unknown.</a:t>
            </a:r>
          </a:p>
          <a:p>
            <a:pPr>
              <a:spcBef>
                <a:spcPts val="600"/>
              </a:spcBef>
            </a:pPr>
            <a:r>
              <a:rPr lang="sr-Latn-RS" sz="1650" noProof="1"/>
              <a:t>Dobijeni rezultati pokazuju koliko je model spreman za deployment na Arduino uređaj.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EE67A-DE6A-1735-43EE-15BBC393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9209"/>
            <a:ext cx="960120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Edge Impuls – Model testing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DABB47-98F7-537A-D1A3-EA4A7F1AD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1946209"/>
            <a:ext cx="10382250" cy="460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21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4EDB-96A1-2115-ECE6-8C49227C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36723-A043-9145-5066-A18C04BB9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914400"/>
            <a:ext cx="11714921" cy="487680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sr-Latn-RS" sz="1700" noProof="1"/>
              <a:t>Deployment korak omogućava eksport istreniranog modela kao Arduino biblioteke.</a:t>
            </a:r>
          </a:p>
          <a:p>
            <a:pPr>
              <a:spcBef>
                <a:spcPts val="600"/>
              </a:spcBef>
            </a:pPr>
            <a:r>
              <a:rPr lang="sr-Latn-RS" sz="1700" noProof="1"/>
              <a:t>Model se zatim uključuje u Arduino aplikaciju i izvršava lokalno na uređaju.</a:t>
            </a:r>
          </a:p>
          <a:p>
            <a:pPr>
              <a:spcBef>
                <a:spcPts val="600"/>
              </a:spcBef>
            </a:pPr>
            <a:r>
              <a:rPr lang="sr-Latn-RS" sz="1700" noProof="1"/>
              <a:t>Time je ostvareno pokretanje modela mašinskog učenja direktno na mikrokontroleru.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0895EB-70B0-4D5E-D862-FBE9DAD3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9209"/>
            <a:ext cx="960120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Edge Impuls – Deployment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3AA6D7-6851-7604-2D6B-778771878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2226627"/>
            <a:ext cx="5943600" cy="42144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6CE970-0652-BC82-9680-C5EE218DB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806" y="4627201"/>
            <a:ext cx="5414061" cy="13163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25266F-CC98-5DAB-FEB7-6CE716A05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978" y="1889864"/>
            <a:ext cx="5463889" cy="26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2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4323-9C29-320D-FFB5-8E6ACC50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C97B7-9B43-0C4E-688D-CD1ADB394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914400"/>
            <a:ext cx="11714921" cy="487680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sr-Latn-RS" sz="1700" noProof="1"/>
              <a:t>Nakon deployment-a modela, u Arduino IDE je otvoren primer </a:t>
            </a:r>
            <a:r>
              <a:rPr lang="sr-Latn-RS" sz="1700" b="1" noProof="1"/>
              <a:t>nano_ble33_sense_microphone_continuous</a:t>
            </a:r>
            <a:r>
              <a:rPr lang="sr-Latn-RS" sz="1700" noProof="1"/>
              <a:t>, koji omogućava kontinuirano osluškuvanje zvuka sa mikrofona. Ovaj primer je poslužio kao osnova za razvoj finalne aplikacije sa glasovnim komandama, RGB signalizacijom i očitavanjem senzora.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878026-5356-DACC-3570-87645C5FA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129209"/>
            <a:ext cx="10382250" cy="695738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Implementacija sistema na Arduino uređaju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BFE1D9-5E45-F016-6C29-CF8F61530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1" y="1726067"/>
            <a:ext cx="8846756" cy="473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5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DE3D-72C8-4DDE-0F38-502E91BE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7FC8B-2F11-A830-35B6-EF1F9CA19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066800"/>
            <a:ext cx="11714921" cy="4724401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sr-Latn-RS" sz="1700" noProof="1"/>
              <a:t>Za realizaciju aplikacije u Arduino IDE okruženju uključene su biblioteke za rad sa mikrofonom, modelom mašinskog učenja i senzorima na uređaju.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Biblioteka </a:t>
            </a:r>
            <a:r>
              <a:rPr lang="sr-Latn-RS" sz="1700" b="1" i="1" noProof="1"/>
              <a:t>PDM</a:t>
            </a:r>
            <a:r>
              <a:rPr lang="sr-Latn-RS" sz="1700" noProof="1"/>
              <a:t> koristi se za prikupljanje audio signala sa ugrađenog mikrofona, </a:t>
            </a:r>
            <a:r>
              <a:rPr lang="sr-Latn-RS" sz="1700" b="1" i="1" noProof="1"/>
              <a:t>Arduino_LSM9DS1 </a:t>
            </a:r>
            <a:r>
              <a:rPr lang="sr-Latn-RS" sz="1700" noProof="1"/>
              <a:t>za rad sa akcelerometrom, a </a:t>
            </a:r>
            <a:r>
              <a:rPr lang="sr-Latn-RS" sz="1700" b="1" i="1" noProof="1"/>
              <a:t>Arduino_LPS22HB </a:t>
            </a:r>
            <a:r>
              <a:rPr lang="sr-Latn-RS" sz="1700" noProof="1"/>
              <a:t>za očitavanje vazdušnog pritiska.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Pored toga, uključena je i biblioteka eksportovanog Edge Impulse modela, koja omogućava lokalno izvršavanje inferencije i prepoznavanje komandi go, stop i unknown direktno na Arduino uređaju.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B40B68-63EE-631F-A8E8-0009726D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129209"/>
            <a:ext cx="1038225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Korišćene biblioteke u aplikaciji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A5666-43AE-E492-C4D9-F8B04E3F0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775" y="3247931"/>
            <a:ext cx="7677562" cy="173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9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1DFA1-FCC7-9AFE-91D0-6046313AA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26423-CB5E-EFAD-7196-6F1E79CFC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824948"/>
            <a:ext cx="11714921" cy="4966254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sr-Latn-RS" sz="1700" b="1" noProof="1"/>
              <a:t>setup() </a:t>
            </a:r>
            <a:r>
              <a:rPr lang="sr-Latn-RS" sz="1700" noProof="1"/>
              <a:t>funkcija služi za inicijalizaciju svih delova sistema.</a:t>
            </a:r>
            <a:br>
              <a:rPr lang="sr-Latn-RS" sz="1700" noProof="1"/>
            </a:br>
            <a:r>
              <a:rPr lang="sr-Latn-RS" sz="1700" noProof="1"/>
              <a:t>U njoj se pokreću serijska komunikacija, LED signalizacija, akcelerometar I barometar.</a:t>
            </a:r>
            <a:br>
              <a:rPr lang="sr-Latn-RS" sz="1700" noProof="1"/>
            </a:br>
            <a:r>
              <a:rPr lang="sr-Latn-RS" sz="1700" noProof="1"/>
              <a:t>Na kraju se sistem postavlja u početno stanje mirovanja, spreman za detekciju komande go.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73015A-85D1-76F0-D46E-F2C45C088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129209"/>
            <a:ext cx="1038225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Inicijalizacija sistema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66CF6D-3C08-DC8F-BCED-34C391D70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02" y="1856945"/>
            <a:ext cx="4524296" cy="459520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1D7054-A145-80F6-88B9-6F85C63D0770}"/>
              </a:ext>
            </a:extLst>
          </p:cNvPr>
          <p:cNvCxnSpPr>
            <a:cxnSpLocks/>
          </p:cNvCxnSpPr>
          <p:nvPr/>
        </p:nvCxnSpPr>
        <p:spPr>
          <a:xfrm>
            <a:off x="3390900" y="3308075"/>
            <a:ext cx="1713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953516-C328-CE70-E063-D350E21F7FEB}"/>
              </a:ext>
            </a:extLst>
          </p:cNvPr>
          <p:cNvCxnSpPr>
            <a:cxnSpLocks/>
          </p:cNvCxnSpPr>
          <p:nvPr/>
        </p:nvCxnSpPr>
        <p:spPr>
          <a:xfrm>
            <a:off x="4238625" y="4629150"/>
            <a:ext cx="866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F2FEA2-469D-1EE1-4C90-E6B1EA1FBA76}"/>
              </a:ext>
            </a:extLst>
          </p:cNvPr>
          <p:cNvCxnSpPr>
            <a:cxnSpLocks/>
          </p:cNvCxnSpPr>
          <p:nvPr/>
        </p:nvCxnSpPr>
        <p:spPr>
          <a:xfrm>
            <a:off x="4590548" y="5467350"/>
            <a:ext cx="514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0B1CEAF-2E77-801E-42A6-BDF7013C0649}"/>
              </a:ext>
            </a:extLst>
          </p:cNvPr>
          <p:cNvSpPr txBox="1"/>
          <p:nvPr/>
        </p:nvSpPr>
        <p:spPr>
          <a:xfrm>
            <a:off x="5104898" y="5317891"/>
            <a:ext cx="3295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400" noProof="1">
                <a:solidFill>
                  <a:srgbClr val="C00000"/>
                </a:solidFill>
              </a:rPr>
              <a:t>Inicijalizacija senzora - barometra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94F10E-CCE4-73AE-21B3-171D25323418}"/>
              </a:ext>
            </a:extLst>
          </p:cNvPr>
          <p:cNvSpPr txBox="1"/>
          <p:nvPr/>
        </p:nvSpPr>
        <p:spPr>
          <a:xfrm>
            <a:off x="5104898" y="4459873"/>
            <a:ext cx="3590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400" noProof="1">
                <a:solidFill>
                  <a:srgbClr val="C00000"/>
                </a:solidFill>
              </a:rPr>
              <a:t>Inicijalizacija senzora - akcelerometra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CCDEDC-A0D9-C4A9-6095-9868275290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58" t="6569" r="12920" b="15378"/>
          <a:stretch>
            <a:fillRect/>
          </a:stretch>
        </p:blipFill>
        <p:spPr>
          <a:xfrm>
            <a:off x="8560637" y="3712620"/>
            <a:ext cx="2922240" cy="232043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DD99196-319C-F2CA-7560-DF006E09F2A7}"/>
              </a:ext>
            </a:extLst>
          </p:cNvPr>
          <p:cNvSpPr txBox="1"/>
          <p:nvPr/>
        </p:nvSpPr>
        <p:spPr>
          <a:xfrm>
            <a:off x="5257298" y="3311722"/>
            <a:ext cx="2581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400" noProof="1">
                <a:solidFill>
                  <a:srgbClr val="C00000"/>
                </a:solidFill>
              </a:rPr>
              <a:t>Inicijalizacija LED dioda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C41990-1859-9BB9-CFCB-8ECFC0D3B824}"/>
              </a:ext>
            </a:extLst>
          </p:cNvPr>
          <p:cNvSpPr txBox="1"/>
          <p:nvPr/>
        </p:nvSpPr>
        <p:spPr>
          <a:xfrm>
            <a:off x="9455937" y="3404842"/>
            <a:ext cx="1118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400" noProof="1">
                <a:solidFill>
                  <a:srgbClr val="C00000"/>
                </a:solidFill>
              </a:rPr>
              <a:t>Idle stanje:</a:t>
            </a:r>
          </a:p>
        </p:txBody>
      </p:sp>
    </p:spTree>
    <p:extLst>
      <p:ext uri="{BB962C8B-B14F-4D97-AF65-F5344CB8AC3E}">
        <p14:creationId xmlns:p14="http://schemas.microsoft.com/office/powerpoint/2010/main" val="295100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30F69-0E7A-26F2-52C4-AA1D7E9A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B6F56-FBDD-6337-2BC1-D6B3AA7E7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352550"/>
            <a:ext cx="11714921" cy="443865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sr-Latn-RS" sz="1700" noProof="1"/>
              <a:t>Sistem neprekidno prikuplja nove audio uzorke sa mikrofona i priprema ih za obradu.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Najpre se vrši očitavanje novog segmenta zvučnog signala, nakon čega se formira objekat </a:t>
            </a:r>
            <a:r>
              <a:rPr lang="sr-Latn-RS" sz="1700" i="1" noProof="1"/>
              <a:t>signal_t</a:t>
            </a:r>
            <a:r>
              <a:rPr lang="sr-Latn-RS" sz="1700" noProof="1"/>
              <a:t>, koji predstavlja ulaz modelu mašinskog učenja.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Nad tim signalom se zatim poziva funkcija </a:t>
            </a:r>
            <a:r>
              <a:rPr lang="sr-Latn-RS" sz="1700" i="1" noProof="1"/>
              <a:t>run_classifier_continuous(), </a:t>
            </a:r>
            <a:r>
              <a:rPr lang="sr-Latn-RS" sz="1700" noProof="1"/>
              <a:t>koja vrši inferenciju i izračunava verovatnoće pripadnosti klasama </a:t>
            </a:r>
            <a:r>
              <a:rPr lang="sr-Latn-RS" sz="1700" b="1" noProof="1"/>
              <a:t>go</a:t>
            </a:r>
            <a:r>
              <a:rPr lang="sr-Latn-RS" sz="1700" noProof="1"/>
              <a:t>, </a:t>
            </a:r>
            <a:r>
              <a:rPr lang="sr-Latn-RS" sz="1700" b="1" noProof="1"/>
              <a:t>stop</a:t>
            </a:r>
            <a:r>
              <a:rPr lang="sr-Latn-RS" sz="1700" noProof="1"/>
              <a:t> i </a:t>
            </a:r>
            <a:r>
              <a:rPr lang="sr-Latn-RS" sz="1700" b="1" noProof="1"/>
              <a:t>unknown</a:t>
            </a:r>
            <a:r>
              <a:rPr lang="sr-Latn-RS" sz="1700" noProof="1"/>
              <a:t>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Na ovaj način je ostvareno kontinuirano prepoznavanje glasovnih komandi u realnom vremenu.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BFF60B-94F9-0288-734B-975EAA347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129208"/>
            <a:ext cx="10382250" cy="1106865"/>
          </a:xfrm>
        </p:spPr>
        <p:txBody>
          <a:bodyPr>
            <a:normAutofit/>
          </a:bodyPr>
          <a:lstStyle/>
          <a:p>
            <a:pPr algn="ctr"/>
            <a:r>
              <a:rPr lang="sr-Latn-RS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Kontinuirano osluškivanje audio signala i pokretanje klasifikacije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EB37AD-2875-6357-715D-E4B8A17E2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063" y="3305175"/>
            <a:ext cx="6437673" cy="285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4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9C40-A92A-4700-74C2-714663C0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246D0-DF22-730C-A00C-842FB6B5F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301" y="1295400"/>
            <a:ext cx="4962524" cy="4616726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sr-Latn-RS" sz="1800" noProof="1"/>
              <a:t>Nakon inferencije model vraća verovatnoće za klase </a:t>
            </a:r>
            <a:r>
              <a:rPr lang="sr-Latn-RS" i="1" noProof="1"/>
              <a:t>go</a:t>
            </a:r>
            <a:r>
              <a:rPr lang="sr-Latn-RS" sz="1800" noProof="1"/>
              <a:t>, </a:t>
            </a:r>
            <a:r>
              <a:rPr lang="sr-Latn-RS" i="1" noProof="1"/>
              <a:t>stop</a:t>
            </a:r>
            <a:r>
              <a:rPr lang="sr-Latn-RS" sz="1800" noProof="1"/>
              <a:t> i </a:t>
            </a:r>
            <a:r>
              <a:rPr lang="sr-Latn-RS" i="1" noProof="1"/>
              <a:t>unknown</a:t>
            </a:r>
            <a:r>
              <a:rPr lang="sr-Latn-RS" sz="1800" noProof="1"/>
              <a:t>.</a:t>
            </a:r>
            <a:br>
              <a:rPr lang="sr-Latn-RS" sz="1800" noProof="1"/>
            </a:br>
            <a:endParaRPr lang="sr-Latn-RS" sz="1800" noProof="1"/>
          </a:p>
          <a:p>
            <a:pPr>
              <a:spcBef>
                <a:spcPts val="1200"/>
              </a:spcBef>
            </a:pPr>
            <a:r>
              <a:rPr lang="sr-Latn-RS" sz="1800" noProof="1"/>
              <a:t>Te vrednosti se u programu izdvajaju i porede, kako bi se utvrdilo da li je prepoznata validna komanda.</a:t>
            </a:r>
            <a:br>
              <a:rPr lang="sr-Latn-RS" sz="1800" noProof="1"/>
            </a:br>
            <a:endParaRPr lang="sr-Latn-RS" sz="1800" noProof="1"/>
          </a:p>
          <a:p>
            <a:pPr>
              <a:spcBef>
                <a:spcPts val="1200"/>
              </a:spcBef>
            </a:pPr>
            <a:r>
              <a:rPr lang="sr-Latn-RS" sz="1800" noProof="1"/>
              <a:t>Dobijeni rezultati koriste se za dalje upravljanje radom sistema.</a:t>
            </a:r>
            <a:endParaRPr lang="sr-Latn-RS" sz="1700" noProof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F2B294-AA0F-E981-519E-5E3D1B2F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4" y="129209"/>
            <a:ext cx="11287125" cy="695738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Obrada rezultata klasifikacije glasovnih komandi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D4A88F-7CBD-8373-402D-71CE86CC0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03" y="947737"/>
            <a:ext cx="4601805" cy="53120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84BF56-F382-2780-DB0E-DE05C2F4C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1" y="4243323"/>
            <a:ext cx="4639322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3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00B6-D0AA-A128-5D85-51690D37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2A363-D5BB-4BA9-F17D-D0C1BFFA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009650"/>
            <a:ext cx="11714921" cy="478155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sr-Latn-RS" sz="1700" noProof="1"/>
              <a:t>Komanda </a:t>
            </a:r>
            <a:r>
              <a:rPr lang="sr-Latn-RS" sz="1700" b="1" noProof="1"/>
              <a:t>go</a:t>
            </a:r>
            <a:r>
              <a:rPr lang="sr-Latn-RS" sz="1700" noProof="1"/>
              <a:t> aktivira monitoring sistema.</a:t>
            </a:r>
            <a:br>
              <a:rPr lang="sr-Latn-RS" sz="1700" noProof="1"/>
            </a:br>
            <a:r>
              <a:rPr lang="sr-Latn-RS" sz="1700" noProof="1"/>
              <a:t>U programu se proverava da li klasa </a:t>
            </a:r>
            <a:r>
              <a:rPr lang="sr-Latn-RS" sz="1700" b="1" noProof="1"/>
              <a:t>go</a:t>
            </a:r>
            <a:r>
              <a:rPr lang="sr-Latn-RS" sz="1700" noProof="1"/>
              <a:t> ima najveću verovatnoću i da li prelazi definisani prag pouzdanosti.</a:t>
            </a:r>
            <a:br>
              <a:rPr lang="sr-Latn-RS" sz="1700" noProof="1"/>
            </a:br>
            <a:r>
              <a:rPr lang="sr-Latn-RS" sz="1700" noProof="1"/>
              <a:t>Ako je uslov ispunjen, monitoring se uključuje i aktivira se LED signalizacija.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D2BFC5-4A09-4526-BDDC-0E7E5B002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129209"/>
            <a:ext cx="1038225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Implementacija komande 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F911B3-73BB-3BF2-0950-4C8876BEA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7" y="2137278"/>
            <a:ext cx="3357873" cy="1970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5D0D28-E92F-02BE-4A5E-6EB7D7EDE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034" y="2122986"/>
            <a:ext cx="4455117" cy="46058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DE45D5-E9FF-021F-7498-68256FD4FB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500" t="13233" r="16042" b="17361"/>
          <a:stretch>
            <a:fillRect/>
          </a:stretch>
        </p:blipFill>
        <p:spPr>
          <a:xfrm>
            <a:off x="8314003" y="2132015"/>
            <a:ext cx="2935022" cy="21380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F658B3-08B5-9BDE-AEAE-446C9BDF47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854"/>
          <a:stretch>
            <a:fillRect/>
          </a:stretch>
        </p:blipFill>
        <p:spPr>
          <a:xfrm>
            <a:off x="7931070" y="4362629"/>
            <a:ext cx="4256902" cy="109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2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E29C-54CC-E01A-9EF2-D45AF108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C6204-0EC8-3629-4FB5-F5211D79B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143000"/>
            <a:ext cx="11714921" cy="4648201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sr-Latn-RS" sz="1800" noProof="1"/>
              <a:t>Komanda </a:t>
            </a:r>
            <a:r>
              <a:rPr lang="sr-Latn-RS" b="1" noProof="1"/>
              <a:t>stop</a:t>
            </a:r>
            <a:r>
              <a:rPr lang="sr-Latn-RS" sz="1800" noProof="1"/>
              <a:t> zaustavlja monitoring sistema.</a:t>
            </a:r>
          </a:p>
          <a:p>
            <a:pPr>
              <a:spcBef>
                <a:spcPts val="1200"/>
              </a:spcBef>
            </a:pPr>
            <a:r>
              <a:rPr lang="sr-Latn-RS" sz="1800" noProof="1"/>
              <a:t>Ako klasa </a:t>
            </a:r>
            <a:r>
              <a:rPr lang="sr-Latn-RS" b="1" noProof="1"/>
              <a:t>stop</a:t>
            </a:r>
            <a:r>
              <a:rPr lang="sr-Latn-RS" sz="1800" noProof="1"/>
              <a:t> ima najveću verovatnoću i prelazi definisani prag, sistem prelazi u neaktivno stanje.</a:t>
            </a:r>
          </a:p>
          <a:p>
            <a:pPr>
              <a:spcBef>
                <a:spcPts val="1200"/>
              </a:spcBef>
            </a:pPr>
            <a:r>
              <a:rPr lang="sr-Latn-RS" sz="1800" noProof="1"/>
              <a:t>Tom prilikom se gasi ugrađena LED, a </a:t>
            </a:r>
            <a:r>
              <a:rPr lang="sr-Latn-RS" sz="1800" b="1" noProof="1"/>
              <a:t>uključuje se plava RGB dioda</a:t>
            </a:r>
            <a:r>
              <a:rPr lang="sr-Latn-RS" sz="1800" noProof="1"/>
              <a:t> kao indikator idle režima.</a:t>
            </a:r>
            <a:endParaRPr lang="sr-Latn-RS" sz="1700" noProof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F90C6F-D70D-5931-7A4E-C1209DFE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129209"/>
            <a:ext cx="1038225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Implementacija komande </a:t>
            </a:r>
            <a:r>
              <a:rPr lang="sr-Latn-RS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STOP</a:t>
            </a:r>
            <a:endParaRPr lang="sr-Latn-RS" sz="40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68A85-BB96-CB3A-6C53-78B2CCB96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67" y="3086100"/>
            <a:ext cx="3617950" cy="21659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C44263-3150-52AB-64D6-530DE1836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91" t="8332" r="16458" b="19617"/>
          <a:stretch>
            <a:fillRect/>
          </a:stretch>
        </p:blipFill>
        <p:spPr>
          <a:xfrm>
            <a:off x="6057900" y="2854329"/>
            <a:ext cx="3286991" cy="249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7A0FF-D61E-9872-B2F2-4D868A76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EA72A-94D6-C7BF-27A2-E4148E1E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824948"/>
            <a:ext cx="11714921" cy="4966254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sr-Latn-RS" sz="1700" noProof="1"/>
              <a:t>Dok je monitoring aktivan, sistem očitava podatke sa akcelerometra po X, Y i Z osi.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Na osnovu tih vrednosti izračunava se ukupna magnituda ubrzanja, koja predstavlja meru intenziteta pokreta uređaja.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Ako izračunata magnituda pređe unapred definisani prag, sistem zaključuje da je detektovan pokret i </a:t>
            </a:r>
            <a:r>
              <a:rPr lang="sr-Latn-RS" sz="1700" b="1" noProof="1"/>
              <a:t>uključuje crvenu RGB diodu</a:t>
            </a:r>
            <a:r>
              <a:rPr lang="sr-Latn-RS" sz="1700" noProof="1"/>
              <a:t>, koja kratko signalizira da je pločica pomerena.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Istovremeno se u Serial Monitoru ispisuje poruka o detektovanom pokretu.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9B8FA5-1489-C5CA-9251-E54A3F93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129209"/>
            <a:ext cx="10382250" cy="695738"/>
          </a:xfrm>
        </p:spPr>
        <p:txBody>
          <a:bodyPr>
            <a:normAutofit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Detekcija pokreta pomoću akcelerometra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F87F13-004F-B1BA-1545-8B919FF5A6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89" r="22523" b="7928"/>
          <a:stretch>
            <a:fillRect/>
          </a:stretch>
        </p:blipFill>
        <p:spPr>
          <a:xfrm rot="5400000">
            <a:off x="6837088" y="2059094"/>
            <a:ext cx="2355467" cy="33067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01937E-FBEB-3889-656D-6E1FF942F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969" y="2657145"/>
            <a:ext cx="3791312" cy="34776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214749-64F8-50A9-C0FB-51BF48F4D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281" y="4753519"/>
            <a:ext cx="5334744" cy="138131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03FD4A-C4AA-359F-44AF-52E858830A18}"/>
              </a:ext>
            </a:extLst>
          </p:cNvPr>
          <p:cNvSpPr/>
          <p:nvPr/>
        </p:nvSpPr>
        <p:spPr>
          <a:xfrm>
            <a:off x="5583308" y="4999389"/>
            <a:ext cx="1646168" cy="2298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348653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C6581-C278-E487-7D83-B07BDDBC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5CEBF-CEC5-3236-27E0-1BEC47BDC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219200"/>
            <a:ext cx="11714921" cy="457200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sr-Latn-RS" sz="1700" noProof="1"/>
              <a:t>Dok je monitoring aktivan, sistem periodički očitava vazdušni pritisak sa barometra.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Vrednosti se prikazuju u Serial Monitoru nakon unapred definisanog vremenskog intervala.</a:t>
            </a:r>
          </a:p>
          <a:p>
            <a:pPr>
              <a:spcBef>
                <a:spcPts val="1200"/>
              </a:spcBef>
            </a:pPr>
            <a:r>
              <a:rPr lang="sr-Latn-RS" sz="1700" noProof="1"/>
              <a:t>Na taj način korisnik moze da prati promene pritiska u realnom vremenu.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1172A3-994D-C482-D93E-0F35DDAF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29208"/>
            <a:ext cx="11714920" cy="842342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Očitavanje vazdušnog pritiska pomoću barometra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0B314-962F-9A31-A5E8-F95E55BD3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521" y="2858557"/>
            <a:ext cx="6134956" cy="1457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6D1ACD-1A32-7234-3D0C-9973BA972F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854"/>
          <a:stretch>
            <a:fillRect/>
          </a:stretch>
        </p:blipFill>
        <p:spPr>
          <a:xfrm>
            <a:off x="3611840" y="4449435"/>
            <a:ext cx="4968319" cy="12763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8F12CEB-60A6-ED2A-CA49-7515B416EDF8}"/>
              </a:ext>
            </a:extLst>
          </p:cNvPr>
          <p:cNvSpPr/>
          <p:nvPr/>
        </p:nvSpPr>
        <p:spPr>
          <a:xfrm>
            <a:off x="3611840" y="4449435"/>
            <a:ext cx="1646168" cy="2298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105143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2667000"/>
            <a:ext cx="9601200" cy="1123950"/>
          </a:xfrm>
        </p:spPr>
        <p:txBody>
          <a:bodyPr/>
          <a:lstStyle/>
          <a:p>
            <a:pPr algn="ctr"/>
            <a:r>
              <a:rPr lang="sr-Latn-RS" noProof="1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3004</TotalTime>
  <Words>1624</Words>
  <Application>Microsoft Office PowerPoint</Application>
  <PresentationFormat>Widescreen</PresentationFormat>
  <Paragraphs>117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Diamond Grid 16x9</vt:lpstr>
      <vt:lpstr>UbiComp – Projekat 1</vt:lpstr>
      <vt:lpstr>Ideja sistema</vt:lpstr>
      <vt:lpstr>Korišćene tehnologije</vt:lpstr>
      <vt:lpstr>Definisane glasovne komande</vt:lpstr>
      <vt:lpstr>Edge Impuls – Data Acquisition</vt:lpstr>
      <vt:lpstr>Edge Impuls – Create Impuls</vt:lpstr>
      <vt:lpstr>Edge Impuls – MFE</vt:lpstr>
      <vt:lpstr>Edge Impuls – Classifier</vt:lpstr>
      <vt:lpstr>Edge Impuls – Model testing</vt:lpstr>
      <vt:lpstr>Edge Impuls – Deployment</vt:lpstr>
      <vt:lpstr>Implementacija sistema na Arduino uređaju</vt:lpstr>
      <vt:lpstr>Korišćene biblioteke u aplikaciji</vt:lpstr>
      <vt:lpstr>Inicijalizacija sistema</vt:lpstr>
      <vt:lpstr>Kontinuirano osluškivanje audio signala i pokretanje klasifikacije</vt:lpstr>
      <vt:lpstr>Obrada rezultata klasifikacije glasovnih komandi</vt:lpstr>
      <vt:lpstr>Implementacija komande GO</vt:lpstr>
      <vt:lpstr>Implementacija komande STOP</vt:lpstr>
      <vt:lpstr>Detekcija pokreta pomoću akcelerometra</vt:lpstr>
      <vt:lpstr>Očitavanje vazdušnog pritiska pomoću barometra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Anastasija Vasić</dc:creator>
  <cp:lastModifiedBy>Anastasija Vasić</cp:lastModifiedBy>
  <cp:revision>7</cp:revision>
  <dcterms:created xsi:type="dcterms:W3CDTF">2026-05-21T19:10:14Z</dcterms:created>
  <dcterms:modified xsi:type="dcterms:W3CDTF">2026-05-23T21:15:11Z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