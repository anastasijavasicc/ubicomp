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1" r:id="rId2"/>
    <p:sldId id="257" r:id="rId3"/>
    <p:sldId id="288" r:id="rId4"/>
    <p:sldId id="292" r:id="rId5"/>
    <p:sldId id="289" r:id="rId6"/>
    <p:sldId id="290" r:id="rId7"/>
    <p:sldId id="291" r:id="rId8"/>
    <p:sldId id="293" r:id="rId9"/>
    <p:sldId id="294" r:id="rId10"/>
    <p:sldId id="295" r:id="rId11"/>
    <p:sldId id="29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954" autoAdjust="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dirty="0" err="1"/>
              <a:t>treceg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razvijena</a:t>
            </a:r>
            <a:r>
              <a:rPr lang="en-US" dirty="0"/>
              <a:t> je </a:t>
            </a:r>
            <a:r>
              <a:rPr lang="en-US" dirty="0" err="1"/>
              <a:t>mobilna</a:t>
            </a:r>
            <a:r>
              <a:rPr lang="en-US" dirty="0"/>
              <a:t> Android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prosirenje</a:t>
            </a:r>
            <a:r>
              <a:rPr lang="en-US" dirty="0"/>
              <a:t> IoT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ulogu</a:t>
            </a:r>
            <a:r>
              <a:rPr lang="en-US" dirty="0"/>
              <a:t> </a:t>
            </a:r>
            <a:r>
              <a:rPr lang="en-US" dirty="0" err="1"/>
              <a:t>kontrolnog</a:t>
            </a:r>
            <a:r>
              <a:rPr lang="en-US" dirty="0"/>
              <a:t> dashboard-a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omogucava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prijem</a:t>
            </a:r>
            <a:r>
              <a:rPr lang="en-US" dirty="0"/>
              <a:t> </a:t>
            </a:r>
            <a:r>
              <a:rPr lang="en-US" dirty="0" err="1"/>
              <a:t>notifikacija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sistemom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64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Android </a:t>
            </a:r>
            <a:r>
              <a:rPr lang="en-US" sz="1200" dirty="0" err="1"/>
              <a:t>aplikacija</a:t>
            </a:r>
            <a:r>
              <a:rPr lang="en-US" sz="1200" dirty="0"/>
              <a:t> </a:t>
            </a:r>
            <a:r>
              <a:rPr lang="en-US" sz="1200" dirty="0" err="1"/>
              <a:t>komunicira</a:t>
            </a:r>
            <a:r>
              <a:rPr lang="en-US" sz="1200" dirty="0"/>
              <a:t> </a:t>
            </a:r>
            <a:r>
              <a:rPr lang="en-US" sz="1200" dirty="0" err="1"/>
              <a:t>sa</a:t>
            </a:r>
            <a:r>
              <a:rPr lang="en-US" sz="1200" dirty="0"/>
              <a:t> Raspberry Pi </a:t>
            </a:r>
            <a:r>
              <a:rPr lang="en-US" sz="1200" dirty="0" err="1"/>
              <a:t>uredjajem</a:t>
            </a:r>
            <a:r>
              <a:rPr lang="en-US" sz="1200" dirty="0"/>
              <a:t> </a:t>
            </a:r>
            <a:r>
              <a:rPr lang="en-US" sz="1200" dirty="0" err="1"/>
              <a:t>preko</a:t>
            </a:r>
            <a:r>
              <a:rPr lang="en-US" sz="1200" dirty="0"/>
              <a:t> WebSocket </a:t>
            </a:r>
            <a:r>
              <a:rPr lang="en-US" sz="1200" dirty="0" err="1"/>
              <a:t>servisa</a:t>
            </a:r>
            <a:r>
              <a:rPr lang="en-US" sz="1200" dirty="0"/>
              <a:t> mobile-dashboard-</a:t>
            </a:r>
            <a:r>
              <a:rPr lang="en-US" sz="1200" dirty="0" err="1"/>
              <a:t>api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Backend </a:t>
            </a:r>
            <a:r>
              <a:rPr lang="en-US" sz="1200" dirty="0" err="1"/>
              <a:t>servis</a:t>
            </a:r>
            <a:r>
              <a:rPr lang="en-US" sz="1200" dirty="0"/>
              <a:t> </a:t>
            </a:r>
            <a:r>
              <a:rPr lang="en-US" sz="1200" dirty="0" err="1"/>
              <a:t>preuzima</a:t>
            </a:r>
            <a:r>
              <a:rPr lang="en-US" sz="1200" dirty="0"/>
              <a:t> </a:t>
            </a:r>
            <a:r>
              <a:rPr lang="en-US" sz="1200" dirty="0" err="1"/>
              <a:t>podatke</a:t>
            </a:r>
            <a:r>
              <a:rPr lang="en-US" sz="1200" dirty="0"/>
              <a:t> </a:t>
            </a:r>
            <a:r>
              <a:rPr lang="en-US" sz="1200" dirty="0" err="1"/>
              <a:t>iz</a:t>
            </a:r>
            <a:r>
              <a:rPr lang="en-US" sz="1200" dirty="0"/>
              <a:t> </a:t>
            </a:r>
            <a:r>
              <a:rPr lang="en-US" sz="1200" dirty="0" err="1"/>
              <a:t>postojeceg</a:t>
            </a:r>
            <a:r>
              <a:rPr lang="en-US" sz="1200" dirty="0"/>
              <a:t> MQTT </a:t>
            </a:r>
            <a:r>
              <a:rPr lang="en-US" sz="1200" dirty="0" err="1"/>
              <a:t>sistema</a:t>
            </a:r>
            <a:r>
              <a:rPr lang="en-US" sz="1200" dirty="0"/>
              <a:t>, </a:t>
            </a:r>
            <a:r>
              <a:rPr lang="en-US" sz="1200" dirty="0" err="1"/>
              <a:t>prosledjuje</a:t>
            </a:r>
            <a:r>
              <a:rPr lang="en-US" sz="1200" dirty="0"/>
              <a:t> </a:t>
            </a:r>
            <a:r>
              <a:rPr lang="en-US" sz="1200" dirty="0" err="1"/>
              <a:t>ih</a:t>
            </a:r>
            <a:r>
              <a:rPr lang="en-US" sz="1200" dirty="0"/>
              <a:t> </a:t>
            </a:r>
            <a:r>
              <a:rPr lang="en-US" sz="1200" dirty="0" err="1"/>
              <a:t>aplikaciji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prima </a:t>
            </a:r>
            <a:r>
              <a:rPr lang="en-US" sz="1200" dirty="0" err="1"/>
              <a:t>komande</a:t>
            </a:r>
            <a:r>
              <a:rPr lang="en-US" sz="1200" dirty="0"/>
              <a:t> </a:t>
            </a:r>
            <a:r>
              <a:rPr lang="en-US" sz="1200" dirty="0" err="1"/>
              <a:t>iz</a:t>
            </a:r>
            <a:r>
              <a:rPr lang="en-US" sz="1200" dirty="0"/>
              <a:t> </a:t>
            </a:r>
            <a:r>
              <a:rPr lang="en-US" sz="1200" dirty="0" err="1"/>
              <a:t>aplikacije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Na taj </a:t>
            </a:r>
            <a:r>
              <a:rPr lang="en-US" sz="1200" dirty="0" err="1"/>
              <a:t>nacin</a:t>
            </a:r>
            <a:r>
              <a:rPr lang="en-US" sz="1200" dirty="0"/>
              <a:t> </a:t>
            </a:r>
            <a:r>
              <a:rPr lang="en-US" sz="1200" dirty="0" err="1"/>
              <a:t>ostvarena</a:t>
            </a:r>
            <a:r>
              <a:rPr lang="en-US" sz="1200" dirty="0"/>
              <a:t> je </a:t>
            </a:r>
            <a:r>
              <a:rPr lang="en-US" sz="1200" dirty="0" err="1"/>
              <a:t>dvosmerna</a:t>
            </a:r>
            <a:r>
              <a:rPr lang="en-US" sz="1200" dirty="0"/>
              <a:t> </a:t>
            </a:r>
            <a:r>
              <a:rPr lang="en-US" sz="1200" dirty="0" err="1"/>
              <a:t>komunikacija</a:t>
            </a:r>
            <a:r>
              <a:rPr lang="en-US" sz="1200" dirty="0"/>
              <a:t> </a:t>
            </a:r>
            <a:r>
              <a:rPr lang="en-US" sz="1200" dirty="0" err="1"/>
              <a:t>izmedju</a:t>
            </a:r>
            <a:r>
              <a:rPr lang="en-US" sz="1200" dirty="0"/>
              <a:t> </a:t>
            </a:r>
            <a:r>
              <a:rPr lang="en-US" sz="1200" dirty="0" err="1"/>
              <a:t>mobilne</a:t>
            </a:r>
            <a:r>
              <a:rPr lang="en-US" sz="1200" dirty="0"/>
              <a:t> </a:t>
            </a:r>
            <a:r>
              <a:rPr lang="en-US" sz="1200" dirty="0" err="1"/>
              <a:t>aplikacije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IoT </a:t>
            </a:r>
            <a:r>
              <a:rPr lang="en-US" sz="1200" dirty="0" err="1"/>
              <a:t>sistema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58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AB52-71D7-C27C-C2E7-F06B2876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3DFCA-6854-271C-C4A2-2BB74C61E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8650E-91FC-7E32-FDC9-98B5D7E70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Aplikacija</a:t>
            </a:r>
            <a:r>
              <a:rPr lang="en-US" dirty="0"/>
              <a:t> je </a:t>
            </a:r>
            <a:r>
              <a:rPr lang="en-US" dirty="0" err="1"/>
              <a:t>organizovana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dashboard </a:t>
            </a:r>
            <a:r>
              <a:rPr lang="en-US" dirty="0" err="1"/>
              <a:t>sa</a:t>
            </a:r>
            <a:r>
              <a:rPr lang="en-US" dirty="0"/>
              <a:t> vise </a:t>
            </a:r>
            <a:r>
              <a:rPr lang="en-US" dirty="0" err="1"/>
              <a:t>funkcionalnih</a:t>
            </a:r>
            <a:r>
              <a:rPr lang="en-US" dirty="0"/>
              <a:t> </a:t>
            </a:r>
            <a:r>
              <a:rPr lang="en-US" dirty="0" err="1"/>
              <a:t>celina</a:t>
            </a:r>
            <a:r>
              <a:rPr lang="en-US" dirty="0"/>
              <a:t>, </a:t>
            </a:r>
            <a:r>
              <a:rPr lang="en-US" dirty="0" err="1"/>
              <a:t>cime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razdvojeni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pregled</a:t>
            </a:r>
            <a:r>
              <a:rPr lang="en-US" dirty="0"/>
              <a:t> </a:t>
            </a:r>
            <a:r>
              <a:rPr lang="en-US" dirty="0" err="1"/>
              <a:t>dogadjaja</a:t>
            </a:r>
            <a:r>
              <a:rPr lang="en-US" dirty="0"/>
              <a:t>,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podesavanja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4061-C72F-62B5-2884-C40947371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6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2604-6A13-E14D-E952-C382D5CD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2DC6-5F00-E419-54B7-9CE570EE8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BD847-7DC6-5216-AE07-66BA5A851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centralni</a:t>
            </a:r>
            <a:r>
              <a:rPr lang="en-US" dirty="0"/>
              <a:t> </a:t>
            </a:r>
            <a:r>
              <a:rPr lang="en-US" dirty="0" err="1"/>
              <a:t>ekran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omogucava</a:t>
            </a:r>
            <a:r>
              <a:rPr lang="en-US" dirty="0"/>
              <a:t> </a:t>
            </a:r>
            <a:r>
              <a:rPr lang="en-US" dirty="0" err="1"/>
              <a:t>korisniku</a:t>
            </a:r>
            <a:r>
              <a:rPr lang="en-US" dirty="0"/>
              <a:t> da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 </a:t>
            </a:r>
            <a:r>
              <a:rPr lang="en-US" dirty="0" err="1"/>
              <a:t>prati</a:t>
            </a:r>
            <a:r>
              <a:rPr lang="en-US" dirty="0"/>
              <a:t> </a:t>
            </a:r>
            <a:r>
              <a:rPr lang="en-US" dirty="0" err="1"/>
              <a:t>najvaznije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radu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C3B5B-02F5-D116-A183-85D735D8F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39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EA55-8E07-85C9-4FD1-CAAA2D57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64643-E39B-E18F-7B1E-4BC3F4637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0E2A9-1D16-052A-3E1E-50920140A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95E3-9E7E-1818-23D5-1391E4FD1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62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A194E-DA0B-3DCF-0050-A6FD126C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E70D7-B3C6-C5EE-B42E-3669D51D9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D2A81-26BA-BB99-CDD0-EC9B1E684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9F27D-C9D9-D51A-607B-8BF811F85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07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DDBE7-4303-6AC9-2749-5449F6C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819F0-6908-8EBC-8C88-3C4950B1A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3E81-EF32-BD73-4FFC-B709A89AC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5B357-E365-A9DB-C2DD-0F4EDCDF5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49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9505-AA0D-0941-07FD-A6C3827F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6B8C8-458C-8763-CA73-999A8AAA9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CDEAB-0A2C-C3E2-A9BF-61FCF8D5B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649F5-E141-9875-A845-AB09BF6C2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3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666D-2511-8993-3FF3-2C92986E3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7CC00-42A0-26EB-C23A-378C5909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F47EC-1D8C-9BC7-1CE7-8719E4D54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ovaj nacin aplikacija ne sluzi samo za pasivni prikaz podataka, vec i za konfiguraciju rada sistema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06F16-75FA-F8B5-07F3-B458E42CC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11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772A-3C4C-F7E2-AC8F-DE0DCD0B9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9AEE2-FA9C-FC38-07B1-77A75C78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6D9E3-1BF6-B716-1C9D-408E5B115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91003-28A5-44D6-523E-F9799236E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2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6/12/2026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6/12/2026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6/12/2026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1738315"/>
          </a:xfrm>
        </p:spPr>
        <p:txBody>
          <a:bodyPr>
            <a:normAutofit/>
          </a:bodyPr>
          <a:lstStyle/>
          <a:p>
            <a:pPr algn="ctr"/>
            <a:r>
              <a:rPr lang="sr-Latn-RS" sz="6600" noProof="1"/>
              <a:t>UbiComp – Projekat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noProof="1"/>
              <a:t>Anastasija Vasić, 1848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443C37-6BAB-D604-FA46-0E2F877ACD7F}"/>
              </a:ext>
            </a:extLst>
          </p:cNvPr>
          <p:cNvSpPr txBox="1">
            <a:spLocks/>
          </p:cNvSpPr>
          <p:nvPr/>
        </p:nvSpPr>
        <p:spPr>
          <a:xfrm>
            <a:off x="7982880" y="5432564"/>
            <a:ext cx="3457059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noProof="1"/>
              <a:t>Sveprisutno računarstvo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95205"/>
            <a:ext cx="9601200" cy="771595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Zahtev projekta i cilj realizacije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609" y="1683327"/>
            <a:ext cx="9763991" cy="4379544"/>
          </a:xfrm>
        </p:spPr>
        <p:txBody>
          <a:bodyPr>
            <a:normAutofit/>
          </a:bodyPr>
          <a:lstStyle/>
          <a:p>
            <a:r>
              <a:rPr lang="sr-Latn-RS" noProof="1"/>
              <a:t>Cilj projekta bio je razvoj Android aplikacije koja proširuje sistem iz projekta 2 i omogućava:</a:t>
            </a:r>
          </a:p>
          <a:p>
            <a:pPr lvl="1"/>
            <a:r>
              <a:rPr lang="sr-Latn-RS" noProof="1"/>
              <a:t>prikaz senzorskih podataka i ML/DL događaja </a:t>
            </a:r>
          </a:p>
          <a:p>
            <a:pPr lvl="1"/>
            <a:r>
              <a:rPr lang="sr-Latn-RS" noProof="1"/>
              <a:t>notifikacije sa SBC uređaja preko WebSocket protokola </a:t>
            </a:r>
          </a:p>
          <a:p>
            <a:pPr lvl="1"/>
            <a:r>
              <a:rPr lang="sr-Latn-RS" noProof="1"/>
              <a:t>konfiguraciju parametara sistema </a:t>
            </a:r>
          </a:p>
          <a:p>
            <a:pPr lvl="1"/>
            <a:r>
              <a:rPr lang="sr-Latn-RS" noProof="1"/>
              <a:t>pokretanje simulirane akcije aktuatora</a:t>
            </a:r>
          </a:p>
          <a:p>
            <a:endParaRPr lang="sr-Latn-RS" i="1" noProof="1"/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16D0-B793-1830-A3F3-542136F0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32D5B9-4FE6-633F-413A-624658A6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813" y="0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Arhitektura sistema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BC11-D2CA-141B-D88C-00C5379B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996824"/>
            <a:ext cx="11714018" cy="4794377"/>
          </a:xfrm>
        </p:spPr>
        <p:txBody>
          <a:bodyPr>
            <a:normAutofit/>
          </a:bodyPr>
          <a:lstStyle/>
          <a:p>
            <a:r>
              <a:rPr lang="sr-Latn-RS" sz="1800" noProof="1"/>
              <a:t>Android aplikacija komunicira sa Raspberry Pi uređajem preko WebSocket servisa </a:t>
            </a:r>
            <a:r>
              <a:rPr lang="sr-Latn-RS" sz="1800" i="1" noProof="1">
                <a:solidFill>
                  <a:schemeClr val="bg1">
                    <a:lumMod val="50000"/>
                  </a:schemeClr>
                </a:solidFill>
              </a:rPr>
              <a:t>mobile-dashboard-api</a:t>
            </a:r>
            <a:r>
              <a:rPr lang="sr-Latn-RS" sz="1800" noProof="1"/>
              <a:t>.</a:t>
            </a:r>
            <a:br>
              <a:rPr lang="sr-Latn-RS" sz="1800" noProof="1"/>
            </a:br>
            <a:r>
              <a:rPr lang="sr-Latn-RS" sz="1800" noProof="1"/>
              <a:t>Backend servis preuzima podatke iz postojećeg MQTT sistema, prosleđuje ih aplikaciji i prima komande iz aplikacije. Na taj način ostvarena je dvosmerna komunikacija izmedju mobilne aplikacije i IoT sistema.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F4B52-053E-06CC-DAC7-2059EE93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59"/>
          <a:stretch>
            <a:fillRect/>
          </a:stretch>
        </p:blipFill>
        <p:spPr>
          <a:xfrm>
            <a:off x="1295400" y="1830014"/>
            <a:ext cx="9812482" cy="486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3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A4B7-54FF-E7AA-CF85-C7F8F1D8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30C496-05AC-302A-3432-84D38D0A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5997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Struktura Android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77A8-4FAF-C6B2-0DFC-BB897C88F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5" y="1257301"/>
            <a:ext cx="11066318" cy="4533900"/>
          </a:xfrm>
        </p:spPr>
        <p:txBody>
          <a:bodyPr/>
          <a:lstStyle/>
          <a:p>
            <a:r>
              <a:rPr lang="sr-Latn-RS" noProof="1"/>
              <a:t>Aplikacija je realizovana u Kotlin jeziku uz Jetpack Compose i sastoji se iz cetiri glavna ekrana:</a:t>
            </a:r>
          </a:p>
          <a:p>
            <a:pPr lvl="1"/>
            <a:r>
              <a:rPr lang="sr-Latn-RS" noProof="1"/>
              <a:t>Dashboard </a:t>
            </a:r>
          </a:p>
          <a:p>
            <a:pPr lvl="1"/>
            <a:r>
              <a:rPr lang="sr-Latn-RS" noProof="1"/>
              <a:t>Events </a:t>
            </a:r>
          </a:p>
          <a:p>
            <a:pPr lvl="1"/>
            <a:r>
              <a:rPr lang="sr-Latn-RS" noProof="1"/>
              <a:t>Control </a:t>
            </a:r>
          </a:p>
          <a:p>
            <a:pPr lvl="1"/>
            <a:r>
              <a:rPr lang="sr-Latn-RS" noProof="1"/>
              <a:t>Settings </a:t>
            </a:r>
          </a:p>
          <a:p>
            <a:r>
              <a:rPr lang="sr-Latn-RS" noProof="1"/>
              <a:t>Navigacija izmedju ekrana ostvarena je pomocu donje navigacione trake.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77263-CFDA-4B14-8255-A62A62A45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320" y="3876433"/>
            <a:ext cx="6544588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8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60D5-1A25-BCAC-B9C6-15F16DD1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E00975-32A3-8862-C4CF-22D2ACD6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82" y="57434"/>
            <a:ext cx="11159836" cy="900802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ekran – prikaz stanja sistema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16C5C-F1ED-2042-5718-A483B0D03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189038"/>
            <a:ext cx="5451764" cy="4602163"/>
          </a:xfrm>
          <a:noFill/>
        </p:spPr>
        <p:txBody>
          <a:bodyPr/>
          <a:lstStyle/>
          <a:p>
            <a:r>
              <a:rPr lang="sr-Latn-RS" b="1" noProof="1"/>
              <a:t>Dashboard ekran </a:t>
            </a:r>
            <a:r>
              <a:rPr lang="sr-Latn-RS" noProof="1"/>
              <a:t>prikazuje podatke u realnom vremenu koje aplikacija dobija preko WebSocket veze.</a:t>
            </a:r>
          </a:p>
          <a:p>
            <a:r>
              <a:rPr lang="sr-Latn-RS" noProof="1"/>
              <a:t>Prikazuju se:</a:t>
            </a:r>
          </a:p>
          <a:p>
            <a:pPr lvl="1"/>
            <a:r>
              <a:rPr lang="sr-Latn-RS" noProof="1"/>
              <a:t>status konekcije i monitoringa </a:t>
            </a:r>
          </a:p>
          <a:p>
            <a:pPr lvl="1"/>
            <a:r>
              <a:rPr lang="sr-Latn-RS" noProof="1"/>
              <a:t>ambient light vrednost </a:t>
            </a:r>
          </a:p>
          <a:p>
            <a:pPr lvl="1"/>
            <a:r>
              <a:rPr lang="sr-Latn-RS" noProof="1"/>
              <a:t>dominantna boja </a:t>
            </a:r>
          </a:p>
          <a:p>
            <a:pPr lvl="1"/>
            <a:r>
              <a:rPr lang="sr-Latn-RS" noProof="1"/>
              <a:t>RGB komponente </a:t>
            </a:r>
          </a:p>
          <a:p>
            <a:pPr lvl="1"/>
            <a:r>
              <a:rPr lang="sr-Latn-RS" noProof="1"/>
              <a:t>AI detection rezultat </a:t>
            </a:r>
          </a:p>
          <a:p>
            <a:pPr lvl="1"/>
            <a:r>
              <a:rPr lang="sr-Latn-RS" noProof="1"/>
              <a:t>actuator status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D5AC52-FA92-C445-A71B-7DBD59485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383" y="1189038"/>
            <a:ext cx="2514599" cy="5274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E03729-AE49-61CA-A4DB-7A5EBF408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836" y="1189038"/>
            <a:ext cx="2795381" cy="558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5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D205-B522-0CA4-2931-6072AE91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EF0250-88F2-ADB9-F423-C4447283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625" y="0"/>
            <a:ext cx="11305309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WebSocket komunikacija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B215-D3B9-C73C-7917-BCB295E0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00803"/>
            <a:ext cx="11222183" cy="5177880"/>
          </a:xfrm>
        </p:spPr>
        <p:txBody>
          <a:bodyPr/>
          <a:lstStyle/>
          <a:p>
            <a:r>
              <a:rPr lang="sr-Latn-RS" noProof="1"/>
              <a:t>Za razmenu podataka između Android aplikacije i Raspberry Pi backend servisa korišćen je WebSocket protokol.</a:t>
            </a:r>
          </a:p>
          <a:p>
            <a:r>
              <a:rPr lang="sr-Latn-RS" noProof="1"/>
              <a:t>Na ovaj način ostvarena je dvosmerna komunikacija u realnom vremenu:</a:t>
            </a:r>
          </a:p>
          <a:p>
            <a:pPr lvl="1"/>
            <a:r>
              <a:rPr lang="sr-Latn-RS" noProof="1"/>
              <a:t>backend šalje live podatke i evente </a:t>
            </a:r>
          </a:p>
          <a:p>
            <a:pPr lvl="1"/>
            <a:r>
              <a:rPr lang="sr-Latn-RS" noProof="1"/>
              <a:t>aplikacija šalje komande i konfiguraciju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5F596-4DFE-8B34-F0CC-F11BBFB36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820" y="2927360"/>
            <a:ext cx="6473539" cy="501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07B52E-00E8-A59E-3DD8-337CB5DA1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361" y="3489743"/>
            <a:ext cx="5637278" cy="275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10BD-86C7-D59E-BEF2-797497D1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1EB64F-35F2-FDA9-D752-B79477AB8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5998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4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Notifikacije u Android aplikaciji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5C0C7-79C7-67A2-47C2-842CC7C9D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319645"/>
            <a:ext cx="11720945" cy="4471555"/>
          </a:xfrm>
        </p:spPr>
        <p:txBody>
          <a:bodyPr/>
          <a:lstStyle/>
          <a:p>
            <a:r>
              <a:rPr lang="sr-Latn-RS" noProof="1"/>
              <a:t>Aplikacija prima evente preko WebSocket-a i na osnovu njih prikazuje lokalne Android notifikacije.</a:t>
            </a:r>
          </a:p>
          <a:p>
            <a:r>
              <a:rPr lang="sr-Latn-RS" noProof="1"/>
              <a:t>Notifikacije se generisu kada:</a:t>
            </a:r>
          </a:p>
          <a:p>
            <a:pPr lvl="1"/>
            <a:r>
              <a:rPr lang="sr-Latn-RS" noProof="1"/>
              <a:t>sistem detektuje znacajnu promenu osvetljenja </a:t>
            </a:r>
          </a:p>
          <a:p>
            <a:pPr lvl="1"/>
            <a:r>
              <a:rPr lang="sr-Latn-RS" noProof="1"/>
              <a:t>se pokrene actuator akcija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A515B2-184B-6D1C-639A-EE6FAFC9FF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0" t="1" b="41456"/>
          <a:stretch>
            <a:fillRect/>
          </a:stretch>
        </p:blipFill>
        <p:spPr>
          <a:xfrm>
            <a:off x="6899564" y="1707870"/>
            <a:ext cx="3382673" cy="440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0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842D-7434-D8D3-50DD-51734D015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147E66-4923-9A3A-851A-A9084B3D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" y="0"/>
            <a:ext cx="11627427" cy="900802"/>
          </a:xfrm>
        </p:spPr>
        <p:txBody>
          <a:bodyPr>
            <a:no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Events ekran – pregled detektovanih dogadjaja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FD3BE-F16F-D307-6DE4-B9C84D102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63782"/>
            <a:ext cx="5974773" cy="4627419"/>
          </a:xfrm>
        </p:spPr>
        <p:txBody>
          <a:bodyPr/>
          <a:lstStyle/>
          <a:p>
            <a:r>
              <a:rPr lang="sr-Latn-RS" b="1" noProof="1"/>
              <a:t>Events</a:t>
            </a:r>
            <a:r>
              <a:rPr lang="sr-Latn-RS" noProof="1"/>
              <a:t> </a:t>
            </a:r>
            <a:r>
              <a:rPr lang="sr-Latn-RS" b="1" noProof="1"/>
              <a:t>ekran</a:t>
            </a:r>
            <a:r>
              <a:rPr lang="sr-Latn-RS" noProof="1"/>
              <a:t> prikazuje listu najnovijih događaja koje sistem generiše tokom rada.</a:t>
            </a:r>
          </a:p>
          <a:p>
            <a:r>
              <a:rPr lang="sr-Latn-RS" noProof="1"/>
              <a:t>Tu spadaju:</a:t>
            </a:r>
          </a:p>
          <a:p>
            <a:pPr lvl="1"/>
            <a:r>
              <a:rPr lang="sr-Latn-RS" noProof="1"/>
              <a:t>detection event-i </a:t>
            </a:r>
          </a:p>
          <a:p>
            <a:pPr lvl="1"/>
            <a:r>
              <a:rPr lang="sr-Latn-RS" noProof="1"/>
              <a:t>actuator event-i </a:t>
            </a:r>
          </a:p>
          <a:p>
            <a:pPr lvl="1"/>
            <a:r>
              <a:rPr lang="sr-Latn-RS" noProof="1"/>
              <a:t>acknowledgement poruke backend servisa</a:t>
            </a:r>
          </a:p>
          <a:p>
            <a:endParaRPr lang="sr-Latn-RS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2987D9-FAEF-4EDF-7C9B-E337597CE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4" b="8699"/>
          <a:stretch>
            <a:fillRect/>
          </a:stretch>
        </p:blipFill>
        <p:spPr>
          <a:xfrm>
            <a:off x="7350647" y="900802"/>
            <a:ext cx="2745800" cy="525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7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8AE0-DDE6-1801-CC6B-A77883E9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33C879-CEA1-46DD-154F-C77B69AC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771" y="81271"/>
            <a:ext cx="9601200" cy="666874"/>
          </a:xfrm>
        </p:spPr>
        <p:txBody>
          <a:bodyPr>
            <a:noAutofit/>
          </a:bodyPr>
          <a:lstStyle/>
          <a:p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ekran – upravljanje sistemom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73012-358F-32B2-6729-01806AF81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962981"/>
            <a:ext cx="6296891" cy="5146874"/>
          </a:xfrm>
        </p:spPr>
        <p:txBody>
          <a:bodyPr/>
          <a:lstStyle/>
          <a:p>
            <a:r>
              <a:rPr lang="sr-Latn-RS" b="1" noProof="1"/>
              <a:t>Control ekran </a:t>
            </a:r>
            <a:r>
              <a:rPr lang="sr-Latn-RS" noProof="1"/>
              <a:t>omogućava korisniku da iz aplikacije direktno upravlja sistemom.</a:t>
            </a:r>
          </a:p>
          <a:p>
            <a:r>
              <a:rPr lang="sr-Latn-RS" noProof="1"/>
              <a:t>Realizovane su sledeće akcije:</a:t>
            </a:r>
          </a:p>
          <a:p>
            <a:pPr lvl="1"/>
            <a:r>
              <a:rPr lang="sr-Latn-RS" noProof="1"/>
              <a:t>enable monitoring </a:t>
            </a:r>
          </a:p>
          <a:p>
            <a:pPr lvl="1"/>
            <a:r>
              <a:rPr lang="sr-Latn-RS" noProof="1"/>
              <a:t>disable monitoring </a:t>
            </a:r>
          </a:p>
          <a:p>
            <a:pPr lvl="1"/>
            <a:r>
              <a:rPr lang="sr-Latn-RS" noProof="1"/>
              <a:t>simulate actuator action </a:t>
            </a:r>
          </a:p>
          <a:p>
            <a:pPr lvl="1"/>
            <a:r>
              <a:rPr lang="sr-Latn-RS" noProof="1"/>
              <a:t>reconnect to backend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FED28-7C2C-7B3F-2AB4-8576DCC45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813"/>
          <a:stretch>
            <a:fillRect/>
          </a:stretch>
        </p:blipFill>
        <p:spPr>
          <a:xfrm>
            <a:off x="8444698" y="962981"/>
            <a:ext cx="3166454" cy="49320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6A18DD-20D2-317F-C062-9CF113349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920" y="2794437"/>
            <a:ext cx="4874931" cy="10283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6698B7-4B20-AF20-AB38-0D081922C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63" y="5081546"/>
            <a:ext cx="7837925" cy="1028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14F186-0645-C285-3279-895E793E0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6811" y="3874144"/>
            <a:ext cx="6502040" cy="114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8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F9FB-45FF-931C-7288-97F3C754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DFF8C5-4AE7-4E78-0400-907B4BAB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91" y="288236"/>
            <a:ext cx="11596254" cy="553428"/>
          </a:xfrm>
        </p:spPr>
        <p:txBody>
          <a:bodyPr>
            <a:no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Settings ekran i konfiguracija parametara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6389-33AB-7CBE-8B6F-1613B6E6D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973" y="1267635"/>
            <a:ext cx="4894118" cy="4523566"/>
          </a:xfrm>
        </p:spPr>
        <p:txBody>
          <a:bodyPr/>
          <a:lstStyle/>
          <a:p>
            <a:r>
              <a:rPr lang="sr-Latn-RS" noProof="1"/>
              <a:t>Aplikacija omogućava konfiguraciju parametara i na SBC i na MCU strani.</a:t>
            </a:r>
          </a:p>
          <a:p>
            <a:r>
              <a:rPr lang="sr-Latn-RS" noProof="1"/>
              <a:t>Realizovana su sledeća podešavanja:</a:t>
            </a:r>
          </a:p>
          <a:p>
            <a:pPr lvl="1"/>
            <a:r>
              <a:rPr lang="sr-Latn-RS" noProof="1"/>
              <a:t>WebSocket URL </a:t>
            </a:r>
          </a:p>
          <a:p>
            <a:pPr lvl="1"/>
            <a:r>
              <a:rPr lang="sr-Latn-RS" noProof="1"/>
              <a:t>light threshold na SBC strani </a:t>
            </a:r>
          </a:p>
          <a:p>
            <a:pPr lvl="1"/>
            <a:r>
              <a:rPr lang="sr-Latn-RS" noProof="1"/>
              <a:t>monitoring enabled / disabled na MCU strani</a:t>
            </a:r>
          </a:p>
          <a:p>
            <a:pPr marL="0" indent="0">
              <a:buNone/>
            </a:pPr>
            <a:endParaRPr lang="sr-Latn-RS" b="1" noProof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F45C93-64DC-49A8-A07D-BF3B04CF3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255" y="1267635"/>
            <a:ext cx="3296110" cy="48584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404BDB-0FE4-6DF9-3B94-3C62FD877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66" y="4434604"/>
            <a:ext cx="6411952" cy="100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7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25A0-BCB5-54A1-D58B-0FBC7152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6B3479-61C1-274B-453F-715B7B2C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2" y="101200"/>
            <a:ext cx="11596255" cy="636555"/>
          </a:xfrm>
        </p:spPr>
        <p:txBody>
          <a:bodyPr>
            <a:noAutofit/>
          </a:bodyPr>
          <a:lstStyle/>
          <a:p>
            <a:pPr algn="ctr"/>
            <a:r>
              <a:rPr lang="sr-Latn-RS" sz="3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Integracija sa MCU i simulirana akcija aktuatora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E169-8845-B596-29C7-679979A96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" y="976745"/>
            <a:ext cx="5216237" cy="5070764"/>
          </a:xfrm>
        </p:spPr>
        <p:txBody>
          <a:bodyPr/>
          <a:lstStyle/>
          <a:p>
            <a:r>
              <a:rPr lang="sr-Latn-RS" noProof="1"/>
              <a:t>Komande iz Android aplikacije prosleđuju se preko WebSocket servisa i MQTT sistema do serijske veze sa Arduino uređajem.</a:t>
            </a:r>
          </a:p>
          <a:p>
            <a:r>
              <a:rPr lang="sr-Latn-RS" noProof="1"/>
              <a:t>Na taj način realizovano je:</a:t>
            </a:r>
          </a:p>
          <a:p>
            <a:pPr lvl="1"/>
            <a:r>
              <a:rPr lang="sr-Latn-RS" noProof="1"/>
              <a:t>uključivanje i isključivanje monitoringa na MCU strani </a:t>
            </a:r>
          </a:p>
          <a:p>
            <a:pPr lvl="1"/>
            <a:r>
              <a:rPr lang="sr-Latn-RS" noProof="1"/>
              <a:t>pokretanje simulirane akcije aktuatora </a:t>
            </a:r>
          </a:p>
          <a:p>
            <a:r>
              <a:rPr lang="sr-Latn-RS" noProof="1"/>
              <a:t>Simulirana akcija aktuatora fizički se manifestuje promenom LED signalizacije na Arduino uređaju.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1ED7A8-5F99-07F1-1F85-561D9DB9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373174"/>
            <a:ext cx="4037738" cy="308723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339A17-EA48-DD97-41C4-128097518267}"/>
              </a:ext>
            </a:extLst>
          </p:cNvPr>
          <p:cNvSpPr txBox="1">
            <a:spLocks/>
          </p:cNvSpPr>
          <p:nvPr/>
        </p:nvSpPr>
        <p:spPr>
          <a:xfrm>
            <a:off x="6077819" y="945572"/>
            <a:ext cx="3778828" cy="3532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i="1" noProof="1">
                <a:solidFill>
                  <a:schemeClr val="bg1">
                    <a:lumMod val="50000"/>
                  </a:schemeClr>
                </a:solidFill>
              </a:rPr>
              <a:t>Serial_reader.py:</a:t>
            </a:r>
          </a:p>
        </p:txBody>
      </p:sp>
    </p:spTree>
    <p:extLst>
      <p:ext uri="{BB962C8B-B14F-4D97-AF65-F5344CB8AC3E}">
        <p14:creationId xmlns:p14="http://schemas.microsoft.com/office/powerpoint/2010/main" val="133183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2667000"/>
            <a:ext cx="9601200" cy="1123950"/>
          </a:xfrm>
        </p:spPr>
        <p:txBody>
          <a:bodyPr/>
          <a:lstStyle/>
          <a:p>
            <a:pPr algn="ctr"/>
            <a:r>
              <a:rPr lang="sr-Latn-RS" noProof="1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3268</TotalTime>
  <Words>557</Words>
  <Application>Microsoft Office PowerPoint</Application>
  <PresentationFormat>Widescreen</PresentationFormat>
  <Paragraphs>80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Diamond Grid 16x9</vt:lpstr>
      <vt:lpstr>UbiComp – Projekat 3</vt:lpstr>
      <vt:lpstr>Zahtev projekta i cilj realizacije</vt:lpstr>
      <vt:lpstr>Arhitektura sistema</vt:lpstr>
      <vt:lpstr>Struktura Android aplikacije</vt:lpstr>
      <vt:lpstr>Dashboard ekran – prikaz stanja sistema</vt:lpstr>
      <vt:lpstr>WebSocket komunikacija</vt:lpstr>
      <vt:lpstr>Notifikacije u Android aplikaciji</vt:lpstr>
      <vt:lpstr>Events ekran – pregled detektovanih dogadjaja</vt:lpstr>
      <vt:lpstr>Control ekran – upravljanje sistemom</vt:lpstr>
      <vt:lpstr>Settings ekran i konfiguracija parametara</vt:lpstr>
      <vt:lpstr>Integracija sa MCU i simulirana akcija aktuatora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Anastasija Vasić</dc:creator>
  <cp:lastModifiedBy>Anastasija Vasić</cp:lastModifiedBy>
  <cp:revision>14</cp:revision>
  <dcterms:created xsi:type="dcterms:W3CDTF">2026-05-21T19:10:14Z</dcterms:created>
  <dcterms:modified xsi:type="dcterms:W3CDTF">2026-06-12T11:16:15Z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