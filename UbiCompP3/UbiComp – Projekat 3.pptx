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handoutMasterIdLst>
    <p:handoutMasterId r:id="rId15"/>
  </p:handoutMasterIdLst>
  <p:sldIdLst>
    <p:sldId id="261" r:id="rId2"/>
    <p:sldId id="257" r:id="rId3"/>
    <p:sldId id="288" r:id="rId4"/>
    <p:sldId id="292" r:id="rId5"/>
    <p:sldId id="289" r:id="rId6"/>
    <p:sldId id="290" r:id="rId7"/>
    <p:sldId id="291" r:id="rId8"/>
    <p:sldId id="293" r:id="rId9"/>
    <p:sldId id="294" r:id="rId10"/>
    <p:sldId id="295" r:id="rId11"/>
    <p:sldId id="296" r:id="rId12"/>
    <p:sldId id="265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BC89EF96-8CEA-46FF-86C4-4CE0E760980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0969" autoAdjust="0"/>
  </p:normalViewPr>
  <p:slideViewPr>
    <p:cSldViewPr snapToGrid="0">
      <p:cViewPr varScale="1">
        <p:scale>
          <a:sx n="74" d="100"/>
          <a:sy n="74" d="100"/>
        </p:scale>
        <p:origin x="1042" y="77"/>
      </p:cViewPr>
      <p:guideLst>
        <p:guide pos="3840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2" d="100"/>
          <a:sy n="82" d="100"/>
        </p:scale>
        <p:origin x="3852" y="7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9041DB8-B66F-4DC8-A96E-33677E0F90FF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604A0D4-B89B-4ADD-AF9E-38636B40EE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738915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EB49C4A-65AC-492D-9701-81B46C3AD0E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0861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869989-EB00-4EE7-BCB5-25BDC5BB29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6361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 </a:t>
            </a:r>
            <a:r>
              <a:rPr lang="en-US" dirty="0" err="1"/>
              <a:t>okviru</a:t>
            </a:r>
            <a:r>
              <a:rPr lang="en-US" dirty="0"/>
              <a:t> </a:t>
            </a:r>
            <a:r>
              <a:rPr lang="en-US" dirty="0" err="1"/>
              <a:t>treceg</a:t>
            </a:r>
            <a:r>
              <a:rPr lang="en-US" dirty="0"/>
              <a:t> </a:t>
            </a:r>
            <a:r>
              <a:rPr lang="en-US" dirty="0" err="1"/>
              <a:t>projekta</a:t>
            </a:r>
            <a:r>
              <a:rPr lang="en-US" dirty="0"/>
              <a:t> </a:t>
            </a:r>
            <a:r>
              <a:rPr lang="en-US" dirty="0" err="1"/>
              <a:t>razvijena</a:t>
            </a:r>
            <a:r>
              <a:rPr lang="en-US" dirty="0"/>
              <a:t> je </a:t>
            </a:r>
            <a:r>
              <a:rPr lang="en-US" dirty="0" err="1"/>
              <a:t>mobilna</a:t>
            </a:r>
            <a:r>
              <a:rPr lang="en-US" dirty="0"/>
              <a:t> Android </a:t>
            </a:r>
            <a:r>
              <a:rPr lang="en-US" dirty="0" err="1"/>
              <a:t>aplikacija</a:t>
            </a:r>
            <a:r>
              <a:rPr lang="en-US" dirty="0"/>
              <a:t>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prosirenje</a:t>
            </a:r>
            <a:r>
              <a:rPr lang="en-US" dirty="0"/>
              <a:t> IoT </a:t>
            </a:r>
            <a:r>
              <a:rPr lang="en-US" dirty="0" err="1"/>
              <a:t>sistema</a:t>
            </a:r>
            <a:r>
              <a:rPr lang="en-US" dirty="0"/>
              <a:t> </a:t>
            </a:r>
            <a:r>
              <a:rPr lang="en-US" dirty="0" err="1"/>
              <a:t>iz</a:t>
            </a:r>
            <a:r>
              <a:rPr lang="en-US" dirty="0"/>
              <a:t> </a:t>
            </a:r>
            <a:r>
              <a:rPr lang="en-US" dirty="0" err="1"/>
              <a:t>drugog</a:t>
            </a:r>
            <a:r>
              <a:rPr lang="en-US" dirty="0"/>
              <a:t> </a:t>
            </a:r>
            <a:r>
              <a:rPr lang="en-US" dirty="0" err="1"/>
              <a:t>projekta</a:t>
            </a:r>
            <a:r>
              <a:rPr lang="en-US" dirty="0"/>
              <a:t>. </a:t>
            </a:r>
            <a:r>
              <a:rPr lang="en-US" dirty="0" err="1"/>
              <a:t>Aplikacija</a:t>
            </a:r>
            <a:r>
              <a:rPr lang="en-US" dirty="0"/>
              <a:t> </a:t>
            </a:r>
            <a:r>
              <a:rPr lang="en-US" dirty="0" err="1"/>
              <a:t>ima</a:t>
            </a:r>
            <a:r>
              <a:rPr lang="en-US" dirty="0"/>
              <a:t> </a:t>
            </a:r>
            <a:r>
              <a:rPr lang="en-US" dirty="0" err="1"/>
              <a:t>ulogu</a:t>
            </a:r>
            <a:r>
              <a:rPr lang="en-US" dirty="0"/>
              <a:t> </a:t>
            </a:r>
            <a:r>
              <a:rPr lang="en-US" dirty="0" err="1"/>
              <a:t>kontrolnog</a:t>
            </a:r>
            <a:r>
              <a:rPr lang="en-US" dirty="0"/>
              <a:t> dashboard-a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omogucava</a:t>
            </a:r>
            <a:r>
              <a:rPr lang="en-US" dirty="0"/>
              <a:t> </a:t>
            </a:r>
            <a:r>
              <a:rPr lang="en-US" dirty="0" err="1"/>
              <a:t>prikaz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, </a:t>
            </a:r>
            <a:r>
              <a:rPr lang="en-US" dirty="0" err="1"/>
              <a:t>prijem</a:t>
            </a:r>
            <a:r>
              <a:rPr lang="en-US" dirty="0"/>
              <a:t> </a:t>
            </a:r>
            <a:r>
              <a:rPr lang="en-US" dirty="0" err="1"/>
              <a:t>notifikacija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upravljanje</a:t>
            </a:r>
            <a:r>
              <a:rPr lang="en-US" dirty="0"/>
              <a:t> </a:t>
            </a:r>
            <a:r>
              <a:rPr lang="en-US" dirty="0" err="1"/>
              <a:t>sistemom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869989-EB00-4EE7-BCB5-25BDC5BB29F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0647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2869989-EB00-4EE7-BCB5-25BDC5BB29F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03039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Android </a:t>
            </a:r>
            <a:r>
              <a:rPr lang="en-US" sz="1200" dirty="0" err="1"/>
              <a:t>aplikacija</a:t>
            </a:r>
            <a:r>
              <a:rPr lang="en-US" sz="1200" dirty="0"/>
              <a:t> </a:t>
            </a:r>
            <a:r>
              <a:rPr lang="en-US" sz="1200" dirty="0" err="1"/>
              <a:t>komunicira</a:t>
            </a:r>
            <a:r>
              <a:rPr lang="en-US" sz="1200" dirty="0"/>
              <a:t> </a:t>
            </a:r>
            <a:r>
              <a:rPr lang="en-US" sz="1200" dirty="0" err="1"/>
              <a:t>sa</a:t>
            </a:r>
            <a:r>
              <a:rPr lang="en-US" sz="1200" dirty="0"/>
              <a:t> Raspberry Pi </a:t>
            </a:r>
            <a:r>
              <a:rPr lang="en-US" sz="1200" dirty="0" err="1"/>
              <a:t>uredjajem</a:t>
            </a:r>
            <a:r>
              <a:rPr lang="en-US" sz="1200" dirty="0"/>
              <a:t> </a:t>
            </a:r>
            <a:r>
              <a:rPr lang="en-US" sz="1200" dirty="0" err="1"/>
              <a:t>preko</a:t>
            </a:r>
            <a:r>
              <a:rPr lang="en-US" sz="1200" dirty="0"/>
              <a:t> WebSocket </a:t>
            </a:r>
            <a:r>
              <a:rPr lang="en-US" sz="1200" dirty="0" err="1"/>
              <a:t>servisa</a:t>
            </a:r>
            <a:r>
              <a:rPr lang="en-US" sz="1200" dirty="0"/>
              <a:t> mobile-dashboard-</a:t>
            </a:r>
            <a:r>
              <a:rPr lang="en-US" sz="1200" dirty="0" err="1"/>
              <a:t>api</a:t>
            </a:r>
            <a:r>
              <a:rPr lang="en-US" sz="1200" dirty="0"/>
              <a:t>.</a:t>
            </a:r>
            <a:br>
              <a:rPr lang="en-US" sz="1200" dirty="0"/>
            </a:br>
            <a:r>
              <a:rPr lang="en-US" sz="1200" dirty="0"/>
              <a:t>Backend </a:t>
            </a:r>
            <a:r>
              <a:rPr lang="en-US" sz="1200" dirty="0" err="1"/>
              <a:t>servis</a:t>
            </a:r>
            <a:r>
              <a:rPr lang="en-US" sz="1200" dirty="0"/>
              <a:t> </a:t>
            </a:r>
            <a:r>
              <a:rPr lang="en-US" sz="1200" dirty="0" err="1"/>
              <a:t>preuzima</a:t>
            </a:r>
            <a:r>
              <a:rPr lang="en-US" sz="1200" dirty="0"/>
              <a:t> </a:t>
            </a:r>
            <a:r>
              <a:rPr lang="en-US" sz="1200" dirty="0" err="1"/>
              <a:t>podatke</a:t>
            </a:r>
            <a:r>
              <a:rPr lang="en-US" sz="1200" dirty="0"/>
              <a:t> </a:t>
            </a:r>
            <a:r>
              <a:rPr lang="en-US" sz="1200" dirty="0" err="1"/>
              <a:t>iz</a:t>
            </a:r>
            <a:r>
              <a:rPr lang="en-US" sz="1200" dirty="0"/>
              <a:t> </a:t>
            </a:r>
            <a:r>
              <a:rPr lang="en-US" sz="1200" dirty="0" err="1"/>
              <a:t>postojeceg</a:t>
            </a:r>
            <a:r>
              <a:rPr lang="en-US" sz="1200" dirty="0"/>
              <a:t> MQTT </a:t>
            </a:r>
            <a:r>
              <a:rPr lang="en-US" sz="1200" dirty="0" err="1"/>
              <a:t>sistema</a:t>
            </a:r>
            <a:r>
              <a:rPr lang="en-US" sz="1200" dirty="0"/>
              <a:t>, </a:t>
            </a:r>
            <a:r>
              <a:rPr lang="en-US" sz="1200" dirty="0" err="1"/>
              <a:t>prosledjuje</a:t>
            </a:r>
            <a:r>
              <a:rPr lang="en-US" sz="1200" dirty="0"/>
              <a:t> </a:t>
            </a:r>
            <a:r>
              <a:rPr lang="en-US" sz="1200" dirty="0" err="1"/>
              <a:t>ih</a:t>
            </a:r>
            <a:r>
              <a:rPr lang="en-US" sz="1200" dirty="0"/>
              <a:t> </a:t>
            </a:r>
            <a:r>
              <a:rPr lang="en-US" sz="1200" dirty="0" err="1"/>
              <a:t>aplikaciji</a:t>
            </a:r>
            <a:r>
              <a:rPr lang="en-US" sz="1200" dirty="0"/>
              <a:t> </a:t>
            </a:r>
            <a:r>
              <a:rPr lang="en-US" sz="1200" dirty="0" err="1"/>
              <a:t>i</a:t>
            </a:r>
            <a:r>
              <a:rPr lang="en-US" sz="1200" dirty="0"/>
              <a:t> prima </a:t>
            </a:r>
            <a:r>
              <a:rPr lang="en-US" sz="1200" dirty="0" err="1"/>
              <a:t>komande</a:t>
            </a:r>
            <a:r>
              <a:rPr lang="en-US" sz="1200" dirty="0"/>
              <a:t> </a:t>
            </a:r>
            <a:r>
              <a:rPr lang="en-US" sz="1200" dirty="0" err="1"/>
              <a:t>iz</a:t>
            </a:r>
            <a:r>
              <a:rPr lang="en-US" sz="1200" dirty="0"/>
              <a:t> </a:t>
            </a:r>
            <a:r>
              <a:rPr lang="en-US" sz="1200" dirty="0" err="1"/>
              <a:t>aplikacije</a:t>
            </a:r>
            <a:r>
              <a:rPr lang="en-US" sz="1200" dirty="0"/>
              <a:t>.</a:t>
            </a:r>
            <a:br>
              <a:rPr lang="en-US" sz="1200" dirty="0"/>
            </a:br>
            <a:r>
              <a:rPr lang="en-US" sz="1200" dirty="0"/>
              <a:t>Na taj </a:t>
            </a:r>
            <a:r>
              <a:rPr lang="en-US" sz="1200" dirty="0" err="1"/>
              <a:t>nacin</a:t>
            </a:r>
            <a:r>
              <a:rPr lang="en-US" sz="1200" dirty="0"/>
              <a:t> </a:t>
            </a:r>
            <a:r>
              <a:rPr lang="en-US" sz="1200" dirty="0" err="1"/>
              <a:t>ostvarena</a:t>
            </a:r>
            <a:r>
              <a:rPr lang="en-US" sz="1200" dirty="0"/>
              <a:t> je </a:t>
            </a:r>
            <a:r>
              <a:rPr lang="en-US" sz="1200" dirty="0" err="1"/>
              <a:t>dvosmerna</a:t>
            </a:r>
            <a:r>
              <a:rPr lang="en-US" sz="1200" dirty="0"/>
              <a:t> </a:t>
            </a:r>
            <a:r>
              <a:rPr lang="en-US" sz="1200" dirty="0" err="1"/>
              <a:t>komunikacija</a:t>
            </a:r>
            <a:r>
              <a:rPr lang="en-US" sz="1200" dirty="0"/>
              <a:t> </a:t>
            </a:r>
            <a:r>
              <a:rPr lang="en-US" sz="1200" dirty="0" err="1"/>
              <a:t>izmedju</a:t>
            </a:r>
            <a:r>
              <a:rPr lang="en-US" sz="1200" dirty="0"/>
              <a:t> </a:t>
            </a:r>
            <a:r>
              <a:rPr lang="en-US" sz="1200" dirty="0" err="1"/>
              <a:t>mobilne</a:t>
            </a:r>
            <a:r>
              <a:rPr lang="en-US" sz="1200" dirty="0"/>
              <a:t> </a:t>
            </a:r>
            <a:r>
              <a:rPr lang="en-US" sz="1200" dirty="0" err="1"/>
              <a:t>aplikacije</a:t>
            </a:r>
            <a:r>
              <a:rPr lang="en-US" sz="1200" dirty="0"/>
              <a:t> </a:t>
            </a:r>
            <a:r>
              <a:rPr lang="en-US" sz="1200" dirty="0" err="1"/>
              <a:t>i</a:t>
            </a:r>
            <a:r>
              <a:rPr lang="en-US" sz="1200" dirty="0"/>
              <a:t> IoT </a:t>
            </a:r>
            <a:r>
              <a:rPr lang="en-US" sz="1200" dirty="0" err="1"/>
              <a:t>sistema</a:t>
            </a:r>
            <a:r>
              <a:rPr lang="en-US" sz="1200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869989-EB00-4EE7-BCB5-25BDC5BB29F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64582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3AB52-71D7-C27C-C2E7-F06B287668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E3DFCA-6854-271C-C4A2-2BB74C61EA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E8650E-91FC-7E32-FDC9-98B5D7E700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Aplikacija</a:t>
            </a:r>
            <a:r>
              <a:rPr lang="en-US" dirty="0"/>
              <a:t> je </a:t>
            </a:r>
            <a:r>
              <a:rPr lang="en-US" dirty="0" err="1"/>
              <a:t>organizovana</a:t>
            </a:r>
            <a:r>
              <a:rPr lang="en-US" dirty="0"/>
              <a:t> </a:t>
            </a:r>
            <a:r>
              <a:rPr lang="en-US" dirty="0" err="1"/>
              <a:t>kao</a:t>
            </a:r>
            <a:r>
              <a:rPr lang="en-US" dirty="0"/>
              <a:t> dashboard </a:t>
            </a:r>
            <a:r>
              <a:rPr lang="en-US" dirty="0" err="1"/>
              <a:t>sa</a:t>
            </a:r>
            <a:r>
              <a:rPr lang="en-US" dirty="0"/>
              <a:t> vise </a:t>
            </a:r>
            <a:r>
              <a:rPr lang="en-US" dirty="0" err="1"/>
              <a:t>funkcionalnih</a:t>
            </a:r>
            <a:r>
              <a:rPr lang="en-US" dirty="0"/>
              <a:t> </a:t>
            </a:r>
            <a:r>
              <a:rPr lang="en-US" dirty="0" err="1"/>
              <a:t>celina</a:t>
            </a:r>
            <a:r>
              <a:rPr lang="en-US" dirty="0"/>
              <a:t>, </a:t>
            </a:r>
            <a:r>
              <a:rPr lang="en-US" dirty="0" err="1"/>
              <a:t>cime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razdvojeni</a:t>
            </a:r>
            <a:r>
              <a:rPr lang="en-US" dirty="0"/>
              <a:t> </a:t>
            </a:r>
            <a:r>
              <a:rPr lang="en-US" dirty="0" err="1"/>
              <a:t>prikaz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, </a:t>
            </a:r>
            <a:r>
              <a:rPr lang="en-US" dirty="0" err="1"/>
              <a:t>pregled</a:t>
            </a:r>
            <a:r>
              <a:rPr lang="en-US" dirty="0"/>
              <a:t> </a:t>
            </a:r>
            <a:r>
              <a:rPr lang="en-US" dirty="0" err="1"/>
              <a:t>dogadjaja</a:t>
            </a:r>
            <a:r>
              <a:rPr lang="en-US" dirty="0"/>
              <a:t>, </a:t>
            </a:r>
            <a:r>
              <a:rPr lang="en-US" dirty="0" err="1"/>
              <a:t>upravljanje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podesavanja</a:t>
            </a:r>
            <a:r>
              <a:rPr lang="en-US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FE4061-C72F-62B5-2884-C40947371A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869989-EB00-4EE7-BCB5-25BDC5BB29F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4468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C2604-6A13-E14D-E952-C382D5CD8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F72DC6-5F00-E419-54B7-9CE570EE8F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4BD847-7DC6-5216-AE07-66BA5A851B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Dashboard </a:t>
            </a:r>
            <a:r>
              <a:rPr lang="en-US" dirty="0" err="1"/>
              <a:t>predstavlja</a:t>
            </a:r>
            <a:r>
              <a:rPr lang="en-US" dirty="0"/>
              <a:t> </a:t>
            </a:r>
            <a:r>
              <a:rPr lang="en-US" dirty="0" err="1"/>
              <a:t>centralni</a:t>
            </a:r>
            <a:r>
              <a:rPr lang="en-US" dirty="0"/>
              <a:t> </a:t>
            </a:r>
            <a:r>
              <a:rPr lang="en-US" dirty="0" err="1"/>
              <a:t>ekran</a:t>
            </a:r>
            <a:r>
              <a:rPr lang="en-US" dirty="0"/>
              <a:t> </a:t>
            </a:r>
            <a:r>
              <a:rPr lang="en-US" dirty="0" err="1"/>
              <a:t>aplikacije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omogucava</a:t>
            </a:r>
            <a:r>
              <a:rPr lang="en-US" dirty="0"/>
              <a:t> </a:t>
            </a:r>
            <a:r>
              <a:rPr lang="en-US" dirty="0" err="1"/>
              <a:t>korisniku</a:t>
            </a:r>
            <a:r>
              <a:rPr lang="en-US" dirty="0"/>
              <a:t> da u </a:t>
            </a:r>
            <a:r>
              <a:rPr lang="en-US" dirty="0" err="1"/>
              <a:t>realnom</a:t>
            </a:r>
            <a:r>
              <a:rPr lang="en-US" dirty="0"/>
              <a:t> </a:t>
            </a:r>
            <a:r>
              <a:rPr lang="en-US" dirty="0" err="1"/>
              <a:t>vremenu</a:t>
            </a:r>
            <a:r>
              <a:rPr lang="en-US" dirty="0"/>
              <a:t> </a:t>
            </a:r>
            <a:r>
              <a:rPr lang="en-US" dirty="0" err="1"/>
              <a:t>prati</a:t>
            </a:r>
            <a:r>
              <a:rPr lang="en-US" dirty="0"/>
              <a:t> </a:t>
            </a:r>
            <a:r>
              <a:rPr lang="en-US" dirty="0" err="1"/>
              <a:t>najvaznije</a:t>
            </a:r>
            <a:r>
              <a:rPr lang="en-US" dirty="0"/>
              <a:t> </a:t>
            </a:r>
            <a:r>
              <a:rPr lang="en-US" dirty="0" err="1"/>
              <a:t>informacije</a:t>
            </a:r>
            <a:r>
              <a:rPr lang="en-US" dirty="0"/>
              <a:t> o </a:t>
            </a:r>
            <a:r>
              <a:rPr lang="en-US" dirty="0" err="1"/>
              <a:t>radu</a:t>
            </a:r>
            <a:r>
              <a:rPr lang="en-US" dirty="0"/>
              <a:t> </a:t>
            </a:r>
            <a:r>
              <a:rPr lang="en-US" dirty="0" err="1"/>
              <a:t>sistema</a:t>
            </a:r>
            <a:r>
              <a:rPr lang="en-US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3C3B5B-02F5-D116-A183-85D735D8F2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869989-EB00-4EE7-BCB5-25BDC5BB29F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8399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37EA55-8E07-85C9-4FD1-CAAA2D57A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E64643-E39B-E18F-7B1E-4BC3F4637F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E0E2A9-1D16-052A-3E1E-50920140A2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9195E3-9E7E-1818-23D5-1391E4FD14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869989-EB00-4EE7-BCB5-25BDC5BB29F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04623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2A194E-DA0B-3DCF-0050-A6FD126CD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EE70D7-B3C6-C5EE-B42E-3669D51D95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9D2A81-26BA-BB99-CDD0-EC9B1E6847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09F27D-C9D9-D51A-607B-8BF811F851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869989-EB00-4EE7-BCB5-25BDC5BB29F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39070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DDBE7-4303-6AC9-2749-5449F6CCCF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0819F0-6908-8EBC-8C88-3C4950B1AA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C23E81-EF32-BD73-4FFC-B709A89AC6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25B357-E365-A9DB-C2DD-0F4EDCDF5E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869989-EB00-4EE7-BCB5-25BDC5BB29F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75497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689505-AA0D-0941-07FD-A6C3827FC5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F6B8C8-458C-8763-CA73-999A8AAA9C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ECDEAB-0A2C-C3E2-A9BF-61FCF8D5B2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1649F5-E141-9875-A845-AB09BF6C24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869989-EB00-4EE7-BCB5-25BDC5BB29F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98304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39666D-2511-8993-3FF3-2C92986E3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47CC00-42A0-26EB-C23A-378C590949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6F47EC-1D8C-9BC7-1CE7-8719E4D54C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Na ovaj nacin aplikacija ne sluzi samo za pasivni prikaz podataka, vec i za konfiguraciju rada sistema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B06F16-75FA-F8B5-07F3-B458E42CC7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869989-EB00-4EE7-BCB5-25BDC5BB29F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41160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9A772A-3C4C-F7E2-AC8F-DE0DCD0B9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29AEE2-FA9C-FC38-07B1-77A75C78A1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06D9E3-1BF6-B716-1C9D-408E5B1159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D91003-28A5-44D6-523E-F9799236E3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869989-EB00-4EE7-BCB5-25BDC5BB29F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98253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/>
          <p:cNvGrpSpPr/>
          <p:nvPr userDrawn="1"/>
        </p:nvGrpSpPr>
        <p:grpSpPr bwMode="hidden">
          <a:xfrm>
            <a:off x="-1" y="0"/>
            <a:ext cx="12192002" cy="6858000"/>
            <a:chOff x="-1" y="0"/>
            <a:chExt cx="12192002" cy="6858000"/>
          </a:xfrm>
        </p:grpSpPr>
        <p:cxnSp>
          <p:nvCxnSpPr>
            <p:cNvPr id="6" name="Straight Connector 5"/>
            <p:cNvCxnSpPr/>
            <p:nvPr/>
          </p:nvCxnSpPr>
          <p:spPr bwMode="hidden">
            <a:xfrm>
              <a:off x="610194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/>
            <p:cNvCxnSpPr/>
            <p:nvPr/>
          </p:nvCxnSpPr>
          <p:spPr bwMode="hidden">
            <a:xfrm>
              <a:off x="1829332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 bwMode="hidden">
            <a:xfrm>
              <a:off x="3048470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 bwMode="hidden">
            <a:xfrm>
              <a:off x="4267608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 bwMode="hidden">
            <a:xfrm>
              <a:off x="5486746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 bwMode="hidden">
            <a:xfrm>
              <a:off x="6705884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 bwMode="hidden">
            <a:xfrm>
              <a:off x="7925022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/>
            <p:nvPr/>
          </p:nvCxnSpPr>
          <p:spPr bwMode="hidden">
            <a:xfrm>
              <a:off x="9144160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/>
            <p:nvPr/>
          </p:nvCxnSpPr>
          <p:spPr bwMode="hidden">
            <a:xfrm>
              <a:off x="10363298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 bwMode="hidden">
            <a:xfrm>
              <a:off x="11582436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 bwMode="hidden">
            <a:xfrm>
              <a:off x="2819" y="386485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 bwMode="hidden">
            <a:xfrm>
              <a:off x="2819" y="1611181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 bwMode="hidden">
            <a:xfrm>
              <a:off x="2819" y="2835877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 bwMode="hidden">
            <a:xfrm>
              <a:off x="2819" y="4060573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 bwMode="hidden">
            <a:xfrm>
              <a:off x="2819" y="5285269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/>
            <p:nvPr/>
          </p:nvCxnSpPr>
          <p:spPr bwMode="hidden">
            <a:xfrm>
              <a:off x="2819" y="6509965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" name="Group 22"/>
            <p:cNvGrpSpPr/>
            <p:nvPr userDrawn="1"/>
          </p:nvGrpSpPr>
          <p:grpSpPr bwMode="hidden">
            <a:xfrm>
              <a:off x="-1" y="0"/>
              <a:ext cx="12192001" cy="6858000"/>
              <a:chOff x="-1" y="0"/>
              <a:chExt cx="12192001" cy="6858000"/>
            </a:xfrm>
          </p:grpSpPr>
          <p:cxnSp>
            <p:nvCxnSpPr>
              <p:cNvPr id="41" name="Straight Connector 40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6" name="Group 45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52" name="Straight Connector 51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Straight Connector 52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Straight Connector 53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Straight Connector 54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Straight Connector 55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7" name="Straight Connector 46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Connector 49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4" name="Group 23"/>
            <p:cNvGrpSpPr/>
            <p:nvPr userDrawn="1"/>
          </p:nvGrpSpPr>
          <p:grpSpPr bwMode="hidden">
            <a:xfrm flipH="1">
              <a:off x="0" y="0"/>
              <a:ext cx="12192001" cy="6858000"/>
              <a:chOff x="-1" y="0"/>
              <a:chExt cx="12192001" cy="6858000"/>
            </a:xfrm>
          </p:grpSpPr>
          <p:cxnSp>
            <p:nvCxnSpPr>
              <p:cNvPr id="25" name="Straight Connector 24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/>
              <p:cNvCxnSpPr/>
              <p:nvPr/>
            </p:nvCxnSpPr>
            <p:spPr bwMode="hidden">
              <a:xfrm>
                <a:off x="515064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0" name="Group 29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36" name="Straight Connector 35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" name="Straight Connector 36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Straight Connector 37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Straight Connector 38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1" name="Straight Connector 30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93845" y="1909346"/>
            <a:ext cx="9604310" cy="3383280"/>
          </a:xfrm>
        </p:spPr>
        <p:txBody>
          <a:bodyPr anchor="b">
            <a:normAutofit/>
          </a:bodyPr>
          <a:lstStyle>
            <a:lvl1pPr algn="l">
              <a:lnSpc>
                <a:spcPct val="76000"/>
              </a:lnSpc>
              <a:defRPr sz="8000" cap="none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93845" y="5432564"/>
            <a:ext cx="9604310" cy="457200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20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cxnSp>
        <p:nvCxnSpPr>
          <p:cNvPr id="58" name="Straight Connector 57"/>
          <p:cNvCxnSpPr/>
          <p:nvPr userDrawn="1"/>
        </p:nvCxnSpPr>
        <p:spPr>
          <a:xfrm>
            <a:off x="1295400" y="5294175"/>
            <a:ext cx="960120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88627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74B5B-21A0-4192-BF4C-38187F1A68D8}" type="datetime1">
              <a:rPr lang="en-US" smtClean="0"/>
              <a:t>6/12/2026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444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gradFill flip="none" rotWithShape="1">
          <a:gsLst>
            <a:gs pos="0">
              <a:schemeClr val="accent1"/>
            </a:gs>
            <a:gs pos="97000">
              <a:schemeClr val="accent1">
                <a:lumMod val="8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 userDrawn="1"/>
        </p:nvGrpSpPr>
        <p:grpSpPr bwMode="hidden">
          <a:xfrm>
            <a:off x="-1" y="0"/>
            <a:ext cx="12192002" cy="6858000"/>
            <a:chOff x="-1" y="0"/>
            <a:chExt cx="12192002" cy="6858000"/>
          </a:xfrm>
        </p:grpSpPr>
        <p:cxnSp>
          <p:nvCxnSpPr>
            <p:cNvPr id="8" name="Straight Connector 7"/>
            <p:cNvCxnSpPr/>
            <p:nvPr/>
          </p:nvCxnSpPr>
          <p:spPr bwMode="hidden">
            <a:xfrm>
              <a:off x="610194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 bwMode="hidden">
            <a:xfrm>
              <a:off x="1829332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 bwMode="hidden">
            <a:xfrm>
              <a:off x="3048470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 bwMode="hidden">
            <a:xfrm>
              <a:off x="4267608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 bwMode="hidden">
            <a:xfrm>
              <a:off x="5486746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 bwMode="hidden">
            <a:xfrm>
              <a:off x="6705884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/>
            <p:nvPr/>
          </p:nvCxnSpPr>
          <p:spPr bwMode="hidden">
            <a:xfrm>
              <a:off x="7925022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/>
            <p:nvPr/>
          </p:nvCxnSpPr>
          <p:spPr bwMode="hidden">
            <a:xfrm>
              <a:off x="9144160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 bwMode="hidden">
            <a:xfrm>
              <a:off x="10363298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 bwMode="hidden">
            <a:xfrm>
              <a:off x="11582436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 bwMode="hidden">
            <a:xfrm>
              <a:off x="2819" y="386485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 bwMode="hidden">
            <a:xfrm>
              <a:off x="2819" y="1611181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 bwMode="hidden">
            <a:xfrm>
              <a:off x="2819" y="2835877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 bwMode="hidden">
            <a:xfrm>
              <a:off x="2819" y="4060573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/>
            <p:nvPr/>
          </p:nvCxnSpPr>
          <p:spPr bwMode="hidden">
            <a:xfrm>
              <a:off x="2819" y="5285269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/>
          </p:nvCxnSpPr>
          <p:spPr bwMode="hidden">
            <a:xfrm>
              <a:off x="2819" y="6509965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" name="Group 23"/>
            <p:cNvGrpSpPr/>
            <p:nvPr userDrawn="1"/>
          </p:nvGrpSpPr>
          <p:grpSpPr bwMode="hidden">
            <a:xfrm>
              <a:off x="-1" y="0"/>
              <a:ext cx="12192001" cy="6858000"/>
              <a:chOff x="-1" y="0"/>
              <a:chExt cx="12192001" cy="6858000"/>
            </a:xfrm>
          </p:grpSpPr>
          <p:cxnSp>
            <p:nvCxnSpPr>
              <p:cNvPr id="42" name="Straight Connector 41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7" name="Group 46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53" name="Straight Connector 52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Straight Connector 53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Straight Connector 54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Straight Connector 55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Straight Connector 56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8" name="Straight Connector 47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Connector 49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Connector 51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5" name="Group 24"/>
            <p:cNvGrpSpPr/>
            <p:nvPr userDrawn="1"/>
          </p:nvGrpSpPr>
          <p:grpSpPr bwMode="hidden">
            <a:xfrm flipH="1">
              <a:off x="0" y="0"/>
              <a:ext cx="12192001" cy="6858000"/>
              <a:chOff x="-1" y="0"/>
              <a:chExt cx="12192001" cy="6858000"/>
            </a:xfrm>
          </p:grpSpPr>
          <p:cxnSp>
            <p:nvCxnSpPr>
              <p:cNvPr id="26" name="Straight Connector 25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/>
              <p:cNvCxnSpPr/>
              <p:nvPr/>
            </p:nvCxnSpPr>
            <p:spPr bwMode="hidden">
              <a:xfrm>
                <a:off x="515064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1" name="Group 30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37" name="Straight Connector 36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Straight Connector 37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Straight Connector 38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Connector 40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2" name="Straight Connector 31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0" y="2541573"/>
            <a:ext cx="9601200" cy="2743200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6000" cap="none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5431536"/>
            <a:ext cx="9601200" cy="457200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58" name="Straight Connector 57"/>
          <p:cNvCxnSpPr/>
          <p:nvPr userDrawn="1"/>
        </p:nvCxnSpPr>
        <p:spPr>
          <a:xfrm>
            <a:off x="1295400" y="5294175"/>
            <a:ext cx="96012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677804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5400" y="1981199"/>
            <a:ext cx="4572000" cy="3810001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24600" y="1981199"/>
            <a:ext cx="4572000" cy="3810001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B5CF7C-B333-48E1-A4A6-83A3C8B73AC0}" type="datetime1">
              <a:rPr lang="en-US" smtClean="0"/>
              <a:t>6/12/2026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5679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1818322"/>
            <a:ext cx="4572000" cy="64135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2503713"/>
            <a:ext cx="4572000" cy="3287487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24600" y="1818322"/>
            <a:ext cx="4572000" cy="64135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24600" y="2503713"/>
            <a:ext cx="4572000" cy="3287487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20762-5CBF-4210-AB54-376B091119F8}" type="datetime1">
              <a:rPr lang="en-US" smtClean="0"/>
              <a:t>6/12/2026</a:t>
            </a:fld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9065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DB371-BF5F-4058-A212-1A908E4D2674}" type="datetime1">
              <a:rPr lang="en-US" smtClean="0"/>
              <a:t>6/12/2026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897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1" name="Group 160"/>
          <p:cNvGrpSpPr/>
          <p:nvPr userDrawn="1"/>
        </p:nvGrpSpPr>
        <p:grpSpPr bwMode="hidden">
          <a:xfrm>
            <a:off x="-1" y="0"/>
            <a:ext cx="12192002" cy="6858000"/>
            <a:chOff x="-1" y="0"/>
            <a:chExt cx="12192002" cy="6858000"/>
          </a:xfrm>
        </p:grpSpPr>
        <p:cxnSp>
          <p:nvCxnSpPr>
            <p:cNvPr id="162" name="Straight Connector 161"/>
            <p:cNvCxnSpPr/>
            <p:nvPr/>
          </p:nvCxnSpPr>
          <p:spPr bwMode="hidden">
            <a:xfrm>
              <a:off x="610194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Straight Connector 162"/>
            <p:cNvCxnSpPr/>
            <p:nvPr/>
          </p:nvCxnSpPr>
          <p:spPr bwMode="hidden">
            <a:xfrm>
              <a:off x="1829332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Straight Connector 163"/>
            <p:cNvCxnSpPr/>
            <p:nvPr/>
          </p:nvCxnSpPr>
          <p:spPr bwMode="hidden">
            <a:xfrm>
              <a:off x="3048470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Straight Connector 164"/>
            <p:cNvCxnSpPr/>
            <p:nvPr/>
          </p:nvCxnSpPr>
          <p:spPr bwMode="hidden">
            <a:xfrm>
              <a:off x="4267608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Straight Connector 165"/>
            <p:cNvCxnSpPr/>
            <p:nvPr/>
          </p:nvCxnSpPr>
          <p:spPr bwMode="hidden">
            <a:xfrm>
              <a:off x="5486746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Straight Connector 166"/>
            <p:cNvCxnSpPr/>
            <p:nvPr/>
          </p:nvCxnSpPr>
          <p:spPr bwMode="hidden">
            <a:xfrm>
              <a:off x="6705884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Straight Connector 167"/>
            <p:cNvCxnSpPr/>
            <p:nvPr/>
          </p:nvCxnSpPr>
          <p:spPr bwMode="hidden">
            <a:xfrm>
              <a:off x="7925022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Straight Connector 168"/>
            <p:cNvCxnSpPr/>
            <p:nvPr/>
          </p:nvCxnSpPr>
          <p:spPr bwMode="hidden">
            <a:xfrm>
              <a:off x="9144160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Straight Connector 169"/>
            <p:cNvCxnSpPr/>
            <p:nvPr/>
          </p:nvCxnSpPr>
          <p:spPr bwMode="hidden">
            <a:xfrm>
              <a:off x="10363298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Straight Connector 170"/>
            <p:cNvCxnSpPr/>
            <p:nvPr/>
          </p:nvCxnSpPr>
          <p:spPr bwMode="hidden">
            <a:xfrm>
              <a:off x="11582436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Straight Connector 171"/>
            <p:cNvCxnSpPr/>
            <p:nvPr/>
          </p:nvCxnSpPr>
          <p:spPr bwMode="hidden">
            <a:xfrm>
              <a:off x="2819" y="386485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Straight Connector 172"/>
            <p:cNvCxnSpPr/>
            <p:nvPr/>
          </p:nvCxnSpPr>
          <p:spPr bwMode="hidden">
            <a:xfrm>
              <a:off x="2819" y="1611181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Straight Connector 173"/>
            <p:cNvCxnSpPr/>
            <p:nvPr/>
          </p:nvCxnSpPr>
          <p:spPr bwMode="hidden">
            <a:xfrm>
              <a:off x="2819" y="2835877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Straight Connector 174"/>
            <p:cNvCxnSpPr/>
            <p:nvPr/>
          </p:nvCxnSpPr>
          <p:spPr bwMode="hidden">
            <a:xfrm>
              <a:off x="2819" y="4060573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Straight Connector 175"/>
            <p:cNvCxnSpPr/>
            <p:nvPr/>
          </p:nvCxnSpPr>
          <p:spPr bwMode="hidden">
            <a:xfrm>
              <a:off x="2819" y="5285269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Straight Connector 176"/>
            <p:cNvCxnSpPr/>
            <p:nvPr/>
          </p:nvCxnSpPr>
          <p:spPr bwMode="hidden">
            <a:xfrm>
              <a:off x="2819" y="6509965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8" name="Group 177"/>
            <p:cNvGrpSpPr/>
            <p:nvPr userDrawn="1"/>
          </p:nvGrpSpPr>
          <p:grpSpPr bwMode="hidden">
            <a:xfrm>
              <a:off x="-1" y="0"/>
              <a:ext cx="12192001" cy="6858000"/>
              <a:chOff x="-1" y="0"/>
              <a:chExt cx="12192001" cy="6858000"/>
            </a:xfrm>
          </p:grpSpPr>
          <p:cxnSp>
            <p:nvCxnSpPr>
              <p:cNvPr id="196" name="Straight Connector 195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Straight Connector 196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Straight Connector 197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Straight Connector 198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Straight Connector 199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01" name="Group 200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207" name="Straight Connector 206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8" name="Straight Connector 207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9" name="Straight Connector 208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0" name="Straight Connector 209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1" name="Straight Connector 210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02" name="Straight Connector 201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Straight Connector 202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Straight Connector 203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Straight Connector 204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6" name="Straight Connector 205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9" name="Group 178"/>
            <p:cNvGrpSpPr/>
            <p:nvPr userDrawn="1"/>
          </p:nvGrpSpPr>
          <p:grpSpPr bwMode="hidden">
            <a:xfrm flipH="1">
              <a:off x="0" y="0"/>
              <a:ext cx="12192001" cy="6858000"/>
              <a:chOff x="-1" y="0"/>
              <a:chExt cx="12192001" cy="6858000"/>
            </a:xfrm>
          </p:grpSpPr>
          <p:cxnSp>
            <p:nvCxnSpPr>
              <p:cNvPr id="180" name="Straight Connector 179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1" name="Straight Connector 180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2" name="Straight Connector 181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3" name="Straight Connector 182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4" name="Straight Connector 183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85" name="Group 184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191" name="Straight Connector 190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2" name="Straight Connector 191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3" name="Straight Connector 192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4" name="Straight Connector 193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5" name="Straight Connector 194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86" name="Straight Connector 185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7" name="Straight Connector 186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8" name="Straight Connector 187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9" name="Straight Connector 188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0" name="Straight Connector 189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13" name="Footer Placeholder 21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212" name="Date Placeholder 21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4083B-90AA-48CF-BAD5-00AA24D7F288}" type="datetime1">
              <a:rPr lang="en-US" smtClean="0"/>
              <a:t>6/12/2026</a:t>
            </a:fld>
            <a:endParaRPr lang="en-US"/>
          </a:p>
        </p:txBody>
      </p:sp>
      <p:sp>
        <p:nvSpPr>
          <p:cNvPr id="214" name="Slide Number Placeholder 2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8172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bg>
      <p:bgPr>
        <a:gradFill flip="none" rotWithShape="1">
          <a:gsLst>
            <a:gs pos="0">
              <a:schemeClr val="accent1"/>
            </a:gs>
            <a:gs pos="100000">
              <a:schemeClr val="accent1">
                <a:lumMod val="8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 userDrawn="1"/>
        </p:nvGrpSpPr>
        <p:grpSpPr bwMode="hidden">
          <a:xfrm>
            <a:off x="-1" y="0"/>
            <a:ext cx="12192002" cy="6858000"/>
            <a:chOff x="-1" y="0"/>
            <a:chExt cx="12192002" cy="6858000"/>
          </a:xfrm>
        </p:grpSpPr>
        <p:cxnSp>
          <p:nvCxnSpPr>
            <p:cNvPr id="10" name="Straight Connector 9"/>
            <p:cNvCxnSpPr/>
            <p:nvPr/>
          </p:nvCxnSpPr>
          <p:spPr bwMode="hidden">
            <a:xfrm>
              <a:off x="610194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 bwMode="hidden">
            <a:xfrm>
              <a:off x="1829332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 bwMode="hidden">
            <a:xfrm>
              <a:off x="3048470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 bwMode="hidden">
            <a:xfrm>
              <a:off x="4267608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/>
            <p:nvPr/>
          </p:nvCxnSpPr>
          <p:spPr bwMode="hidden">
            <a:xfrm>
              <a:off x="5486746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/>
            <p:nvPr/>
          </p:nvCxnSpPr>
          <p:spPr bwMode="hidden">
            <a:xfrm>
              <a:off x="6705884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 bwMode="hidden">
            <a:xfrm>
              <a:off x="7925022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 bwMode="hidden">
            <a:xfrm>
              <a:off x="9144160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 bwMode="hidden">
            <a:xfrm>
              <a:off x="10363298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 bwMode="hidden">
            <a:xfrm>
              <a:off x="11582436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 bwMode="hidden">
            <a:xfrm>
              <a:off x="2819" y="386485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 bwMode="hidden">
            <a:xfrm>
              <a:off x="2819" y="1611181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/>
            <p:nvPr/>
          </p:nvCxnSpPr>
          <p:spPr bwMode="hidden">
            <a:xfrm>
              <a:off x="2819" y="2835877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/>
          </p:nvCxnSpPr>
          <p:spPr bwMode="hidden">
            <a:xfrm>
              <a:off x="2819" y="4060573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/>
            <p:cNvCxnSpPr/>
            <p:nvPr/>
          </p:nvCxnSpPr>
          <p:spPr bwMode="hidden">
            <a:xfrm>
              <a:off x="2819" y="5285269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/>
            <p:nvPr/>
          </p:nvCxnSpPr>
          <p:spPr bwMode="hidden">
            <a:xfrm>
              <a:off x="2819" y="6509965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" name="Group 25"/>
            <p:cNvGrpSpPr/>
            <p:nvPr userDrawn="1"/>
          </p:nvGrpSpPr>
          <p:grpSpPr bwMode="hidden">
            <a:xfrm>
              <a:off x="-1" y="0"/>
              <a:ext cx="12192001" cy="6858000"/>
              <a:chOff x="-1" y="0"/>
              <a:chExt cx="12192001" cy="6858000"/>
            </a:xfrm>
          </p:grpSpPr>
          <p:cxnSp>
            <p:nvCxnSpPr>
              <p:cNvPr id="44" name="Straight Connector 43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Connector 46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9" name="Group 48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55" name="Straight Connector 54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Straight Connector 55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Straight Connector 56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50" name="Straight Connector 49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Connector 51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7" name="Group 26"/>
            <p:cNvGrpSpPr/>
            <p:nvPr userDrawn="1"/>
          </p:nvGrpSpPr>
          <p:grpSpPr bwMode="hidden">
            <a:xfrm flipH="1">
              <a:off x="0" y="0"/>
              <a:ext cx="12192001" cy="6858000"/>
              <a:chOff x="-1" y="0"/>
              <a:chExt cx="12192001" cy="6858000"/>
            </a:xfrm>
          </p:grpSpPr>
          <p:cxnSp>
            <p:nvCxnSpPr>
              <p:cNvPr id="28" name="Straight Connector 27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/>
              <p:cNvCxnSpPr/>
              <p:nvPr/>
            </p:nvCxnSpPr>
            <p:spPr bwMode="hidden">
              <a:xfrm>
                <a:off x="515064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3" name="Group 32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39" name="Straight Connector 38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Connector 40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4" name="Straight Connector 33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7" name="Rectangle 6"/>
          <p:cNvSpPr/>
          <p:nvPr userDrawn="1"/>
        </p:nvSpPr>
        <p:spPr>
          <a:xfrm>
            <a:off x="0" y="0"/>
            <a:ext cx="7315200" cy="6858000"/>
          </a:xfrm>
          <a:prstGeom prst="rect">
            <a:avLst/>
          </a:prstGeom>
          <a:gradFill>
            <a:gsLst>
              <a:gs pos="69000">
                <a:schemeClr val="bg1"/>
              </a:gs>
              <a:gs pos="0">
                <a:schemeClr val="bg1"/>
              </a:gs>
              <a:gs pos="100000">
                <a:schemeClr val="bg1">
                  <a:lumMod val="95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13152" y="571500"/>
            <a:ext cx="3657600" cy="2197100"/>
          </a:xfrm>
        </p:spPr>
        <p:txBody>
          <a:bodyPr anchor="b">
            <a:normAutofit/>
          </a:bodyPr>
          <a:lstStyle>
            <a:lvl1pPr>
              <a:defRPr sz="2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3197" y="571500"/>
            <a:ext cx="6217920" cy="57150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913152" y="2995012"/>
            <a:ext cx="3657600" cy="2285950"/>
          </a:xfrm>
        </p:spPr>
        <p:txBody>
          <a:bodyPr>
            <a:normAutofit/>
          </a:bodyPr>
          <a:lstStyle>
            <a:lvl1pPr marL="0" indent="0">
              <a:spcBef>
                <a:spcPts val="1200"/>
              </a:spcBef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60" name="Straight Connector 59"/>
          <p:cNvCxnSpPr/>
          <p:nvPr userDrawn="1"/>
        </p:nvCxnSpPr>
        <p:spPr>
          <a:xfrm>
            <a:off x="7923089" y="2895600"/>
            <a:ext cx="3659311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5BAF629-ECA2-4CF3-B790-9D9BDED98269}" type="datetime1">
              <a:rPr lang="en-US" smtClean="0"/>
              <a:pPr/>
              <a:t>6/12/2026</a:t>
            </a:fld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31375A4-56A4-47D6-9801-1991572033F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3741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Pr>
        <a:gradFill flip="none" rotWithShape="1">
          <a:gsLst>
            <a:gs pos="0">
              <a:schemeClr val="accent1"/>
            </a:gs>
            <a:gs pos="100000">
              <a:schemeClr val="accent1">
                <a:lumMod val="8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 bwMode="hidden">
          <a:xfrm>
            <a:off x="-1" y="0"/>
            <a:ext cx="12192002" cy="6858000"/>
            <a:chOff x="-1" y="0"/>
            <a:chExt cx="12192002" cy="6858000"/>
          </a:xfrm>
        </p:grpSpPr>
        <p:cxnSp>
          <p:nvCxnSpPr>
            <p:cNvPr id="9" name="Straight Connector 8"/>
            <p:cNvCxnSpPr/>
            <p:nvPr/>
          </p:nvCxnSpPr>
          <p:spPr bwMode="hidden">
            <a:xfrm>
              <a:off x="610194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 bwMode="hidden">
            <a:xfrm>
              <a:off x="1829332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 bwMode="hidden">
            <a:xfrm>
              <a:off x="3048470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 bwMode="hidden">
            <a:xfrm>
              <a:off x="4267608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 bwMode="hidden">
            <a:xfrm>
              <a:off x="5486746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/>
            <p:nvPr/>
          </p:nvCxnSpPr>
          <p:spPr bwMode="hidden">
            <a:xfrm>
              <a:off x="6705884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/>
            <p:nvPr/>
          </p:nvCxnSpPr>
          <p:spPr bwMode="hidden">
            <a:xfrm>
              <a:off x="7925022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 bwMode="hidden">
            <a:xfrm>
              <a:off x="9144160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 bwMode="hidden">
            <a:xfrm>
              <a:off x="10363298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 bwMode="hidden">
            <a:xfrm>
              <a:off x="11582436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 bwMode="hidden">
            <a:xfrm>
              <a:off x="2819" y="386485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 bwMode="hidden">
            <a:xfrm>
              <a:off x="2819" y="1611181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 bwMode="hidden">
            <a:xfrm>
              <a:off x="2819" y="2835877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/>
            <p:nvPr/>
          </p:nvCxnSpPr>
          <p:spPr bwMode="hidden">
            <a:xfrm>
              <a:off x="2819" y="4060573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/>
          </p:nvCxnSpPr>
          <p:spPr bwMode="hidden">
            <a:xfrm>
              <a:off x="2819" y="5285269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/>
            <p:cNvCxnSpPr/>
            <p:nvPr/>
          </p:nvCxnSpPr>
          <p:spPr bwMode="hidden">
            <a:xfrm>
              <a:off x="2819" y="6509965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" name="Group 24"/>
            <p:cNvGrpSpPr/>
            <p:nvPr/>
          </p:nvGrpSpPr>
          <p:grpSpPr bwMode="hidden">
            <a:xfrm>
              <a:off x="-1" y="0"/>
              <a:ext cx="12192001" cy="6858000"/>
              <a:chOff x="-1" y="0"/>
              <a:chExt cx="12192001" cy="6858000"/>
            </a:xfrm>
          </p:grpSpPr>
          <p:cxnSp>
            <p:nvCxnSpPr>
              <p:cNvPr id="43" name="Straight Connector 42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Connector 46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8" name="Group 47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54" name="Straight Connector 53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Straight Connector 54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Straight Connector 55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Straight Connector 56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9" name="Straight Connector 48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Connector 49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Connector 51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6" name="Group 25"/>
            <p:cNvGrpSpPr/>
            <p:nvPr/>
          </p:nvGrpSpPr>
          <p:grpSpPr bwMode="hidden">
            <a:xfrm flipH="1">
              <a:off x="0" y="0"/>
              <a:ext cx="12192001" cy="6858000"/>
              <a:chOff x="-1" y="0"/>
              <a:chExt cx="12192001" cy="6858000"/>
            </a:xfrm>
          </p:grpSpPr>
          <p:cxnSp>
            <p:nvCxnSpPr>
              <p:cNvPr id="27" name="Straight Connector 26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/>
              <p:cNvCxnSpPr/>
              <p:nvPr/>
            </p:nvCxnSpPr>
            <p:spPr bwMode="hidden">
              <a:xfrm>
                <a:off x="515064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2" name="Group 31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38" name="Straight Connector 37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Straight Connector 38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Connector 40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3" name="Straight Connector 32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60" name="Rectangle 59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gradFill>
            <a:gsLst>
              <a:gs pos="69000">
                <a:schemeClr val="bg1"/>
              </a:gs>
              <a:gs pos="0">
                <a:schemeClr val="bg1"/>
              </a:gs>
              <a:gs pos="100000">
                <a:schemeClr val="bg1">
                  <a:lumMod val="95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9" name="Straight Connector 58"/>
          <p:cNvCxnSpPr/>
          <p:nvPr/>
        </p:nvCxnSpPr>
        <p:spPr>
          <a:xfrm>
            <a:off x="7923089" y="2895600"/>
            <a:ext cx="3659311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09560" y="576072"/>
            <a:ext cx="3657600" cy="2194560"/>
          </a:xfrm>
        </p:spPr>
        <p:txBody>
          <a:bodyPr anchor="b">
            <a:normAutofit/>
          </a:bodyPr>
          <a:lstStyle>
            <a:lvl1pPr>
              <a:defRPr sz="2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4412" y="-159"/>
            <a:ext cx="7315200" cy="6858000"/>
          </a:xfrm>
        </p:spPr>
        <p:txBody>
          <a:bodyPr tIns="457200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909560" y="2999232"/>
            <a:ext cx="3657600" cy="2286000"/>
          </a:xfrm>
        </p:spPr>
        <p:txBody>
          <a:bodyPr/>
          <a:lstStyle>
            <a:lvl1pPr marL="0" indent="0">
              <a:spcBef>
                <a:spcPts val="1200"/>
              </a:spcBef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203180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4A29A4-78C8-47AB-BA06-22CB45938951}" type="datetime1">
              <a:rPr lang="en-US" smtClean="0"/>
              <a:t>6/12/2026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1542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09314" y="489856"/>
            <a:ext cx="1687286" cy="530134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9" y="489856"/>
            <a:ext cx="7587344" cy="530134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D4ACF-2D82-46F2-A8E9-23963AA34E86}" type="datetime1">
              <a:rPr lang="en-US" smtClean="0"/>
              <a:t>6/12/2026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4635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53000">
              <a:schemeClr val="bg1"/>
            </a:gs>
            <a:gs pos="0">
              <a:schemeClr val="bg1">
                <a:lumMod val="100000"/>
              </a:schemeClr>
            </a:gs>
            <a:gs pos="100000">
              <a:schemeClr val="bg1">
                <a:lumMod val="95000"/>
                <a:alpha val="65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6" name="Group 95"/>
          <p:cNvGrpSpPr/>
          <p:nvPr userDrawn="1"/>
        </p:nvGrpSpPr>
        <p:grpSpPr bwMode="hidden">
          <a:xfrm>
            <a:off x="-1" y="-195943"/>
            <a:ext cx="12192002" cy="6858000"/>
            <a:chOff x="-1" y="0"/>
            <a:chExt cx="12192002" cy="6858000"/>
          </a:xfrm>
        </p:grpSpPr>
        <p:cxnSp>
          <p:nvCxnSpPr>
            <p:cNvPr id="97" name="Straight Connector 96"/>
            <p:cNvCxnSpPr/>
            <p:nvPr/>
          </p:nvCxnSpPr>
          <p:spPr bwMode="hidden">
            <a:xfrm>
              <a:off x="610194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/>
            <p:cNvCxnSpPr/>
            <p:nvPr/>
          </p:nvCxnSpPr>
          <p:spPr bwMode="hidden">
            <a:xfrm>
              <a:off x="1829332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/>
            <p:cNvCxnSpPr/>
            <p:nvPr/>
          </p:nvCxnSpPr>
          <p:spPr bwMode="hidden">
            <a:xfrm>
              <a:off x="3048470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/>
            <p:cNvCxnSpPr/>
            <p:nvPr/>
          </p:nvCxnSpPr>
          <p:spPr bwMode="hidden">
            <a:xfrm>
              <a:off x="4267608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/>
            <p:cNvCxnSpPr/>
            <p:nvPr/>
          </p:nvCxnSpPr>
          <p:spPr bwMode="hidden">
            <a:xfrm>
              <a:off x="5486746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/>
            <p:cNvCxnSpPr/>
            <p:nvPr/>
          </p:nvCxnSpPr>
          <p:spPr bwMode="hidden">
            <a:xfrm>
              <a:off x="6705884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/>
            <p:cNvCxnSpPr/>
            <p:nvPr/>
          </p:nvCxnSpPr>
          <p:spPr bwMode="hidden">
            <a:xfrm>
              <a:off x="7925022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/>
            <p:cNvCxnSpPr/>
            <p:nvPr/>
          </p:nvCxnSpPr>
          <p:spPr bwMode="hidden">
            <a:xfrm>
              <a:off x="9144160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/>
            <p:cNvCxnSpPr/>
            <p:nvPr/>
          </p:nvCxnSpPr>
          <p:spPr bwMode="hidden">
            <a:xfrm>
              <a:off x="10363298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/>
            <p:cNvCxnSpPr/>
            <p:nvPr/>
          </p:nvCxnSpPr>
          <p:spPr bwMode="hidden">
            <a:xfrm>
              <a:off x="11582436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/>
            <p:cNvCxnSpPr/>
            <p:nvPr/>
          </p:nvCxnSpPr>
          <p:spPr bwMode="hidden">
            <a:xfrm>
              <a:off x="2819" y="386485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/>
            <p:cNvCxnSpPr/>
            <p:nvPr/>
          </p:nvCxnSpPr>
          <p:spPr bwMode="hidden">
            <a:xfrm>
              <a:off x="2819" y="1611181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/>
            <p:cNvCxnSpPr/>
            <p:nvPr/>
          </p:nvCxnSpPr>
          <p:spPr bwMode="hidden">
            <a:xfrm>
              <a:off x="2819" y="2835877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/>
            <p:cNvCxnSpPr/>
            <p:nvPr/>
          </p:nvCxnSpPr>
          <p:spPr bwMode="hidden">
            <a:xfrm>
              <a:off x="2819" y="4060573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/>
            <p:cNvCxnSpPr/>
            <p:nvPr/>
          </p:nvCxnSpPr>
          <p:spPr bwMode="hidden">
            <a:xfrm>
              <a:off x="2819" y="5285269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/>
            <p:cNvCxnSpPr/>
            <p:nvPr/>
          </p:nvCxnSpPr>
          <p:spPr bwMode="hidden">
            <a:xfrm>
              <a:off x="2819" y="6509965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13" name="Group 112"/>
            <p:cNvGrpSpPr/>
            <p:nvPr userDrawn="1"/>
          </p:nvGrpSpPr>
          <p:grpSpPr bwMode="hidden">
            <a:xfrm>
              <a:off x="-1" y="0"/>
              <a:ext cx="12192001" cy="6858000"/>
              <a:chOff x="-1" y="0"/>
              <a:chExt cx="12192001" cy="6858000"/>
            </a:xfrm>
          </p:grpSpPr>
          <p:cxnSp>
            <p:nvCxnSpPr>
              <p:cNvPr id="131" name="Straight Connector 130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2" name="Straight Connector 131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3" name="Straight Connector 132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4" name="Straight Connector 133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Straight Connector 134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36" name="Group 135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142" name="Straight Connector 141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3" name="Straight Connector 142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4" name="Straight Connector 143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5" name="Straight Connector 144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6" name="Straight Connector 145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37" name="Straight Connector 136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8" name="Straight Connector 137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Straight Connector 138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0" name="Straight Connector 139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1" name="Straight Connector 140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4" name="Group 113"/>
            <p:cNvGrpSpPr/>
            <p:nvPr userDrawn="1"/>
          </p:nvGrpSpPr>
          <p:grpSpPr bwMode="hidden">
            <a:xfrm flipH="1">
              <a:off x="0" y="0"/>
              <a:ext cx="12192001" cy="6858000"/>
              <a:chOff x="-1" y="0"/>
              <a:chExt cx="12192001" cy="6858000"/>
            </a:xfrm>
          </p:grpSpPr>
          <p:cxnSp>
            <p:nvCxnSpPr>
              <p:cNvPr id="115" name="Straight Connector 114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6" name="Straight Connector 115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7" name="Straight Connector 116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Straight Connector 117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" name="Straight Connector 118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20" name="Group 119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126" name="Straight Connector 125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7" name="Straight Connector 126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8" name="Straight Connector 127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9" name="Straight Connector 128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0" name="Straight Connector 129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21" name="Straight Connector 120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" name="Straight Connector 121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Straight Connector 122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Straight Connector 123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Straight Connector 124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0" y="503853"/>
            <a:ext cx="9601200" cy="114238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1981201"/>
            <a:ext cx="9601200" cy="3809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48" name="Straight Connector 147"/>
          <p:cNvCxnSpPr/>
          <p:nvPr userDrawn="1"/>
        </p:nvCxnSpPr>
        <p:spPr>
          <a:xfrm>
            <a:off x="609600" y="6172200"/>
            <a:ext cx="10972800" cy="0"/>
          </a:xfrm>
          <a:prstGeom prst="line">
            <a:avLst/>
          </a:prstGeom>
          <a:ln w="127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9601" y="6289679"/>
            <a:ext cx="6128030" cy="2224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</a:lstStyle>
          <a:p>
            <a:r>
              <a:rPr lang="en-US" dirty="0"/>
              <a:t>Add a footer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294042" y="6289679"/>
            <a:ext cx="965946" cy="2224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</a:lstStyle>
          <a:p>
            <a:fld id="{B51B2453-8663-4C69-AF73-9FD7B1DEC5D0}" type="datetime1">
              <a:rPr lang="en-US" smtClean="0"/>
              <a:pPr/>
              <a:t>6/12/2026</a:t>
            </a:fld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65311" y="6289679"/>
            <a:ext cx="918882" cy="2224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</a:lstStyle>
          <a:p>
            <a:fld id="{E31375A4-56A4-47D6-9801-1991572033F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32598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9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accent1">
              <a:lumMod val="7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800"/>
        </a:spcBef>
        <a:buClr>
          <a:schemeClr val="accent1">
            <a:lumMod val="75000"/>
          </a:schemeClr>
        </a:buClr>
        <a:buSzPct val="100000"/>
        <a:buFont typeface="Arial" pitchFamily="34" charset="0"/>
        <a:buChar char="▪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>
            <a:lumMod val="75000"/>
          </a:schemeClr>
        </a:buClr>
        <a:buSzPct val="100000"/>
        <a:buFont typeface="Arial" pitchFamily="34" charset="0"/>
        <a:buChar char="▪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179388" algn="l" defTabSz="914400" rtl="0" eaLnBrk="1" latinLnBrk="0" hangingPunct="1">
        <a:lnSpc>
          <a:spcPct val="90000"/>
        </a:lnSpc>
        <a:spcBef>
          <a:spcPts val="800"/>
        </a:spcBef>
        <a:buClr>
          <a:schemeClr val="accent1">
            <a:lumMod val="75000"/>
          </a:schemeClr>
        </a:buClr>
        <a:buSzPct val="100000"/>
        <a:buFont typeface="Arial" pitchFamily="34" charset="0"/>
        <a:buChar char="▪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182880" algn="l" defTabSz="914400" rtl="0" eaLnBrk="1" latinLnBrk="0" hangingPunct="1">
        <a:lnSpc>
          <a:spcPct val="90000"/>
        </a:lnSpc>
        <a:spcBef>
          <a:spcPts val="800"/>
        </a:spcBef>
        <a:buClr>
          <a:schemeClr val="accent1">
            <a:lumMod val="75000"/>
          </a:schemeClr>
        </a:buClr>
        <a:buSzPct val="100000"/>
        <a:buFont typeface="Arial" pitchFamily="34" charset="0"/>
        <a:buChar char="▪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179388" algn="l" defTabSz="914400" rtl="0" eaLnBrk="1" latinLnBrk="0" hangingPunct="1">
        <a:lnSpc>
          <a:spcPct val="90000"/>
        </a:lnSpc>
        <a:spcBef>
          <a:spcPts val="600"/>
        </a:spcBef>
        <a:buClr>
          <a:schemeClr val="accent1">
            <a:lumMod val="75000"/>
          </a:schemeClr>
        </a:buClr>
        <a:buSzPct val="100000"/>
        <a:buFont typeface="Arial" pitchFamily="34" charset="0"/>
        <a:buChar char="▪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182880" algn="l" defTabSz="914400" rtl="0" eaLnBrk="1" latinLnBrk="0" hangingPunct="1">
        <a:lnSpc>
          <a:spcPct val="90000"/>
        </a:lnSpc>
        <a:spcBef>
          <a:spcPts val="600"/>
        </a:spcBef>
        <a:buClr>
          <a:schemeClr val="accent1">
            <a:lumMod val="75000"/>
          </a:schemeClr>
        </a:buClr>
        <a:buSzPct val="100000"/>
        <a:buFont typeface="Arial" pitchFamily="34" charset="0"/>
        <a:buChar char="▪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600200" indent="-179388" algn="l" defTabSz="914400" rtl="0" eaLnBrk="1" latinLnBrk="0" hangingPunct="1">
        <a:lnSpc>
          <a:spcPct val="90000"/>
        </a:lnSpc>
        <a:spcBef>
          <a:spcPts val="600"/>
        </a:spcBef>
        <a:buClr>
          <a:schemeClr val="accent1">
            <a:lumMod val="75000"/>
          </a:schemeClr>
        </a:buClr>
        <a:buSzPct val="100000"/>
        <a:buFont typeface="Arial" pitchFamily="34" charset="0"/>
        <a:buChar char="▪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828800" indent="-182880" algn="l" defTabSz="914400" rtl="0" eaLnBrk="1" latinLnBrk="0" hangingPunct="1">
        <a:lnSpc>
          <a:spcPct val="90000"/>
        </a:lnSpc>
        <a:spcBef>
          <a:spcPts val="600"/>
        </a:spcBef>
        <a:buClr>
          <a:schemeClr val="accent1">
            <a:lumMod val="75000"/>
          </a:schemeClr>
        </a:buClr>
        <a:buSzPct val="100000"/>
        <a:buFont typeface="Arial" pitchFamily="34" charset="0"/>
        <a:buChar char="▪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878012" indent="0" algn="l" defTabSz="914400" rtl="0" eaLnBrk="1" latinLnBrk="0" hangingPunct="1">
        <a:lnSpc>
          <a:spcPct val="90000"/>
        </a:lnSpc>
        <a:spcBef>
          <a:spcPts val="600"/>
        </a:spcBef>
        <a:buClr>
          <a:schemeClr val="accent1">
            <a:lumMod val="75000"/>
          </a:schemeClr>
        </a:buClr>
        <a:buSzPct val="100000"/>
        <a:buFont typeface="Arial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93845" y="1909346"/>
            <a:ext cx="9604310" cy="1738315"/>
          </a:xfrm>
        </p:spPr>
        <p:txBody>
          <a:bodyPr>
            <a:normAutofit/>
          </a:bodyPr>
          <a:lstStyle/>
          <a:p>
            <a:pPr algn="ctr"/>
            <a:r>
              <a:rPr lang="sr-Latn-RS" sz="6600" noProof="1"/>
              <a:t>UbiComp – Projekat 3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sr-Latn-RS" noProof="1"/>
              <a:t>Anastasija Vasić, 1848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EB443C37-6BAB-D604-FA46-0E2F877ACD7F}"/>
              </a:ext>
            </a:extLst>
          </p:cNvPr>
          <p:cNvSpPr txBox="1">
            <a:spLocks/>
          </p:cNvSpPr>
          <p:nvPr/>
        </p:nvSpPr>
        <p:spPr>
          <a:xfrm>
            <a:off x="7982880" y="5432564"/>
            <a:ext cx="3457059" cy="457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Clr>
                <a:schemeClr val="accent1">
                  <a:lumMod val="75000"/>
                </a:schemeClr>
              </a:buClr>
              <a:buSzPct val="100000"/>
              <a:buFont typeface="Arial" pitchFamily="34" charset="0"/>
              <a:buNone/>
              <a:defRPr sz="2000" b="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sr-Latn-RS" noProof="1"/>
              <a:t>Sveprisutno računarstvo</a:t>
            </a:r>
          </a:p>
        </p:txBody>
      </p:sp>
    </p:spTree>
    <p:extLst>
      <p:ext uri="{BB962C8B-B14F-4D97-AF65-F5344CB8AC3E}">
        <p14:creationId xmlns:p14="http://schemas.microsoft.com/office/powerpoint/2010/main" val="1069049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0" y="295205"/>
            <a:ext cx="9601200" cy="771595"/>
          </a:xfrm>
        </p:spPr>
        <p:txBody>
          <a:bodyPr>
            <a:normAutofit/>
          </a:bodyPr>
          <a:lstStyle/>
          <a:p>
            <a:pPr algn="ctr"/>
            <a:r>
              <a:rPr lang="en-US" sz="48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Zahtev</a:t>
            </a:r>
            <a:r>
              <a:rPr 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sz="48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projekta</a:t>
            </a:r>
            <a:r>
              <a:rPr 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sz="48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</a:t>
            </a:r>
            <a:r>
              <a:rPr 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sz="48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cilj</a:t>
            </a:r>
            <a:r>
              <a:rPr lang="sr-Latn-R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sz="48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realizacije</a:t>
            </a:r>
            <a:endParaRPr lang="sr-Latn-RS" sz="4800" noProof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32609" y="1683327"/>
            <a:ext cx="9763991" cy="4379544"/>
          </a:xfrm>
        </p:spPr>
        <p:txBody>
          <a:bodyPr>
            <a:normAutofit/>
          </a:bodyPr>
          <a:lstStyle/>
          <a:p>
            <a:r>
              <a:rPr lang="en-US" dirty="0" err="1"/>
              <a:t>Cilj</a:t>
            </a:r>
            <a:r>
              <a:rPr lang="en-US" dirty="0"/>
              <a:t> </a:t>
            </a:r>
            <a:r>
              <a:rPr lang="en-US" dirty="0" err="1"/>
              <a:t>projekta</a:t>
            </a:r>
            <a:r>
              <a:rPr lang="en-US" dirty="0"/>
              <a:t> bio je </a:t>
            </a:r>
            <a:r>
              <a:rPr lang="en-US" dirty="0" err="1"/>
              <a:t>razvoj</a:t>
            </a:r>
            <a:r>
              <a:rPr lang="en-US" dirty="0"/>
              <a:t> Android </a:t>
            </a:r>
            <a:r>
              <a:rPr lang="en-US" dirty="0" err="1"/>
              <a:t>aplikacije</a:t>
            </a:r>
            <a:r>
              <a:rPr lang="en-US" dirty="0"/>
              <a:t> </a:t>
            </a:r>
            <a:r>
              <a:rPr lang="en-US" dirty="0" err="1"/>
              <a:t>koja</a:t>
            </a:r>
            <a:r>
              <a:rPr lang="en-US" dirty="0"/>
              <a:t> pro</a:t>
            </a:r>
            <a:r>
              <a:rPr lang="sr-Latn-RS" dirty="0"/>
              <a:t>š</a:t>
            </a:r>
            <a:r>
              <a:rPr lang="en-US" dirty="0" err="1"/>
              <a:t>iruje</a:t>
            </a:r>
            <a:r>
              <a:rPr lang="en-US" dirty="0"/>
              <a:t> </a:t>
            </a:r>
            <a:r>
              <a:rPr lang="en-US" dirty="0" err="1"/>
              <a:t>sistem</a:t>
            </a:r>
            <a:r>
              <a:rPr lang="en-US" dirty="0"/>
              <a:t> </a:t>
            </a:r>
            <a:r>
              <a:rPr lang="en-US" dirty="0" err="1"/>
              <a:t>iz</a:t>
            </a:r>
            <a:r>
              <a:rPr lang="en-US" dirty="0"/>
              <a:t> </a:t>
            </a:r>
            <a:r>
              <a:rPr lang="sr-Latn-RS" dirty="0"/>
              <a:t>p</a:t>
            </a:r>
            <a:r>
              <a:rPr lang="en-US" dirty="0" err="1"/>
              <a:t>rojekta</a:t>
            </a:r>
            <a:r>
              <a:rPr lang="en-US" dirty="0"/>
              <a:t> 2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omogu</a:t>
            </a:r>
            <a:r>
              <a:rPr lang="sr-Latn-RS" dirty="0"/>
              <a:t>ć</a:t>
            </a:r>
            <a:r>
              <a:rPr lang="en-US" dirty="0"/>
              <a:t>ava:</a:t>
            </a:r>
          </a:p>
          <a:p>
            <a:pPr lvl="1"/>
            <a:r>
              <a:rPr lang="en-US" dirty="0" err="1"/>
              <a:t>prikaz</a:t>
            </a:r>
            <a:r>
              <a:rPr lang="en-US" dirty="0"/>
              <a:t> </a:t>
            </a:r>
            <a:r>
              <a:rPr lang="en-US" dirty="0" err="1"/>
              <a:t>senzorskih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ML/DL </a:t>
            </a:r>
            <a:r>
              <a:rPr lang="en-US" dirty="0" err="1"/>
              <a:t>doga</a:t>
            </a:r>
            <a:r>
              <a:rPr lang="sr-Latn-RS" dirty="0"/>
              <a:t>đ</a:t>
            </a:r>
            <a:r>
              <a:rPr lang="en-US" dirty="0" err="1"/>
              <a:t>aja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notifikacije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SBC </a:t>
            </a:r>
            <a:r>
              <a:rPr lang="en-US" dirty="0" err="1"/>
              <a:t>ure</a:t>
            </a:r>
            <a:r>
              <a:rPr lang="sr-Latn-RS" dirty="0"/>
              <a:t>đ</a:t>
            </a:r>
            <a:r>
              <a:rPr lang="en-US" dirty="0" err="1"/>
              <a:t>aja</a:t>
            </a:r>
            <a:r>
              <a:rPr lang="en-US" dirty="0"/>
              <a:t> </a:t>
            </a:r>
            <a:r>
              <a:rPr lang="en-US" dirty="0" err="1"/>
              <a:t>preko</a:t>
            </a:r>
            <a:r>
              <a:rPr lang="en-US" dirty="0"/>
              <a:t> WebSocket </a:t>
            </a:r>
            <a:r>
              <a:rPr lang="en-US" dirty="0" err="1"/>
              <a:t>protokola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konfiguraciju</a:t>
            </a:r>
            <a:r>
              <a:rPr lang="en-US" dirty="0"/>
              <a:t> </a:t>
            </a:r>
            <a:r>
              <a:rPr lang="en-US" dirty="0" err="1"/>
              <a:t>parametara</a:t>
            </a:r>
            <a:r>
              <a:rPr lang="en-US" dirty="0"/>
              <a:t> </a:t>
            </a:r>
            <a:r>
              <a:rPr lang="en-US" dirty="0" err="1"/>
              <a:t>sistema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pokretanje</a:t>
            </a:r>
            <a:r>
              <a:rPr lang="en-US" dirty="0"/>
              <a:t> </a:t>
            </a:r>
            <a:r>
              <a:rPr lang="en-US" dirty="0" err="1"/>
              <a:t>simulirane</a:t>
            </a:r>
            <a:r>
              <a:rPr lang="en-US" dirty="0"/>
              <a:t> </a:t>
            </a:r>
            <a:r>
              <a:rPr lang="en-US" dirty="0" err="1"/>
              <a:t>akcije</a:t>
            </a:r>
            <a:r>
              <a:rPr lang="en-US" dirty="0"/>
              <a:t> </a:t>
            </a:r>
            <a:r>
              <a:rPr lang="en-US" dirty="0" err="1"/>
              <a:t>aktuatora</a:t>
            </a:r>
            <a:endParaRPr lang="en-US" dirty="0"/>
          </a:p>
          <a:p>
            <a:endParaRPr lang="sr-Latn-RS" i="1" noProof="1"/>
          </a:p>
          <a:p>
            <a:endParaRPr lang="sr-Latn-RS" noProof="1"/>
          </a:p>
        </p:txBody>
      </p:sp>
    </p:spTree>
    <p:extLst>
      <p:ext uri="{BB962C8B-B14F-4D97-AF65-F5344CB8AC3E}">
        <p14:creationId xmlns:p14="http://schemas.microsoft.com/office/powerpoint/2010/main" val="39846177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FE16D0-B793-1830-A3F3-542136F0A5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F732D5B9-4FE6-633F-413A-624658A6B9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2813" y="0"/>
            <a:ext cx="9601200" cy="900802"/>
          </a:xfrm>
        </p:spPr>
        <p:txBody>
          <a:bodyPr>
            <a:normAutofit/>
          </a:bodyPr>
          <a:lstStyle/>
          <a:p>
            <a:pPr algn="ctr"/>
            <a:r>
              <a:rPr lang="sr-Latn-RS" sz="4800" noProof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Arhitektura sistema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15BC11-D2CA-141B-D88C-00C5379B49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7982" y="996824"/>
            <a:ext cx="11714018" cy="4794377"/>
          </a:xfrm>
        </p:spPr>
        <p:txBody>
          <a:bodyPr>
            <a:normAutofit/>
          </a:bodyPr>
          <a:lstStyle/>
          <a:p>
            <a:r>
              <a:rPr lang="en-US" sz="1800" dirty="0"/>
              <a:t>Android </a:t>
            </a:r>
            <a:r>
              <a:rPr lang="en-US" sz="1800" dirty="0" err="1"/>
              <a:t>aplikacija</a:t>
            </a:r>
            <a:r>
              <a:rPr lang="en-US" sz="1800" dirty="0"/>
              <a:t> </a:t>
            </a:r>
            <a:r>
              <a:rPr lang="en-US" sz="1800" dirty="0" err="1"/>
              <a:t>komunicira</a:t>
            </a:r>
            <a:r>
              <a:rPr lang="en-US" sz="1800" dirty="0"/>
              <a:t> </a:t>
            </a:r>
            <a:r>
              <a:rPr lang="en-US" sz="1800" dirty="0" err="1"/>
              <a:t>sa</a:t>
            </a:r>
            <a:r>
              <a:rPr lang="en-US" sz="1800" dirty="0"/>
              <a:t> Raspberry Pi </a:t>
            </a:r>
            <a:r>
              <a:rPr lang="en-US" sz="1800" dirty="0" err="1"/>
              <a:t>ure</a:t>
            </a:r>
            <a:r>
              <a:rPr lang="sr-Latn-RS" sz="1800" dirty="0"/>
              <a:t>đ</a:t>
            </a:r>
            <a:r>
              <a:rPr lang="en-US" sz="1800" dirty="0" err="1"/>
              <a:t>ajem</a:t>
            </a:r>
            <a:r>
              <a:rPr lang="en-US" sz="1800" dirty="0"/>
              <a:t> </a:t>
            </a:r>
            <a:r>
              <a:rPr lang="en-US" sz="1800" dirty="0" err="1"/>
              <a:t>preko</a:t>
            </a:r>
            <a:r>
              <a:rPr lang="en-US" sz="1800" dirty="0"/>
              <a:t> WebSocket </a:t>
            </a:r>
            <a:r>
              <a:rPr lang="en-US" sz="1800" dirty="0" err="1"/>
              <a:t>servisa</a:t>
            </a:r>
            <a:r>
              <a:rPr lang="en-US" sz="1800" dirty="0"/>
              <a:t> </a:t>
            </a:r>
            <a:r>
              <a:rPr lang="en-US" sz="1800" i="1" dirty="0">
                <a:solidFill>
                  <a:schemeClr val="bg1">
                    <a:lumMod val="50000"/>
                  </a:schemeClr>
                </a:solidFill>
              </a:rPr>
              <a:t>mobile-dashboard-</a:t>
            </a:r>
            <a:r>
              <a:rPr lang="en-US" sz="1800" i="1" dirty="0" err="1">
                <a:solidFill>
                  <a:schemeClr val="bg1">
                    <a:lumMod val="50000"/>
                  </a:schemeClr>
                </a:solidFill>
              </a:rPr>
              <a:t>api</a:t>
            </a:r>
            <a:r>
              <a:rPr lang="en-US" sz="1800" dirty="0"/>
              <a:t>.</a:t>
            </a:r>
            <a:br>
              <a:rPr lang="en-US" sz="1800" dirty="0"/>
            </a:br>
            <a:r>
              <a:rPr lang="en-US" sz="1800" dirty="0"/>
              <a:t>Backend </a:t>
            </a:r>
            <a:r>
              <a:rPr lang="en-US" sz="1800" dirty="0" err="1"/>
              <a:t>servis</a:t>
            </a:r>
            <a:r>
              <a:rPr lang="en-US" sz="1800" dirty="0"/>
              <a:t> </a:t>
            </a:r>
            <a:r>
              <a:rPr lang="en-US" sz="1800" dirty="0" err="1"/>
              <a:t>preuzima</a:t>
            </a:r>
            <a:r>
              <a:rPr lang="en-US" sz="1800" dirty="0"/>
              <a:t> </a:t>
            </a:r>
            <a:r>
              <a:rPr lang="en-US" sz="1800" dirty="0" err="1"/>
              <a:t>podatke</a:t>
            </a:r>
            <a:r>
              <a:rPr lang="en-US" sz="1800" dirty="0"/>
              <a:t> </a:t>
            </a:r>
            <a:r>
              <a:rPr lang="en-US" sz="1800" dirty="0" err="1"/>
              <a:t>iz</a:t>
            </a:r>
            <a:r>
              <a:rPr lang="en-US" sz="1800" dirty="0"/>
              <a:t> </a:t>
            </a:r>
            <a:r>
              <a:rPr lang="en-US" sz="1800" dirty="0" err="1"/>
              <a:t>postoje</a:t>
            </a:r>
            <a:r>
              <a:rPr lang="sr-Latn-RS" sz="1800" dirty="0"/>
              <a:t>ć</a:t>
            </a:r>
            <a:r>
              <a:rPr lang="en-US" sz="1800" dirty="0" err="1"/>
              <a:t>eg</a:t>
            </a:r>
            <a:r>
              <a:rPr lang="en-US" sz="1800" dirty="0"/>
              <a:t> MQTT </a:t>
            </a:r>
            <a:r>
              <a:rPr lang="en-US" sz="1800" dirty="0" err="1"/>
              <a:t>sistema</a:t>
            </a:r>
            <a:r>
              <a:rPr lang="en-US" sz="1800" dirty="0"/>
              <a:t>, </a:t>
            </a:r>
            <a:r>
              <a:rPr lang="en-US" sz="1800" dirty="0" err="1"/>
              <a:t>prosle</a:t>
            </a:r>
            <a:r>
              <a:rPr lang="sr-Latn-RS" sz="1800" dirty="0"/>
              <a:t>đ</a:t>
            </a:r>
            <a:r>
              <a:rPr lang="en-US" sz="1800" dirty="0" err="1"/>
              <a:t>uje</a:t>
            </a:r>
            <a:r>
              <a:rPr lang="en-US" sz="1800" dirty="0"/>
              <a:t> </a:t>
            </a:r>
            <a:r>
              <a:rPr lang="en-US" sz="1800" dirty="0" err="1"/>
              <a:t>ih</a:t>
            </a:r>
            <a:r>
              <a:rPr lang="en-US" sz="1800" dirty="0"/>
              <a:t> </a:t>
            </a:r>
            <a:r>
              <a:rPr lang="en-US" sz="1800" dirty="0" err="1"/>
              <a:t>aplikaciji</a:t>
            </a:r>
            <a:r>
              <a:rPr lang="en-US" sz="1800" dirty="0"/>
              <a:t> </a:t>
            </a:r>
            <a:r>
              <a:rPr lang="en-US" sz="1800" dirty="0" err="1"/>
              <a:t>i</a:t>
            </a:r>
            <a:r>
              <a:rPr lang="en-US" sz="1800" dirty="0"/>
              <a:t> prima </a:t>
            </a:r>
            <a:r>
              <a:rPr lang="en-US" sz="1800" dirty="0" err="1"/>
              <a:t>komande</a:t>
            </a:r>
            <a:r>
              <a:rPr lang="en-US" sz="1800" dirty="0"/>
              <a:t> </a:t>
            </a:r>
            <a:r>
              <a:rPr lang="en-US" sz="1800" dirty="0" err="1"/>
              <a:t>iz</a:t>
            </a:r>
            <a:r>
              <a:rPr lang="en-US" sz="1800" dirty="0"/>
              <a:t> </a:t>
            </a:r>
            <a:r>
              <a:rPr lang="en-US" sz="1800" dirty="0" err="1"/>
              <a:t>aplikacije</a:t>
            </a:r>
            <a:r>
              <a:rPr lang="en-US" sz="1800" dirty="0"/>
              <a:t>.</a:t>
            </a:r>
            <a:r>
              <a:rPr lang="sr-Latn-RS" sz="1800" dirty="0"/>
              <a:t> </a:t>
            </a:r>
            <a:r>
              <a:rPr lang="en-US" sz="1800" dirty="0"/>
              <a:t>Na taj </a:t>
            </a:r>
            <a:r>
              <a:rPr lang="en-US" sz="1800" dirty="0" err="1"/>
              <a:t>na</a:t>
            </a:r>
            <a:r>
              <a:rPr lang="sr-Latn-RS" sz="1800" dirty="0"/>
              <a:t>č</a:t>
            </a:r>
            <a:r>
              <a:rPr lang="en-US" sz="1800" dirty="0"/>
              <a:t>in </a:t>
            </a:r>
            <a:r>
              <a:rPr lang="en-US" sz="1800" dirty="0" err="1"/>
              <a:t>ostvarena</a:t>
            </a:r>
            <a:r>
              <a:rPr lang="en-US" sz="1800" dirty="0"/>
              <a:t> je </a:t>
            </a:r>
            <a:r>
              <a:rPr lang="en-US" sz="1800" dirty="0" err="1"/>
              <a:t>dvosmerna</a:t>
            </a:r>
            <a:r>
              <a:rPr lang="en-US" sz="1800" dirty="0"/>
              <a:t> </a:t>
            </a:r>
            <a:r>
              <a:rPr lang="en-US" sz="1800" dirty="0" err="1"/>
              <a:t>komunikacija</a:t>
            </a:r>
            <a:r>
              <a:rPr lang="en-US" sz="1800" dirty="0"/>
              <a:t> </a:t>
            </a:r>
            <a:r>
              <a:rPr lang="en-US" sz="1800" dirty="0" err="1"/>
              <a:t>izmedju</a:t>
            </a:r>
            <a:r>
              <a:rPr lang="en-US" sz="1800" dirty="0"/>
              <a:t> </a:t>
            </a:r>
            <a:r>
              <a:rPr lang="en-US" sz="1800" dirty="0" err="1"/>
              <a:t>mobilne</a:t>
            </a:r>
            <a:r>
              <a:rPr lang="en-US" sz="1800" dirty="0"/>
              <a:t> </a:t>
            </a:r>
            <a:r>
              <a:rPr lang="en-US" sz="1800" dirty="0" err="1"/>
              <a:t>aplikacije</a:t>
            </a:r>
            <a:r>
              <a:rPr lang="en-US" sz="1800" dirty="0"/>
              <a:t> </a:t>
            </a:r>
            <a:r>
              <a:rPr lang="en-US" sz="1800" dirty="0" err="1"/>
              <a:t>i</a:t>
            </a:r>
            <a:r>
              <a:rPr lang="en-US" sz="1800" dirty="0"/>
              <a:t> IoT </a:t>
            </a:r>
            <a:r>
              <a:rPr lang="en-US" sz="1800" dirty="0" err="1"/>
              <a:t>sistema</a:t>
            </a:r>
            <a:r>
              <a:rPr lang="en-US" sz="1800" dirty="0"/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70F4B52-053E-06CC-DAC7-2059EE93C88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1959"/>
          <a:stretch>
            <a:fillRect/>
          </a:stretch>
        </p:blipFill>
        <p:spPr>
          <a:xfrm>
            <a:off x="1295400" y="1830014"/>
            <a:ext cx="9812482" cy="4861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51381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44A4B7-54FF-E7AA-CF85-C7F8F1D895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A30C496-05AC-302A-3432-84D38D0AA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0" y="165997"/>
            <a:ext cx="9601200" cy="900802"/>
          </a:xfrm>
        </p:spPr>
        <p:txBody>
          <a:bodyPr>
            <a:normAutofit/>
          </a:bodyPr>
          <a:lstStyle/>
          <a:p>
            <a:pPr algn="ctr"/>
            <a:r>
              <a:rPr lang="en-US" sz="48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Struktura</a:t>
            </a:r>
            <a:r>
              <a:rPr 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Android </a:t>
            </a:r>
            <a:r>
              <a:rPr lang="en-US" sz="48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aplikacije</a:t>
            </a:r>
            <a:endParaRPr lang="en-US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F277A8-4FAF-C6B2-0DFC-BB897C88F6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455" y="1257301"/>
            <a:ext cx="11066318" cy="4533900"/>
          </a:xfrm>
        </p:spPr>
        <p:txBody>
          <a:bodyPr/>
          <a:lstStyle/>
          <a:p>
            <a:r>
              <a:rPr lang="en-US" dirty="0" err="1"/>
              <a:t>Aplikacija</a:t>
            </a:r>
            <a:r>
              <a:rPr lang="en-US" dirty="0"/>
              <a:t> je </a:t>
            </a:r>
            <a:r>
              <a:rPr lang="en-US" dirty="0" err="1"/>
              <a:t>realizovana</a:t>
            </a:r>
            <a:r>
              <a:rPr lang="en-US" dirty="0"/>
              <a:t> u Kotlin </a:t>
            </a:r>
            <a:r>
              <a:rPr lang="en-US" dirty="0" err="1"/>
              <a:t>jeziku</a:t>
            </a:r>
            <a:r>
              <a:rPr lang="en-US" dirty="0"/>
              <a:t> </a:t>
            </a:r>
            <a:r>
              <a:rPr lang="en-US" dirty="0" err="1"/>
              <a:t>uz</a:t>
            </a:r>
            <a:r>
              <a:rPr lang="en-US" dirty="0"/>
              <a:t> Jetpack Compose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sastoji</a:t>
            </a:r>
            <a:r>
              <a:rPr lang="en-US" dirty="0"/>
              <a:t> se </a:t>
            </a:r>
            <a:r>
              <a:rPr lang="en-US" dirty="0" err="1"/>
              <a:t>iz</a:t>
            </a:r>
            <a:r>
              <a:rPr lang="en-US" dirty="0"/>
              <a:t> </a:t>
            </a:r>
            <a:r>
              <a:rPr lang="en-US" dirty="0" err="1"/>
              <a:t>cetiri</a:t>
            </a:r>
            <a:r>
              <a:rPr lang="en-US" dirty="0"/>
              <a:t> </a:t>
            </a:r>
            <a:r>
              <a:rPr lang="en-US" dirty="0" err="1"/>
              <a:t>glavna</a:t>
            </a:r>
            <a:r>
              <a:rPr lang="en-US" dirty="0"/>
              <a:t> </a:t>
            </a:r>
            <a:r>
              <a:rPr lang="en-US" dirty="0" err="1"/>
              <a:t>ekrana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Dashboard </a:t>
            </a:r>
          </a:p>
          <a:p>
            <a:pPr lvl="1"/>
            <a:r>
              <a:rPr lang="en-US" dirty="0"/>
              <a:t>Events </a:t>
            </a:r>
          </a:p>
          <a:p>
            <a:pPr lvl="1"/>
            <a:r>
              <a:rPr lang="en-US" dirty="0"/>
              <a:t>Control </a:t>
            </a:r>
          </a:p>
          <a:p>
            <a:pPr lvl="1"/>
            <a:r>
              <a:rPr lang="en-US" dirty="0"/>
              <a:t>Settings </a:t>
            </a:r>
          </a:p>
          <a:p>
            <a:r>
              <a:rPr lang="en-US" dirty="0" err="1"/>
              <a:t>Navigacija</a:t>
            </a:r>
            <a:r>
              <a:rPr lang="en-US" dirty="0"/>
              <a:t> </a:t>
            </a:r>
            <a:r>
              <a:rPr lang="en-US" dirty="0" err="1"/>
              <a:t>izmedju</a:t>
            </a:r>
            <a:r>
              <a:rPr lang="en-US" dirty="0"/>
              <a:t> </a:t>
            </a:r>
            <a:r>
              <a:rPr lang="en-US" dirty="0" err="1"/>
              <a:t>ekrana</a:t>
            </a:r>
            <a:r>
              <a:rPr lang="en-US" dirty="0"/>
              <a:t> </a:t>
            </a:r>
            <a:r>
              <a:rPr lang="en-US" dirty="0" err="1"/>
              <a:t>ostvarena</a:t>
            </a:r>
            <a:r>
              <a:rPr lang="en-US" dirty="0"/>
              <a:t> je </a:t>
            </a:r>
            <a:r>
              <a:rPr lang="en-US" dirty="0" err="1"/>
              <a:t>pomocu</a:t>
            </a:r>
            <a:r>
              <a:rPr lang="en-US" dirty="0"/>
              <a:t> </a:t>
            </a:r>
            <a:r>
              <a:rPr lang="en-US" dirty="0" err="1"/>
              <a:t>donje</a:t>
            </a:r>
            <a:r>
              <a:rPr lang="en-US" dirty="0"/>
              <a:t> </a:t>
            </a:r>
            <a:r>
              <a:rPr lang="en-US" dirty="0" err="1"/>
              <a:t>navigacione</a:t>
            </a:r>
            <a:r>
              <a:rPr lang="en-US" dirty="0"/>
              <a:t> </a:t>
            </a:r>
            <a:r>
              <a:rPr lang="en-US" dirty="0" err="1"/>
              <a:t>trake</a:t>
            </a:r>
            <a:r>
              <a:rPr lang="en-US" dirty="0"/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F277263-CFDA-4B14-8255-A62A62A457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4320" y="3876433"/>
            <a:ext cx="6544588" cy="1724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96889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460D5-1A25-BCAC-B9C6-15F16DD10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7FE00975-32A3-8862-C4CF-22D2ACD66F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6082" y="57434"/>
            <a:ext cx="11159836" cy="900802"/>
          </a:xfrm>
        </p:spPr>
        <p:txBody>
          <a:bodyPr>
            <a:normAutofit fontScale="90000"/>
          </a:bodyPr>
          <a:lstStyle/>
          <a:p>
            <a:pPr algn="ctr"/>
            <a:r>
              <a:rPr 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Dashboard </a:t>
            </a:r>
            <a:r>
              <a:rPr lang="en-US" sz="48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ekran</a:t>
            </a:r>
            <a:r>
              <a:rPr 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– </a:t>
            </a:r>
            <a:r>
              <a:rPr lang="en-US" sz="48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prikaz</a:t>
            </a:r>
            <a:r>
              <a:rPr 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sz="48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stanja</a:t>
            </a:r>
            <a:r>
              <a:rPr 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sz="48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sistema</a:t>
            </a:r>
            <a:endParaRPr lang="sr-Latn-RS" sz="4800" noProof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516C5C-F1ED-2042-5718-A483B0D038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4236" y="1189038"/>
            <a:ext cx="5451764" cy="4602163"/>
          </a:xfrm>
          <a:noFill/>
        </p:spPr>
        <p:txBody>
          <a:bodyPr/>
          <a:lstStyle/>
          <a:p>
            <a:r>
              <a:rPr lang="en-US" b="1" dirty="0"/>
              <a:t>Dashboard </a:t>
            </a:r>
            <a:r>
              <a:rPr lang="en-US" b="1" dirty="0" err="1"/>
              <a:t>ekran</a:t>
            </a:r>
            <a:r>
              <a:rPr lang="en-US" b="1" dirty="0"/>
              <a:t> </a:t>
            </a:r>
            <a:r>
              <a:rPr lang="en-US" dirty="0" err="1"/>
              <a:t>prikazuje</a:t>
            </a:r>
            <a:r>
              <a:rPr lang="en-US" dirty="0"/>
              <a:t> </a:t>
            </a:r>
            <a:r>
              <a:rPr lang="en-US" dirty="0" err="1"/>
              <a:t>podatke</a:t>
            </a:r>
            <a:r>
              <a:rPr lang="en-US" dirty="0"/>
              <a:t> u </a:t>
            </a:r>
            <a:r>
              <a:rPr lang="en-US" dirty="0" err="1"/>
              <a:t>realnom</a:t>
            </a:r>
            <a:r>
              <a:rPr lang="en-US" dirty="0"/>
              <a:t> </a:t>
            </a:r>
            <a:r>
              <a:rPr lang="en-US" dirty="0" err="1"/>
              <a:t>vremenu</a:t>
            </a:r>
            <a:r>
              <a:rPr lang="en-US" dirty="0"/>
              <a:t> </a:t>
            </a:r>
            <a:r>
              <a:rPr lang="en-US" dirty="0" err="1"/>
              <a:t>koje</a:t>
            </a:r>
            <a:r>
              <a:rPr lang="en-US" dirty="0"/>
              <a:t> </a:t>
            </a:r>
            <a:r>
              <a:rPr lang="en-US" dirty="0" err="1"/>
              <a:t>aplikacija</a:t>
            </a:r>
            <a:r>
              <a:rPr lang="en-US" dirty="0"/>
              <a:t> </a:t>
            </a:r>
            <a:r>
              <a:rPr lang="en-US" dirty="0" err="1"/>
              <a:t>dobija</a:t>
            </a:r>
            <a:r>
              <a:rPr lang="en-US" dirty="0"/>
              <a:t> </a:t>
            </a:r>
            <a:r>
              <a:rPr lang="en-US" dirty="0" err="1"/>
              <a:t>preko</a:t>
            </a:r>
            <a:r>
              <a:rPr lang="en-US" dirty="0"/>
              <a:t> WebSocket </a:t>
            </a:r>
            <a:r>
              <a:rPr lang="en-US" dirty="0" err="1"/>
              <a:t>veze</a:t>
            </a:r>
            <a:r>
              <a:rPr lang="en-US" dirty="0"/>
              <a:t>.</a:t>
            </a:r>
            <a:endParaRPr lang="sr-Latn-RS" dirty="0"/>
          </a:p>
          <a:p>
            <a:r>
              <a:rPr lang="en-US" dirty="0" err="1"/>
              <a:t>Prikazuju</a:t>
            </a:r>
            <a:r>
              <a:rPr lang="en-US" dirty="0"/>
              <a:t> se:</a:t>
            </a:r>
          </a:p>
          <a:p>
            <a:pPr lvl="1"/>
            <a:r>
              <a:rPr lang="en-US" dirty="0"/>
              <a:t>status </a:t>
            </a:r>
            <a:r>
              <a:rPr lang="en-US" dirty="0" err="1"/>
              <a:t>konekcije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monitoringa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ambient light </a:t>
            </a:r>
            <a:r>
              <a:rPr lang="en-US" dirty="0" err="1"/>
              <a:t>vrednost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dominantna</a:t>
            </a:r>
            <a:r>
              <a:rPr lang="en-US" dirty="0"/>
              <a:t> </a:t>
            </a:r>
            <a:r>
              <a:rPr lang="en-US" dirty="0" err="1"/>
              <a:t>boja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RGB </a:t>
            </a:r>
            <a:r>
              <a:rPr lang="en-US" dirty="0" err="1"/>
              <a:t>komponente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AI detection </a:t>
            </a:r>
            <a:r>
              <a:rPr lang="en-US" dirty="0" err="1"/>
              <a:t>rezultat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actuator status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DD5AC52-FA92-C445-A71B-7DBD594856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4383" y="1189038"/>
            <a:ext cx="2514599" cy="527417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8E03729-AE49-61CA-A4DB-7A5EBF408F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73836" y="1189038"/>
            <a:ext cx="2795381" cy="55824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3252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AD205-B522-0CA4-2931-6072AE910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62EF0250-88F2-ADB9-F423-C4447283E1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4625" y="0"/>
            <a:ext cx="11305309" cy="900802"/>
          </a:xfrm>
        </p:spPr>
        <p:txBody>
          <a:bodyPr>
            <a:normAutofit/>
          </a:bodyPr>
          <a:lstStyle/>
          <a:p>
            <a:pPr algn="ctr"/>
            <a:r>
              <a:rPr 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WebSocket </a:t>
            </a:r>
            <a:r>
              <a:rPr lang="en-US" sz="48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komunikacija</a:t>
            </a:r>
            <a:endParaRPr lang="sr-Latn-RS" sz="4800" noProof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5CB215-D3B9-C73C-7917-BCB295E0C6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499" y="900803"/>
            <a:ext cx="11222183" cy="5177880"/>
          </a:xfrm>
        </p:spPr>
        <p:txBody>
          <a:bodyPr/>
          <a:lstStyle/>
          <a:p>
            <a:r>
              <a:rPr lang="en-US" dirty="0"/>
              <a:t>Za </a:t>
            </a:r>
            <a:r>
              <a:rPr lang="en-US" dirty="0" err="1"/>
              <a:t>razmenu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 </a:t>
            </a:r>
            <a:r>
              <a:rPr lang="en-US" dirty="0" err="1"/>
              <a:t>izme</a:t>
            </a:r>
            <a:r>
              <a:rPr lang="sr-Latn-RS" dirty="0"/>
              <a:t>đ</a:t>
            </a:r>
            <a:r>
              <a:rPr lang="en-US" dirty="0"/>
              <a:t>u Android </a:t>
            </a:r>
            <a:r>
              <a:rPr lang="en-US" dirty="0" err="1"/>
              <a:t>aplikacije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Raspberry Pi backend </a:t>
            </a:r>
            <a:r>
              <a:rPr lang="en-US" dirty="0" err="1"/>
              <a:t>servisa</a:t>
            </a:r>
            <a:r>
              <a:rPr lang="en-US" dirty="0"/>
              <a:t> kori</a:t>
            </a:r>
            <a:r>
              <a:rPr lang="sr-Latn-RS" dirty="0"/>
              <a:t>šć</a:t>
            </a:r>
            <a:r>
              <a:rPr lang="en-US" dirty="0" err="1"/>
              <a:t>en</a:t>
            </a:r>
            <a:r>
              <a:rPr lang="en-US" dirty="0"/>
              <a:t> je WebSocket </a:t>
            </a:r>
            <a:r>
              <a:rPr lang="en-US" dirty="0" err="1"/>
              <a:t>protokol</a:t>
            </a:r>
            <a:r>
              <a:rPr lang="en-US" dirty="0"/>
              <a:t>.</a:t>
            </a:r>
            <a:endParaRPr lang="sr-Latn-RS" dirty="0"/>
          </a:p>
          <a:p>
            <a:r>
              <a:rPr lang="en-US" dirty="0"/>
              <a:t>Na </a:t>
            </a:r>
            <a:r>
              <a:rPr lang="en-US" dirty="0" err="1"/>
              <a:t>ovaj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sr-Latn-RS" dirty="0"/>
              <a:t>č</a:t>
            </a:r>
            <a:r>
              <a:rPr lang="en-US" dirty="0"/>
              <a:t>in </a:t>
            </a:r>
            <a:r>
              <a:rPr lang="en-US" dirty="0" err="1"/>
              <a:t>ostvarena</a:t>
            </a:r>
            <a:r>
              <a:rPr lang="en-US" dirty="0"/>
              <a:t> je </a:t>
            </a:r>
            <a:r>
              <a:rPr lang="en-US" dirty="0" err="1"/>
              <a:t>dvosmerna</a:t>
            </a:r>
            <a:r>
              <a:rPr lang="en-US" dirty="0"/>
              <a:t> </a:t>
            </a:r>
            <a:r>
              <a:rPr lang="en-US" dirty="0" err="1"/>
              <a:t>komunikacija</a:t>
            </a:r>
            <a:r>
              <a:rPr lang="en-US" dirty="0"/>
              <a:t> u </a:t>
            </a:r>
            <a:r>
              <a:rPr lang="en-US" dirty="0" err="1"/>
              <a:t>realnom</a:t>
            </a:r>
            <a:r>
              <a:rPr lang="en-US" dirty="0"/>
              <a:t> </a:t>
            </a:r>
            <a:r>
              <a:rPr lang="en-US" dirty="0" err="1"/>
              <a:t>vremenu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backend </a:t>
            </a:r>
            <a:r>
              <a:rPr lang="sr-Latn-RS" dirty="0"/>
              <a:t>š</a:t>
            </a:r>
            <a:r>
              <a:rPr lang="en-US" dirty="0" err="1"/>
              <a:t>alje</a:t>
            </a:r>
            <a:r>
              <a:rPr lang="en-US" dirty="0"/>
              <a:t> live </a:t>
            </a:r>
            <a:r>
              <a:rPr lang="en-US" dirty="0" err="1"/>
              <a:t>podatke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evente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aplikacija</a:t>
            </a:r>
            <a:r>
              <a:rPr lang="en-US" dirty="0"/>
              <a:t> </a:t>
            </a:r>
            <a:r>
              <a:rPr lang="sr-Latn-RS" dirty="0"/>
              <a:t>š</a:t>
            </a:r>
            <a:r>
              <a:rPr lang="en-US" dirty="0" err="1"/>
              <a:t>alje</a:t>
            </a:r>
            <a:r>
              <a:rPr lang="en-US" dirty="0"/>
              <a:t> </a:t>
            </a:r>
            <a:r>
              <a:rPr lang="en-US" dirty="0" err="1"/>
              <a:t>komande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konfiguraciju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9F5F596-4DFE-8B34-F0CC-F11BBFB36F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5820" y="2927360"/>
            <a:ext cx="6473539" cy="50164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F07B52E-00E8-A59E-3DD8-337CB5DA16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77361" y="3489743"/>
            <a:ext cx="5637278" cy="2756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4975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1C10BD-86C7-D59E-BEF2-797497D1D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141EB64F-35F2-FDA9-D752-B79477AB82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0" y="165998"/>
            <a:ext cx="9601200" cy="900802"/>
          </a:xfrm>
        </p:spPr>
        <p:txBody>
          <a:bodyPr>
            <a:normAutofit/>
          </a:bodyPr>
          <a:lstStyle/>
          <a:p>
            <a:pPr algn="ctr"/>
            <a:r>
              <a:rPr lang="en-US" sz="4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Notifikacije</a:t>
            </a:r>
            <a:r>
              <a:rPr lang="en-US" sz="4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u Android </a:t>
            </a:r>
            <a:r>
              <a:rPr lang="en-US" sz="4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aplikaciji</a:t>
            </a:r>
            <a:endParaRPr lang="sr-Latn-RS" sz="4400" noProof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25C0C7-79C7-67A2-47C2-842CC7C9D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4073" y="1319645"/>
            <a:ext cx="11720945" cy="4471555"/>
          </a:xfrm>
        </p:spPr>
        <p:txBody>
          <a:bodyPr/>
          <a:lstStyle/>
          <a:p>
            <a:r>
              <a:rPr lang="en-US" dirty="0" err="1"/>
              <a:t>Aplikacija</a:t>
            </a:r>
            <a:r>
              <a:rPr lang="en-US" dirty="0"/>
              <a:t> prima </a:t>
            </a:r>
            <a:r>
              <a:rPr lang="en-US" dirty="0" err="1"/>
              <a:t>evente</a:t>
            </a:r>
            <a:r>
              <a:rPr lang="sr-Latn-RS" dirty="0"/>
              <a:t> </a:t>
            </a:r>
            <a:r>
              <a:rPr lang="en-US" dirty="0" err="1"/>
              <a:t>preko</a:t>
            </a:r>
            <a:r>
              <a:rPr lang="en-US" dirty="0"/>
              <a:t> WebSocket-a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osnovu</a:t>
            </a:r>
            <a:r>
              <a:rPr lang="en-US" dirty="0"/>
              <a:t> </a:t>
            </a:r>
            <a:r>
              <a:rPr lang="en-US" dirty="0" err="1"/>
              <a:t>njih</a:t>
            </a:r>
            <a:r>
              <a:rPr lang="en-US" dirty="0"/>
              <a:t> </a:t>
            </a:r>
            <a:r>
              <a:rPr lang="en-US" dirty="0" err="1"/>
              <a:t>prikazuje</a:t>
            </a:r>
            <a:r>
              <a:rPr lang="en-US" dirty="0"/>
              <a:t> </a:t>
            </a:r>
            <a:r>
              <a:rPr lang="en-US" dirty="0" err="1"/>
              <a:t>lokalne</a:t>
            </a:r>
            <a:r>
              <a:rPr lang="en-US" dirty="0"/>
              <a:t> Android </a:t>
            </a:r>
            <a:r>
              <a:rPr lang="en-US" dirty="0" err="1"/>
              <a:t>notifikacije</a:t>
            </a:r>
            <a:r>
              <a:rPr lang="en-US" dirty="0"/>
              <a:t>.</a:t>
            </a:r>
            <a:endParaRPr lang="sr-Latn-RS" dirty="0"/>
          </a:p>
          <a:p>
            <a:r>
              <a:rPr lang="en-US" dirty="0" err="1"/>
              <a:t>Notifikacije</a:t>
            </a:r>
            <a:r>
              <a:rPr lang="en-US" dirty="0"/>
              <a:t> se </a:t>
            </a:r>
            <a:r>
              <a:rPr lang="en-US" dirty="0" err="1"/>
              <a:t>generisu</a:t>
            </a:r>
            <a:r>
              <a:rPr lang="en-US" dirty="0"/>
              <a:t> </a:t>
            </a:r>
            <a:r>
              <a:rPr lang="en-US" dirty="0" err="1"/>
              <a:t>kada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sistem</a:t>
            </a:r>
            <a:r>
              <a:rPr lang="en-US" dirty="0"/>
              <a:t> </a:t>
            </a:r>
            <a:r>
              <a:rPr lang="en-US" dirty="0" err="1"/>
              <a:t>detektuje</a:t>
            </a:r>
            <a:r>
              <a:rPr lang="en-US" dirty="0"/>
              <a:t> </a:t>
            </a:r>
            <a:r>
              <a:rPr lang="en-US" dirty="0" err="1"/>
              <a:t>znacajnu</a:t>
            </a:r>
            <a:r>
              <a:rPr lang="en-US" dirty="0"/>
              <a:t> </a:t>
            </a:r>
            <a:r>
              <a:rPr lang="en-US" dirty="0" err="1"/>
              <a:t>promenu</a:t>
            </a:r>
            <a:r>
              <a:rPr lang="en-US" dirty="0"/>
              <a:t> </a:t>
            </a:r>
            <a:r>
              <a:rPr lang="en-US" dirty="0" err="1"/>
              <a:t>osvetljenja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se </a:t>
            </a:r>
            <a:r>
              <a:rPr lang="en-US" dirty="0" err="1"/>
              <a:t>pokrene</a:t>
            </a:r>
            <a:r>
              <a:rPr lang="en-US" dirty="0"/>
              <a:t> actuator </a:t>
            </a:r>
            <a:r>
              <a:rPr lang="en-US" dirty="0" err="1"/>
              <a:t>akcija</a:t>
            </a:r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7A515B2-184B-6D1C-639A-EE6FAFC9FF8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30" t="1" b="41456"/>
          <a:stretch>
            <a:fillRect/>
          </a:stretch>
        </p:blipFill>
        <p:spPr>
          <a:xfrm>
            <a:off x="6899564" y="1707870"/>
            <a:ext cx="3382673" cy="4407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21065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00842D-7434-D8D3-50DD-51734D0156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A147E66-4923-9A3A-851A-A9084B3D53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2286" y="0"/>
            <a:ext cx="11627427" cy="900802"/>
          </a:xfrm>
        </p:spPr>
        <p:txBody>
          <a:bodyPr>
            <a:noAutofit/>
          </a:bodyPr>
          <a:lstStyle/>
          <a:p>
            <a:pPr algn="ctr"/>
            <a:r>
              <a:rPr lang="sv-SE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Events ekran – pregled detektovanih dogadjaja</a:t>
            </a:r>
            <a:endParaRPr lang="sr-Latn-RS" sz="4000" noProof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BFD3BE-F16F-D307-6DE4-B9C84D102C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163782"/>
            <a:ext cx="5974773" cy="4627419"/>
          </a:xfrm>
        </p:spPr>
        <p:txBody>
          <a:bodyPr/>
          <a:lstStyle/>
          <a:p>
            <a:r>
              <a:rPr lang="sv-SE" b="1" dirty="0"/>
              <a:t>Events</a:t>
            </a:r>
            <a:r>
              <a:rPr lang="sv-SE" dirty="0"/>
              <a:t> </a:t>
            </a:r>
            <a:r>
              <a:rPr lang="sv-SE" b="1" dirty="0"/>
              <a:t>ekran</a:t>
            </a:r>
            <a:r>
              <a:rPr lang="sv-SE" dirty="0"/>
              <a:t> prikazuje listu najnovijih doga</a:t>
            </a:r>
            <a:r>
              <a:rPr lang="sr-Latn-RS" dirty="0"/>
              <a:t>đ</a:t>
            </a:r>
            <a:r>
              <a:rPr lang="sv-SE" dirty="0"/>
              <a:t>aja koje sistem generi</a:t>
            </a:r>
            <a:r>
              <a:rPr lang="sr-Latn-RS" dirty="0"/>
              <a:t>š</a:t>
            </a:r>
            <a:r>
              <a:rPr lang="sv-SE" dirty="0"/>
              <a:t>e tokom rada.</a:t>
            </a:r>
            <a:endParaRPr lang="sr-Latn-RS" dirty="0"/>
          </a:p>
          <a:p>
            <a:r>
              <a:rPr lang="sv-SE" dirty="0"/>
              <a:t>Tu spadaju:</a:t>
            </a:r>
          </a:p>
          <a:p>
            <a:pPr lvl="1"/>
            <a:r>
              <a:rPr lang="sv-SE" dirty="0"/>
              <a:t>detection event-i </a:t>
            </a:r>
          </a:p>
          <a:p>
            <a:pPr lvl="1"/>
            <a:r>
              <a:rPr lang="sv-SE" dirty="0"/>
              <a:t>actuator event-i </a:t>
            </a:r>
          </a:p>
          <a:p>
            <a:pPr lvl="1"/>
            <a:r>
              <a:rPr lang="sv-SE" dirty="0"/>
              <a:t>acknowledgement poruke backend servisa</a:t>
            </a:r>
          </a:p>
          <a:p>
            <a:endParaRPr lang="sr-Latn-RS" noProof="1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72987D9-FAEF-4EDF-7C9B-E337597CE66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984" b="8699"/>
          <a:stretch>
            <a:fillRect/>
          </a:stretch>
        </p:blipFill>
        <p:spPr>
          <a:xfrm>
            <a:off x="7350647" y="900802"/>
            <a:ext cx="2745800" cy="5250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08708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798AE0-DDE6-1801-CC6B-A77883E93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133C879-CEA1-46DD-154F-C77B69ACBC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2771" y="81271"/>
            <a:ext cx="9601200" cy="666874"/>
          </a:xfrm>
        </p:spPr>
        <p:txBody>
          <a:bodyPr>
            <a:noAutofit/>
          </a:bodyPr>
          <a:lstStyle/>
          <a:p>
            <a:r>
              <a:rPr lang="en-US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Control </a:t>
            </a:r>
            <a:r>
              <a:rPr lang="en-US" sz="4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ekran</a:t>
            </a:r>
            <a:r>
              <a:rPr lang="en-US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– </a:t>
            </a:r>
            <a:r>
              <a:rPr lang="en-US" sz="4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upravljanje</a:t>
            </a:r>
            <a:r>
              <a:rPr lang="en-US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sz="4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sistemom</a:t>
            </a:r>
            <a:endParaRPr lang="en-US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C73012-358F-32B2-6729-01806AF817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4073" y="962981"/>
            <a:ext cx="6296891" cy="5146874"/>
          </a:xfrm>
        </p:spPr>
        <p:txBody>
          <a:bodyPr/>
          <a:lstStyle/>
          <a:p>
            <a:r>
              <a:rPr lang="en-US" b="1" dirty="0"/>
              <a:t>Control </a:t>
            </a:r>
            <a:r>
              <a:rPr lang="en-US" b="1" dirty="0" err="1"/>
              <a:t>ekran</a:t>
            </a:r>
            <a:r>
              <a:rPr lang="en-US" b="1" dirty="0"/>
              <a:t> </a:t>
            </a:r>
            <a:r>
              <a:rPr lang="en-US" dirty="0" err="1"/>
              <a:t>omogu</a:t>
            </a:r>
            <a:r>
              <a:rPr lang="sr-Latn-RS" dirty="0"/>
              <a:t>ć</a:t>
            </a:r>
            <a:r>
              <a:rPr lang="en-US" dirty="0"/>
              <a:t>ava </a:t>
            </a:r>
            <a:r>
              <a:rPr lang="en-US" dirty="0" err="1"/>
              <a:t>korisniku</a:t>
            </a:r>
            <a:r>
              <a:rPr lang="en-US" dirty="0"/>
              <a:t> da </a:t>
            </a:r>
            <a:r>
              <a:rPr lang="en-US" dirty="0" err="1"/>
              <a:t>iz</a:t>
            </a:r>
            <a:r>
              <a:rPr lang="en-US" dirty="0"/>
              <a:t> </a:t>
            </a:r>
            <a:r>
              <a:rPr lang="en-US" dirty="0" err="1"/>
              <a:t>aplikacije</a:t>
            </a:r>
            <a:r>
              <a:rPr lang="en-US" dirty="0"/>
              <a:t> </a:t>
            </a:r>
            <a:r>
              <a:rPr lang="en-US" dirty="0" err="1"/>
              <a:t>direktno</a:t>
            </a:r>
            <a:r>
              <a:rPr lang="en-US" dirty="0"/>
              <a:t> </a:t>
            </a:r>
            <a:r>
              <a:rPr lang="en-US" dirty="0" err="1"/>
              <a:t>upravlja</a:t>
            </a:r>
            <a:r>
              <a:rPr lang="en-US" dirty="0"/>
              <a:t> </a:t>
            </a:r>
            <a:r>
              <a:rPr lang="en-US" dirty="0" err="1"/>
              <a:t>sistemom</a:t>
            </a:r>
            <a:r>
              <a:rPr lang="en-US" dirty="0"/>
              <a:t>.</a:t>
            </a:r>
            <a:endParaRPr lang="sr-Latn-RS" dirty="0"/>
          </a:p>
          <a:p>
            <a:r>
              <a:rPr lang="en-US" dirty="0" err="1"/>
              <a:t>Realizovane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slede</a:t>
            </a:r>
            <a:r>
              <a:rPr lang="sr-Latn-RS" dirty="0"/>
              <a:t>ć</a:t>
            </a:r>
            <a:r>
              <a:rPr lang="en-US" dirty="0"/>
              <a:t>e </a:t>
            </a:r>
            <a:r>
              <a:rPr lang="en-US" dirty="0" err="1"/>
              <a:t>akcije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enable monitoring </a:t>
            </a:r>
          </a:p>
          <a:p>
            <a:pPr lvl="1"/>
            <a:r>
              <a:rPr lang="en-US" dirty="0"/>
              <a:t>disable monitoring </a:t>
            </a:r>
          </a:p>
          <a:p>
            <a:pPr lvl="1"/>
            <a:r>
              <a:rPr lang="en-US" dirty="0"/>
              <a:t>simulate actuator action </a:t>
            </a:r>
          </a:p>
          <a:p>
            <a:pPr lvl="1"/>
            <a:r>
              <a:rPr lang="en-US" dirty="0"/>
              <a:t>reconnect to backend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BCFED28-7C2C-7B3F-2AB4-8576DCC4584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4813"/>
          <a:stretch>
            <a:fillRect/>
          </a:stretch>
        </p:blipFill>
        <p:spPr>
          <a:xfrm>
            <a:off x="8444698" y="962981"/>
            <a:ext cx="3166454" cy="493203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16A18DD-20D2-317F-C062-9CF113349F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3920" y="2794437"/>
            <a:ext cx="4874931" cy="102830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86698B7-4B20-AF20-AB38-0D081922C3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263" y="5081546"/>
            <a:ext cx="7837925" cy="102830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014F186-0645-C285-3279-895E793E0F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86811" y="3874144"/>
            <a:ext cx="6502040" cy="1144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52881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90F9FB-45FF-931C-7288-97F3C754C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60DFF8C5-4AE7-4E78-0400-907B4BAB97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91" y="288236"/>
            <a:ext cx="11596254" cy="553428"/>
          </a:xfrm>
        </p:spPr>
        <p:txBody>
          <a:bodyPr>
            <a:noAutofit/>
          </a:bodyPr>
          <a:lstStyle/>
          <a:p>
            <a:pPr algn="ctr"/>
            <a:r>
              <a:rPr lang="en-US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Settings </a:t>
            </a:r>
            <a:r>
              <a:rPr lang="en-US" sz="4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ekran</a:t>
            </a:r>
            <a:r>
              <a:rPr lang="en-US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sz="4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</a:t>
            </a:r>
            <a:r>
              <a:rPr lang="en-US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sz="4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konfiguracija</a:t>
            </a:r>
            <a:r>
              <a:rPr lang="en-US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sz="4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parametara</a:t>
            </a:r>
            <a:endParaRPr lang="en-US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DE6389-33AB-7CBE-8B6F-1613B6E6D4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6973" y="1267635"/>
            <a:ext cx="4894118" cy="4523566"/>
          </a:xfrm>
        </p:spPr>
        <p:txBody>
          <a:bodyPr/>
          <a:lstStyle/>
          <a:p>
            <a:r>
              <a:rPr lang="en-US" dirty="0" err="1"/>
              <a:t>Aplikacija</a:t>
            </a:r>
            <a:r>
              <a:rPr lang="en-US" dirty="0"/>
              <a:t> </a:t>
            </a:r>
            <a:r>
              <a:rPr lang="en-US" dirty="0" err="1"/>
              <a:t>omogu</a:t>
            </a:r>
            <a:r>
              <a:rPr lang="sr-Latn-RS" dirty="0"/>
              <a:t>ć</a:t>
            </a:r>
            <a:r>
              <a:rPr lang="en-US" dirty="0"/>
              <a:t>ava </a:t>
            </a:r>
            <a:r>
              <a:rPr lang="en-US" dirty="0" err="1"/>
              <a:t>konfiguraciju</a:t>
            </a:r>
            <a:r>
              <a:rPr lang="en-US" dirty="0"/>
              <a:t> </a:t>
            </a:r>
            <a:r>
              <a:rPr lang="en-US" dirty="0" err="1"/>
              <a:t>parametara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SBC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MCU </a:t>
            </a:r>
            <a:r>
              <a:rPr lang="en-US" dirty="0" err="1"/>
              <a:t>strani</a:t>
            </a:r>
            <a:r>
              <a:rPr lang="en-US" dirty="0"/>
              <a:t>.</a:t>
            </a:r>
            <a:endParaRPr lang="sr-Latn-RS" dirty="0"/>
          </a:p>
          <a:p>
            <a:r>
              <a:rPr lang="en-US" dirty="0" err="1"/>
              <a:t>Realizovana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slede</a:t>
            </a:r>
            <a:r>
              <a:rPr lang="sr-Latn-RS" dirty="0"/>
              <a:t>ć</a:t>
            </a:r>
            <a:r>
              <a:rPr lang="en-US" dirty="0"/>
              <a:t>a </a:t>
            </a:r>
            <a:r>
              <a:rPr lang="en-US" dirty="0" err="1"/>
              <a:t>pode</a:t>
            </a:r>
            <a:r>
              <a:rPr lang="sr-Latn-RS" dirty="0"/>
              <a:t>š</a:t>
            </a:r>
            <a:r>
              <a:rPr lang="en-US" dirty="0" err="1"/>
              <a:t>avanja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WebSocket URL </a:t>
            </a:r>
          </a:p>
          <a:p>
            <a:pPr lvl="1"/>
            <a:r>
              <a:rPr lang="en-US" dirty="0"/>
              <a:t>light threshold </a:t>
            </a:r>
            <a:r>
              <a:rPr lang="en-US" dirty="0" err="1"/>
              <a:t>na</a:t>
            </a:r>
            <a:r>
              <a:rPr lang="en-US" dirty="0"/>
              <a:t> SBC </a:t>
            </a:r>
            <a:r>
              <a:rPr lang="en-US" dirty="0" err="1"/>
              <a:t>strani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monitoring enabled / disabled </a:t>
            </a:r>
            <a:r>
              <a:rPr lang="en-US" dirty="0" err="1"/>
              <a:t>na</a:t>
            </a:r>
            <a:r>
              <a:rPr lang="en-US" dirty="0"/>
              <a:t> MCU </a:t>
            </a:r>
            <a:r>
              <a:rPr lang="en-US" dirty="0" err="1"/>
              <a:t>strani</a:t>
            </a:r>
            <a:endParaRPr lang="en-US" dirty="0"/>
          </a:p>
          <a:p>
            <a:pPr marL="0" indent="0">
              <a:buNone/>
            </a:pPr>
            <a:endParaRPr lang="en-US" b="1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BF45C93-64DC-49A8-A07D-BF3B04CF3D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2255" y="1267635"/>
            <a:ext cx="3296110" cy="485842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2404BDB-0FE4-6DF9-3B94-3C62FD877D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066" y="4434604"/>
            <a:ext cx="6411952" cy="1008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6672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E25A0-BCB5-54A1-D58B-0FBC71527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366B3479-61C1-274B-453F-715B7B2C04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7872" y="101200"/>
            <a:ext cx="11596255" cy="636555"/>
          </a:xfrm>
        </p:spPr>
        <p:txBody>
          <a:bodyPr>
            <a:noAutofit/>
          </a:bodyPr>
          <a:lstStyle/>
          <a:p>
            <a:pPr algn="ctr"/>
            <a:r>
              <a:rPr lang="en-US" sz="36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Integracija</a:t>
            </a:r>
            <a:r>
              <a:rPr lang="en-US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sz="36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sa</a:t>
            </a:r>
            <a:r>
              <a:rPr lang="en-US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MCU </a:t>
            </a:r>
            <a:r>
              <a:rPr lang="en-US" sz="36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</a:t>
            </a:r>
            <a:r>
              <a:rPr lang="en-US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sz="36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simulirana</a:t>
            </a:r>
            <a:r>
              <a:rPr lang="en-US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sz="36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akcija</a:t>
            </a:r>
            <a:r>
              <a:rPr lang="en-US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sz="36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aktuatora</a:t>
            </a:r>
            <a:endParaRPr lang="en-US" sz="3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69E169-8845-B596-29C7-679979A96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545" y="976745"/>
            <a:ext cx="5216237" cy="5070764"/>
          </a:xfrm>
        </p:spPr>
        <p:txBody>
          <a:bodyPr/>
          <a:lstStyle/>
          <a:p>
            <a:r>
              <a:rPr lang="en-US" dirty="0" err="1"/>
              <a:t>Komande</a:t>
            </a:r>
            <a:r>
              <a:rPr lang="en-US" dirty="0"/>
              <a:t> </a:t>
            </a:r>
            <a:r>
              <a:rPr lang="en-US" dirty="0" err="1"/>
              <a:t>iz</a:t>
            </a:r>
            <a:r>
              <a:rPr lang="en-US" dirty="0"/>
              <a:t> Android </a:t>
            </a:r>
            <a:r>
              <a:rPr lang="en-US" dirty="0" err="1"/>
              <a:t>aplikacije</a:t>
            </a:r>
            <a:r>
              <a:rPr lang="en-US" dirty="0"/>
              <a:t> </a:t>
            </a:r>
            <a:r>
              <a:rPr lang="en-US" dirty="0" err="1"/>
              <a:t>prosle</a:t>
            </a:r>
            <a:r>
              <a:rPr lang="sr-Latn-RS" dirty="0"/>
              <a:t>đ</a:t>
            </a:r>
            <a:r>
              <a:rPr lang="en-US" dirty="0" err="1"/>
              <a:t>uju</a:t>
            </a:r>
            <a:r>
              <a:rPr lang="en-US" dirty="0"/>
              <a:t> se </a:t>
            </a:r>
            <a:r>
              <a:rPr lang="en-US" dirty="0" err="1"/>
              <a:t>preko</a:t>
            </a:r>
            <a:r>
              <a:rPr lang="en-US" dirty="0"/>
              <a:t> WebSocket </a:t>
            </a:r>
            <a:r>
              <a:rPr lang="en-US" dirty="0" err="1"/>
              <a:t>servisa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MQTT </a:t>
            </a:r>
            <a:r>
              <a:rPr lang="en-US" dirty="0" err="1"/>
              <a:t>sistema</a:t>
            </a:r>
            <a:r>
              <a:rPr lang="en-US" dirty="0"/>
              <a:t> do </a:t>
            </a:r>
            <a:r>
              <a:rPr lang="en-US" dirty="0" err="1"/>
              <a:t>serijske</a:t>
            </a:r>
            <a:r>
              <a:rPr lang="en-US" dirty="0"/>
              <a:t> </a:t>
            </a:r>
            <a:r>
              <a:rPr lang="en-US" dirty="0" err="1"/>
              <a:t>veze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Arduino </a:t>
            </a:r>
            <a:r>
              <a:rPr lang="en-US" dirty="0" err="1"/>
              <a:t>ure</a:t>
            </a:r>
            <a:r>
              <a:rPr lang="sr-Latn-RS" dirty="0"/>
              <a:t>đ</a:t>
            </a:r>
            <a:r>
              <a:rPr lang="en-US" dirty="0" err="1"/>
              <a:t>ajem</a:t>
            </a:r>
            <a:r>
              <a:rPr lang="en-US" dirty="0"/>
              <a:t>.</a:t>
            </a:r>
            <a:endParaRPr lang="sr-Latn-RS" dirty="0"/>
          </a:p>
          <a:p>
            <a:r>
              <a:rPr lang="en-US" dirty="0"/>
              <a:t>Na taj </a:t>
            </a:r>
            <a:r>
              <a:rPr lang="en-US" dirty="0" err="1"/>
              <a:t>na</a:t>
            </a:r>
            <a:r>
              <a:rPr lang="sr-Latn-RS" dirty="0"/>
              <a:t>č</a:t>
            </a:r>
            <a:r>
              <a:rPr lang="en-US" dirty="0"/>
              <a:t>in </a:t>
            </a:r>
            <a:r>
              <a:rPr lang="en-US" dirty="0" err="1"/>
              <a:t>realizovano</a:t>
            </a:r>
            <a:r>
              <a:rPr lang="en-US" dirty="0"/>
              <a:t> je:</a:t>
            </a:r>
          </a:p>
          <a:p>
            <a:pPr lvl="1"/>
            <a:r>
              <a:rPr lang="en-US" dirty="0" err="1"/>
              <a:t>uklju</a:t>
            </a:r>
            <a:r>
              <a:rPr lang="sr-Latn-RS" dirty="0"/>
              <a:t>č</a:t>
            </a:r>
            <a:r>
              <a:rPr lang="en-US" dirty="0" err="1"/>
              <a:t>ivanje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isklju</a:t>
            </a:r>
            <a:r>
              <a:rPr lang="sr-Latn-RS" dirty="0"/>
              <a:t>č</a:t>
            </a:r>
            <a:r>
              <a:rPr lang="en-US" dirty="0" err="1"/>
              <a:t>ivanje</a:t>
            </a:r>
            <a:r>
              <a:rPr lang="en-US" dirty="0"/>
              <a:t> </a:t>
            </a:r>
            <a:r>
              <a:rPr lang="en-US" dirty="0" err="1"/>
              <a:t>monitoringa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MCU </a:t>
            </a:r>
            <a:r>
              <a:rPr lang="en-US" dirty="0" err="1"/>
              <a:t>strani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pokretanje</a:t>
            </a:r>
            <a:r>
              <a:rPr lang="en-US" dirty="0"/>
              <a:t> </a:t>
            </a:r>
            <a:r>
              <a:rPr lang="en-US" dirty="0" err="1"/>
              <a:t>simulirane</a:t>
            </a:r>
            <a:r>
              <a:rPr lang="en-US" dirty="0"/>
              <a:t> </a:t>
            </a:r>
            <a:r>
              <a:rPr lang="en-US" dirty="0" err="1"/>
              <a:t>akcije</a:t>
            </a:r>
            <a:r>
              <a:rPr lang="en-US" dirty="0"/>
              <a:t> </a:t>
            </a:r>
            <a:r>
              <a:rPr lang="en-US" dirty="0" err="1"/>
              <a:t>aktuatora</a:t>
            </a:r>
            <a:r>
              <a:rPr lang="en-US" dirty="0"/>
              <a:t> </a:t>
            </a:r>
          </a:p>
          <a:p>
            <a:r>
              <a:rPr lang="en-US" dirty="0" err="1"/>
              <a:t>Simulirana</a:t>
            </a:r>
            <a:r>
              <a:rPr lang="en-US" dirty="0"/>
              <a:t> </a:t>
            </a:r>
            <a:r>
              <a:rPr lang="en-US" dirty="0" err="1"/>
              <a:t>akcija</a:t>
            </a:r>
            <a:r>
              <a:rPr lang="en-US" dirty="0"/>
              <a:t> </a:t>
            </a:r>
            <a:r>
              <a:rPr lang="en-US" dirty="0" err="1"/>
              <a:t>aktuatora</a:t>
            </a:r>
            <a:r>
              <a:rPr lang="en-US" dirty="0"/>
              <a:t> </a:t>
            </a:r>
            <a:r>
              <a:rPr lang="en-US" dirty="0" err="1"/>
              <a:t>fizi</a:t>
            </a:r>
            <a:r>
              <a:rPr lang="sr-Latn-RS" dirty="0"/>
              <a:t>č</a:t>
            </a:r>
            <a:r>
              <a:rPr lang="en-US" dirty="0"/>
              <a:t>ki se </a:t>
            </a:r>
            <a:r>
              <a:rPr lang="en-US" dirty="0" err="1"/>
              <a:t>manifestuje</a:t>
            </a:r>
            <a:r>
              <a:rPr lang="en-US" dirty="0"/>
              <a:t> </a:t>
            </a:r>
            <a:r>
              <a:rPr lang="en-US" dirty="0" err="1"/>
              <a:t>promenom</a:t>
            </a:r>
            <a:r>
              <a:rPr lang="en-US" dirty="0"/>
              <a:t> LED </a:t>
            </a:r>
            <a:r>
              <a:rPr lang="en-US" dirty="0" err="1"/>
              <a:t>signalizacije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Arduino </a:t>
            </a:r>
            <a:r>
              <a:rPr lang="en-US" dirty="0" err="1"/>
              <a:t>ure</a:t>
            </a:r>
            <a:r>
              <a:rPr lang="sr-Latn-RS" dirty="0"/>
              <a:t>đ</a:t>
            </a:r>
            <a:r>
              <a:rPr lang="en-US" dirty="0" err="1"/>
              <a:t>aju</a:t>
            </a:r>
            <a:r>
              <a:rPr lang="en-US" dirty="0"/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71ED7A8-5F99-07F1-1F85-561D9DB9E0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99" y="1373174"/>
            <a:ext cx="4037738" cy="3087235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A339A17-EA48-DD97-41C4-128097518267}"/>
              </a:ext>
            </a:extLst>
          </p:cNvPr>
          <p:cNvSpPr txBox="1">
            <a:spLocks/>
          </p:cNvSpPr>
          <p:nvPr/>
        </p:nvSpPr>
        <p:spPr>
          <a:xfrm>
            <a:off x="6077819" y="945572"/>
            <a:ext cx="3778828" cy="35329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itchFamily="34" charset="0"/>
              <a:buChar char="▪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itchFamily="34" charset="0"/>
              <a:buChar char="▪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179388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itchFamily="34" charset="0"/>
              <a:buChar char="▪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18288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itchFamily="34" charset="0"/>
              <a:buChar char="▪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179388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itchFamily="34" charset="0"/>
              <a:buChar char="▪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itchFamily="34" charset="0"/>
              <a:buChar char="▪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600200" indent="-179388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itchFamily="34" charset="0"/>
              <a:buChar char="▪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828800" indent="-18288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itchFamily="34" charset="0"/>
              <a:buChar char="▪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8012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sr-Latn-RS" i="1" dirty="0">
                <a:solidFill>
                  <a:schemeClr val="bg1">
                    <a:lumMod val="50000"/>
                  </a:schemeClr>
                </a:solidFill>
              </a:rPr>
              <a:t>Serial_reader.py:</a:t>
            </a:r>
            <a:endParaRPr lang="en-US" i="1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18310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2075" y="2667000"/>
            <a:ext cx="9601200" cy="1123950"/>
          </a:xfrm>
        </p:spPr>
        <p:txBody>
          <a:bodyPr/>
          <a:lstStyle/>
          <a:p>
            <a:pPr algn="ctr"/>
            <a:r>
              <a:rPr lang="sr-Latn-RS" noProof="1"/>
              <a:t>HVALA NA PAŽNJI!</a:t>
            </a:r>
          </a:p>
        </p:txBody>
      </p:sp>
    </p:spTree>
    <p:extLst>
      <p:ext uri="{BB962C8B-B14F-4D97-AF65-F5344CB8AC3E}">
        <p14:creationId xmlns:p14="http://schemas.microsoft.com/office/powerpoint/2010/main" val="2362296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Diamond Grid 16x9">
  <a:themeElements>
    <a:clrScheme name="DiamondGrid">
      <a:dk1>
        <a:srgbClr val="2D2E2D"/>
      </a:dk1>
      <a:lt1>
        <a:sysClr val="window" lastClr="FFFFFF"/>
      </a:lt1>
      <a:dk2>
        <a:srgbClr val="000000"/>
      </a:dk2>
      <a:lt2>
        <a:srgbClr val="EAEAEA"/>
      </a:lt2>
      <a:accent1>
        <a:srgbClr val="D15A3E"/>
      </a:accent1>
      <a:accent2>
        <a:srgbClr val="B2B2B2"/>
      </a:accent2>
      <a:accent3>
        <a:srgbClr val="4F91A1"/>
      </a:accent3>
      <a:accent4>
        <a:srgbClr val="F0BA34"/>
      </a:accent4>
      <a:accent5>
        <a:srgbClr val="AEB733"/>
      </a:accent5>
      <a:accent6>
        <a:srgbClr val="926397"/>
      </a:accent6>
      <a:hlink>
        <a:srgbClr val="4F91A1"/>
      </a:hlink>
      <a:folHlink>
        <a:srgbClr val="808080"/>
      </a:folHlink>
    </a:clrScheme>
    <a:fontScheme name="Arial">
      <a:majorFont>
        <a:latin typeface="Aria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usiness diamond grid presentation (widescreen).potx" id="{B2221865-AD13-4DF0-B68E-BF08E8CC5659}" vid="{BAA0C488-98B6-4F47-8E1C-5C7CD9605F73}"/>
    </a:ext>
  </a:extLst>
</a:theme>
</file>

<file path=ppt/theme/theme2.xml><?xml version="1.0" encoding="utf-8"?>
<a:theme xmlns:a="http://schemas.openxmlformats.org/drawingml/2006/main" name="Office Theme">
  <a:themeElements>
    <a:clrScheme name="DiamondGrid">
      <a:dk1>
        <a:srgbClr val="2D2E2D"/>
      </a:dk1>
      <a:lt1>
        <a:sysClr val="window" lastClr="FFFFFF"/>
      </a:lt1>
      <a:dk2>
        <a:srgbClr val="000000"/>
      </a:dk2>
      <a:lt2>
        <a:srgbClr val="EAEAEA"/>
      </a:lt2>
      <a:accent1>
        <a:srgbClr val="D15A3E"/>
      </a:accent1>
      <a:accent2>
        <a:srgbClr val="B2B2B2"/>
      </a:accent2>
      <a:accent3>
        <a:srgbClr val="4F91A1"/>
      </a:accent3>
      <a:accent4>
        <a:srgbClr val="F0BA34"/>
      </a:accent4>
      <a:accent5>
        <a:srgbClr val="AEB733"/>
      </a:accent5>
      <a:accent6>
        <a:srgbClr val="926397"/>
      </a:accent6>
      <a:hlink>
        <a:srgbClr val="4F91A1"/>
      </a:hlink>
      <a:folHlink>
        <a:srgbClr val="808080"/>
      </a:folHlink>
    </a:clrScheme>
    <a:fontScheme name="Arial">
      <a:majorFont>
        <a:latin typeface="Aria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atMod val="100000"/>
                <a:shade val="0"/>
              </a:schemeClr>
            </a:gs>
            <a:gs pos="0">
              <a:scrgbClr r="0" g="0" b="0"/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DiamondGrid">
      <a:dk1>
        <a:srgbClr val="2D2E2D"/>
      </a:dk1>
      <a:lt1>
        <a:sysClr val="window" lastClr="FFFFFF"/>
      </a:lt1>
      <a:dk2>
        <a:srgbClr val="000000"/>
      </a:dk2>
      <a:lt2>
        <a:srgbClr val="EAEAEA"/>
      </a:lt2>
      <a:accent1>
        <a:srgbClr val="D15A3E"/>
      </a:accent1>
      <a:accent2>
        <a:srgbClr val="B2B2B2"/>
      </a:accent2>
      <a:accent3>
        <a:srgbClr val="4F91A1"/>
      </a:accent3>
      <a:accent4>
        <a:srgbClr val="F0BA34"/>
      </a:accent4>
      <a:accent5>
        <a:srgbClr val="AEB733"/>
      </a:accent5>
      <a:accent6>
        <a:srgbClr val="926397"/>
      </a:accent6>
      <a:hlink>
        <a:srgbClr val="4F91A1"/>
      </a:hlink>
      <a:folHlink>
        <a:srgbClr val="808080"/>
      </a:folHlink>
    </a:clrScheme>
    <a:fontScheme name="Arial">
      <a:majorFont>
        <a:latin typeface="Aria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atMod val="100000"/>
                <a:shade val="0"/>
              </a:schemeClr>
            </a:gs>
            <a:gs pos="0">
              <a:scrgbClr r="0" g="0" b="0"/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Business diamond grid presentation (widescreen)</Template>
  <TotalTime>3268</TotalTime>
  <Words>610</Words>
  <Application>Microsoft Office PowerPoint</Application>
  <PresentationFormat>Widescreen</PresentationFormat>
  <Paragraphs>80</Paragraphs>
  <Slides>12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4" baseType="lpstr">
      <vt:lpstr>Arial</vt:lpstr>
      <vt:lpstr>Diamond Grid 16x9</vt:lpstr>
      <vt:lpstr>UbiComp – Projekat 3</vt:lpstr>
      <vt:lpstr>Zahtev projekta i cilj realizacije</vt:lpstr>
      <vt:lpstr>Arhitektura sistema</vt:lpstr>
      <vt:lpstr>Struktura Android aplikacije</vt:lpstr>
      <vt:lpstr>Dashboard ekran – prikaz stanja sistema</vt:lpstr>
      <vt:lpstr>WebSocket komunikacija</vt:lpstr>
      <vt:lpstr>Notifikacije u Android aplikaciji</vt:lpstr>
      <vt:lpstr>Events ekran – pregled detektovanih dogadjaja</vt:lpstr>
      <vt:lpstr>Control ekran – upravljanje sistemom</vt:lpstr>
      <vt:lpstr>Settings ekran i konfiguracija parametara</vt:lpstr>
      <vt:lpstr>Integracija sa MCU i simulirana akcija aktuatora</vt:lpstr>
      <vt:lpstr>HVALA NA PAŽNJI!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Anastasija Vasić</dc:creator>
  <cp:lastModifiedBy>Anastasija Vasić</cp:lastModifiedBy>
  <cp:revision>13</cp:revision>
  <dcterms:created xsi:type="dcterms:W3CDTF">2026-05-21T19:10:14Z</dcterms:created>
  <dcterms:modified xsi:type="dcterms:W3CDTF">2026-06-12T11:12:59Z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0x010100AA3F7D94069FF64A86F7DFF56D60E3BE</vt:lpwstr>
  </property>
  <property fmtid="{D5CDD505-2E9C-101B-9397-08002B2CF9AE}" pid="3" name="InternalTags">
    <vt:lpwstr/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